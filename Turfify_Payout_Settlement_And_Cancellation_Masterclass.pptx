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05840"/>
            <a:ext cx="4023360" cy="347472"/>
          </a:xfrm>
          <a:prstGeom prst="roundRect">
            <a:avLst>
              <a:gd name="adj" fmla="val 21053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FINTECH &amp; MARKETPLACE INFRASTRUCTURE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72865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Payouts, Settlement Cycles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Zero-Balance Cancellation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98142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Razorpay Handles Friday Vendor Payouts, Saturday ₹0-Balance Cancellations, Automated Route Splits (90/10) &amp; Escrow Protection Rails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2545004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4343400"/>
            <a:ext cx="365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22706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ROUTE SPLITS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480060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 Owner / 10% Platform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59404" y="4206240"/>
            <a:ext cx="2545004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6564" y="4343400"/>
            <a:ext cx="365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3596564" y="4480560"/>
            <a:ext cx="22706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STATUTORY TAX DEDUCTIONS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96564" y="480060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194-O TDS (1%)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7288" y="4206240"/>
            <a:ext cx="2545004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4343400"/>
            <a:ext cx="365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4480560"/>
            <a:ext cx="22706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ZERO-BALANCE RESOLUTION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24448" y="480060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Negative Balance Offset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15171" y="4206240"/>
            <a:ext cx="2545004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331" y="4343400"/>
            <a:ext cx="3657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331" y="4480560"/>
            <a:ext cx="22706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ZERO-COST WORKAROUND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52331" y="480060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In-App Wallet Credits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— Marketplace Payouts, Settlement Cycles &amp; Zero-Balance Cancellations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SCENARIO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Dilemma: Booking on Wednesday, Cancelling on Saturday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271455" y="41148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71455" y="4114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/ 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10728655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89888"/>
            <a:ext cx="101800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THE EXACT CLIENT SCENARIO ANALYZED: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101800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 customer pays ₹1,500 on Wednesday for a Saturday evening turf booking. On Friday morning, Razorpay automatically sweeps and settles the money into the turf owner’s bank account. On Saturday morning, the Razorpay gateway balance is ₹0.00. The customer now clicks Cancel. How does the system issue a refund when Razorpay has zero money?”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454298" cy="352044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606040"/>
            <a:ext cx="3307994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743200"/>
            <a:ext cx="3088538" cy="27432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4320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1: GATEWAY MECHANICS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1546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Negative Balance Auto-Offset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Razorpay permits refunds even when gateway balance is ₹0.00.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14400" y="431596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Your account goes into negative balance (e.g., -₹1,500.00).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14400" y="4882896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Upcoming customer bookings over the weekend automatically replenish the deficit with zero manual intervention.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4400" y="5449824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Zero interest penalties and zero administrative friction.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68698" y="2606040"/>
            <a:ext cx="3454298" cy="352044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41850" y="2606040"/>
            <a:ext cx="3307994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51578" y="2743200"/>
            <a:ext cx="3088538" cy="27432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1578" y="274320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2: BUSINESS POLICY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51578" y="31546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Cancellation Matrix Protection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51578" y="374904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Inventory was blocked for 3 days (Wed to Sat) exclusively for this user.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551578" y="431596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Under venue policy, cancellations within 6 hours are strictly non-refundable (0%).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551578" y="4882896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The turf owner keeps their 85% payout to cover empty pitch damages.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551578" y="5449824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Commercially, the client is fully protected from cash refunds on match day.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005877" y="2606040"/>
            <a:ext cx="3454298" cy="352044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9029" y="2606040"/>
            <a:ext cx="3307994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8188757" y="2743200"/>
            <a:ext cx="3088538" cy="27432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8757" y="274320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3: FINANCIAL EFFICIENCY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188757" y="31546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In-App Wallet Credits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88757" y="374904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Offer 100% refund value as instant Turfify Wallet Credits.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188757" y="4315968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₹0 cash leaves Razorpay or the turf owner’s bank account.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188757" y="4882896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Zero payment gateway processing fees are burned.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8188757" y="5449824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100% of customer spending remains locked in your sports ecosystem.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— Marketplace Payouts, Settlement Cycles &amp; Zero-Balance Cancellations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SETTLEMENT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Payout Flow: From UPI Authorization to Bank Credit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271455" y="41148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71455" y="4114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/ 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2545004" cy="2926080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325880"/>
            <a:ext cx="23987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463040"/>
            <a:ext cx="22706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0: WEDNESDAY 14:00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719072"/>
            <a:ext cx="22706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Player Checkout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103120"/>
            <a:ext cx="2270684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03120"/>
            <a:ext cx="2270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payment.captured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227068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books Saturday slot for ₹1,500 via UPI Intent (GPay/PhonePe). Razorpay captures the payment and fires an idempotent webhook to the backend.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59404" y="1325880"/>
            <a:ext cx="2545004" cy="2926080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32556" y="1325880"/>
            <a:ext cx="239870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3596564" y="1463040"/>
            <a:ext cx="22706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0: WEDNESDAY 14:02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96564" y="1719072"/>
            <a:ext cx="22706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Route Split &amp; TDS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96564" y="2103120"/>
            <a:ext cx="2270684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6564" y="2103120"/>
            <a:ext cx="2270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90/10 Split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96564" y="2468880"/>
            <a:ext cx="227068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Route automatically splits the money inside the gateway: ₹150 (10%) to Turfify platform balance, ₹15 (1%) TDS Section 194-O, and ₹1,335 (90%) to owner.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87288" y="1325880"/>
            <a:ext cx="2545004" cy="2926080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0440" y="1325880"/>
            <a:ext cx="23987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324448" y="1463040"/>
            <a:ext cx="22706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1-2: THU / FRI 04:00 AM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24448" y="1719072"/>
            <a:ext cx="22706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Automated Bank Sweep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24448" y="2103120"/>
            <a:ext cx="2270684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4448" y="2103120"/>
            <a:ext cx="2270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Settlement T+1 / T+2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24448" y="2468880"/>
            <a:ext cx="227068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standard T+1 settlement, Razorpay sweeps accumulated vendor funds via automated nodal NEFT/IMPS directly into the turf owner's private bank account.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15171" y="1325880"/>
            <a:ext cx="2545004" cy="2926080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8323" y="1325880"/>
            <a:ext cx="23987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9052331" y="1463040"/>
            <a:ext cx="22706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3: SATURDAY MORNING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052331" y="1719072"/>
            <a:ext cx="22706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4: Zero-Balance State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52331" y="2103120"/>
            <a:ext cx="2270684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331" y="2103120"/>
            <a:ext cx="22706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= ₹0.00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052331" y="2468880"/>
            <a:ext cx="227068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Owner's bank account reflects ₹1,335 cash. The Razorpay merchant account balance drops to ₹0.00 awaiting new weekend bookings.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4434840"/>
            <a:ext cx="1072865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4434840"/>
            <a:ext cx="10582351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562856"/>
            <a:ext cx="10362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Reconciliation of ₹1,500 Booking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4400" y="4846320"/>
            <a:ext cx="2407844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4937760"/>
            <a:ext cx="2224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BOOKING VALUE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05840" y="516636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₹1,500.00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5840" y="55778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Paid by Player via UPI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505124" y="4846320"/>
            <a:ext cx="2407844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96564" y="4937760"/>
            <a:ext cx="2224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TAKE-RATE (10%)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596564" y="516636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₹150.00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596564" y="55778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Commission Kept in Escrow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95848" y="4846320"/>
            <a:ext cx="2407844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7288" y="4937760"/>
            <a:ext cx="2224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STATUTORY TDS (SEC 194-O)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187288" y="516636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₹15.00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187288" y="55778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1% E-Filing on Gov Portal (Form 16A)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686571" y="4846320"/>
            <a:ext cx="2407844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78011" y="4937760"/>
            <a:ext cx="2224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TURF OWNER PAYOUT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778011" y="5166360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₹1,335.00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778011" y="55778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Settled Friday 04:00 AM into HDFC/ICICI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— Marketplace Payouts, Settlement Cycles &amp; Zero-Balance Cancellations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MECHANICS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Balance in Razorpay: How Negative Balance Auto-Offset Works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271455" y="41148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71455" y="4114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/ 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325880"/>
            <a:ext cx="3307994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1463040"/>
            <a:ext cx="3179978" cy="237744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463040"/>
            <a:ext cx="3179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 A: AUTO-RECOVERY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1783080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 Merchant Balance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76272"/>
            <a:ext cx="31799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refund API is executed with ₹0 balance, Razorpay advances the refund and marks your merchant balance as -₹1,500.00.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68680" y="3063240"/>
            <a:ext cx="3179978" cy="105156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127248"/>
            <a:ext cx="299709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60120" y="3337560"/>
            <a:ext cx="299709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Upcoming bookings on Saturday afternoon automatically replenish this deficit. Zero manual intervention or penalty.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68698" y="132588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41850" y="1325880"/>
            <a:ext cx="3307994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4505858" y="1463040"/>
            <a:ext cx="3179978" cy="237744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5858" y="1463040"/>
            <a:ext cx="3179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 B: QUEUED STATE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05858" y="1783080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Queued / Pending Refund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05858" y="2176272"/>
            <a:ext cx="31799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account negative balance limit is reached, Razorpay holds the refund in a queued queue.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505858" y="3063240"/>
            <a:ext cx="3179978" cy="105156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7298" y="3127248"/>
            <a:ext cx="299709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97298" y="3337560"/>
            <a:ext cx="299709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very instant another player pays for any slot, Razorpay intercepts the incoming cash to execute the queued refund.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05877" y="1325880"/>
            <a:ext cx="3454298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9029" y="1325880"/>
            <a:ext cx="3307994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6"/>
          <p:cNvSpPr/>
          <p:nvPr/>
        </p:nvSpPr>
        <p:spPr>
          <a:xfrm>
            <a:off x="8143037" y="1463040"/>
            <a:ext cx="3179978" cy="237744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43037" y="1463040"/>
            <a:ext cx="3179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 C: MANUAL TOP-UP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43037" y="1783080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Dashboard Pre-Funding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43037" y="2176272"/>
            <a:ext cx="31799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no weekend bookings are expected, you can add funds manually in seconds via NetBanking, UPI, or NEFT.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143037" y="3063240"/>
            <a:ext cx="3179978" cy="105156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34477" y="3127248"/>
            <a:ext cx="299709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234477" y="3337560"/>
            <a:ext cx="299709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to Razorpay Dashboard → Balance → Add Funds. Balance reflects instantly to satisfy pending payouts.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" y="4434840"/>
            <a:ext cx="1072865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434840"/>
            <a:ext cx="10582351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562856"/>
            <a:ext cx="10362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Negative Balance Self-Healing Flowchart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4400" y="4846320"/>
            <a:ext cx="2407844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4937760"/>
            <a:ext cx="2224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• SATURDAY 10:00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05840" y="5166360"/>
            <a:ext cx="22249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Refund Approved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" y="5486400"/>
            <a:ext cx="22249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drops to -₹1,500.00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505124" y="4846320"/>
            <a:ext cx="2407844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96564" y="4937760"/>
            <a:ext cx="2224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• SATURDAY 13:00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596564" y="5166360"/>
            <a:ext cx="22249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Player Pays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96564" y="5486400"/>
            <a:ext cx="22249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booked (+₹1,500.00)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95848" y="4846320"/>
            <a:ext cx="2407844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87288" y="4937760"/>
            <a:ext cx="2224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• SATURDAY 13:01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187288" y="5166360"/>
            <a:ext cx="22249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Auto-Reconciliation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87288" y="5486400"/>
            <a:ext cx="22249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balance back to ₹0.00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686571" y="4846320"/>
            <a:ext cx="2407844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78011" y="4937760"/>
            <a:ext cx="2224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• SUNDAY 04:00 AM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778011" y="5166360"/>
            <a:ext cx="22249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Settlement Resumes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778011" y="5486400"/>
            <a:ext cx="22249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Profits swept to bank normally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— Marketplace Payouts, Settlement Cycles &amp; Zero-Balance Cancellations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POLICY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Master Cancellation Policy: Fair Multi-Tier Matrix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271455" y="41148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71455" y="4114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/ 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10728655" cy="1024128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25880"/>
            <a:ext cx="109728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&gt; 24 Hours Before Kickoff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7099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Advance Notice (e.g. Thursday)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Deduction: 10% Platform &amp; Gateway Fee Retained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108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08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REFUND OUTCOME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937760" y="17099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 Bank Refund OR 100% Turfify Wallet Credits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108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508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COMPENSATION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229600" y="17099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 Payout (Slot freed for re-booking by other players)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2468880"/>
            <a:ext cx="10728655" cy="1024128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468880"/>
            <a:ext cx="109728" cy="1024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6 to 24 Hours Before Kickoff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8529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Short Notice (e.g. Friday Evening)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Deduction: 50% Booking Forfeited Penalty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606040"/>
            <a:ext cx="3108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651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REFUND OUTCOME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37760" y="28529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Bank Refund OR 60% Turfify Wallet Credits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38160" y="2606040"/>
            <a:ext cx="3108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2651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COMPENSATION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229600" y="28529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receives 40% of slot value as liquidated compensation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3611880"/>
            <a:ext cx="10728655" cy="1024128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611880"/>
            <a:ext cx="109728" cy="10241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703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&lt; 6 Hours Before Kickoff (Same-Day)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9959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Last-Minute / Match Day (e.g. Saturday)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05840" y="4233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Deduction: 100% Booking Value Forfeited by Player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46320" y="3749040"/>
            <a:ext cx="3108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794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REFUND OUTCOME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37760" y="39959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 Refund (Strictly Non-Refundable)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38160" y="3749040"/>
            <a:ext cx="3108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3794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COMPENSATION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229600" y="39959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keeps 85% payout; Turfify retains 15%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1520" y="4754880"/>
            <a:ext cx="10728655" cy="1024128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4754880"/>
            <a:ext cx="109728" cy="10241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1005840" y="4846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4: Force Majeure / Unplayable Turf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05840" y="51389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Rainout, Floodlight Failure, Venue Fault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05840" y="5376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Deduction: 0% Player Penalty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4892040"/>
            <a:ext cx="3108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4937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REFUND OUTCOME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937760" y="51389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Immediate Full Refund + ₹100 Bonus Credit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38160" y="4892040"/>
            <a:ext cx="3108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4937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COMPENSATION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229600" y="51389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 Payout + Penalty flag on owner ranking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1520" y="60350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COMMERCIAL PRINCIPLE: Cancelling on Saturday for a Saturday match falls under Tier 3 (&lt; 6 Hours). It is strictly non-refundable, legally protecting the turf owner from last-minute vacancy and zero-balance deficits!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— Marketplace Payouts, Settlement Cycles &amp; Zero-Balance Cancellations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LIQUIDITY OPTIMIZATION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Master Workaround: Turfify In-App Wallet Credits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271455" y="41148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71455" y="4114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/ 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325880"/>
            <a:ext cx="3307994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1463040"/>
            <a:ext cx="3179978" cy="237744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463040"/>
            <a:ext cx="3179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ZERO CASH OUTFLOW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1783080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 Leaves the Bank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176272"/>
            <a:ext cx="317997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money exits your Razorpay merchant balance or your private bank account. Your operating liquidity stays 100% intact.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68698" y="132588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1850" y="1325880"/>
            <a:ext cx="3307994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05858" y="1463040"/>
            <a:ext cx="3179978" cy="237744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5858" y="1463040"/>
            <a:ext cx="3179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ZERO GATEWAY FEES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05858" y="1783080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 Fees Lost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05858" y="2176272"/>
            <a:ext cx="317997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bank refunds forfeit the initial 2% gateway processing fee. Wallet credits carry zero gateway interchange charges.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05877" y="132588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79029" y="1325880"/>
            <a:ext cx="3307994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8143037" y="1463040"/>
            <a:ext cx="3179978" cy="237744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3037" y="1463040"/>
            <a:ext cx="31799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100% CAPITAL RETENTION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43037" y="1783080"/>
            <a:ext cx="317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Locked Inside App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43037" y="2176272"/>
            <a:ext cx="317997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receives instant rebooking credits and reschedules their match next week, boosting lifetime customer value (LTV).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3794760"/>
            <a:ext cx="10728655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3794760"/>
            <a:ext cx="10582351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922776"/>
            <a:ext cx="10362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Evaluation: Bank Refund vs Instant UPI vs Turfify Wallet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4251960"/>
            <a:ext cx="2377440" cy="27432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METRIC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91840" y="4251960"/>
            <a:ext cx="2651760" cy="27432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4251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ORIGINAL BANK SOURCE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43600" y="4251960"/>
            <a:ext cx="2651760" cy="27432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4251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UPI (RAZORPAYX)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595360" y="4251960"/>
            <a:ext cx="2681935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8641080" y="4251960"/>
            <a:ext cx="2590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WALLET (WINNER)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14400" y="4544568"/>
            <a:ext cx="23774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4544568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to Player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3291840" y="4544568"/>
            <a:ext cx="26517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454456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to 7 Business Days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943600" y="4544568"/>
            <a:ext cx="26517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16752" y="454456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60 Seconds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8595360" y="4544568"/>
            <a:ext cx="2681935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68512" y="4544568"/>
            <a:ext cx="253563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(0 Seconds)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914400" y="4892040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4892040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API Cost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3291840" y="4892040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64992" y="4892040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retains ~2% fee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5943600" y="4892040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4892040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₹4–₹6 payout fee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8595360" y="4892040"/>
            <a:ext cx="2681935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68512" y="4892040"/>
            <a:ext cx="253563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₹0.00 (Zero Fee)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914400" y="5239512"/>
            <a:ext cx="237744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523951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Impact on Merchant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3291840" y="5239512"/>
            <a:ext cx="26517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64992" y="523951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leaves gateway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5943600" y="5239512"/>
            <a:ext cx="265176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16752" y="523951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exits bank instantly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8595360" y="5239512"/>
            <a:ext cx="2681935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68512" y="5239512"/>
            <a:ext cx="253563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Outflow (100% Stays in Bank)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914400" y="5586984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7552" y="5586984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Experience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3291840" y="5586984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64992" y="5586984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anxious, calls support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5943600" y="5586984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16752" y="5586984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satisfied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8595360" y="5586984"/>
            <a:ext cx="2681935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68512" y="5586984"/>
            <a:ext cx="253563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Delighted, immediate rebooking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— Marketplace Payouts, Settlement Cycles &amp; Zero-Balance Cancellations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Permanent Architectural Safeguard: Escrow Hold Protocol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271455" y="41148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71455" y="4114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/ 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2120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325880"/>
            <a:ext cx="5065776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5389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Escrow Hold Eliminates Deficits Permanently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Concept of 'Hold Settlement'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Instead of releasing payouts immediately on Thursday/Friday, configure Razorpay Route to hold vendor transfers in escrow until match kickoff.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Setting `on_hold: 1` During Booking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309067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player pays on Wednesday, funds are committed to the turf owner's account but flagged as `on_hold: 1` with `on_hold_until: match_time`.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8862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Effortless Cancellation Reversal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41422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customer cancels, Razorpay reverses the transfer directly from the held escrow balance. Zero funds ever exit the owner's bank account!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49377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Automatic Match-Day Release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51937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Saturday match finishes with no disputes, the gateway automatically unfreezes the hold and settles the money into the owner's bank Sunday morning.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5333695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325880"/>
            <a:ext cx="5187391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53896"/>
            <a:ext cx="49679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Code Implementation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783080"/>
            <a:ext cx="4967935" cy="425196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874520"/>
            <a:ext cx="4785055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WEDNESDAY CHECKOUT: Create Route Order with Escrow Hold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order = await razorpay.orders.create({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amount: 150000, // ₹1,500 in paise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currency: "INR",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transfers: [{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account: "acc_turf_owner_482",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amount: 133500, // ₹1,335 Net Owner Share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currency: "INR",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on_hold: 1, // FREEZES payout in escrow!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on_hold_until: 1726329600 // Saturday match kickoff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SATURDAY CANCELLATION: Reverse Held Transfer Instantly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razorpay.transfers.reverse(transfer_id, {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amount: 133500 // Reverses held funds with zero bank clawback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REFUND EXECUTION: Issue Idempotent Player Refund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razorpay.payments.refund(payment_id, {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amount: refundAmountPaise,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reverse_all: 1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— Marketplace Payouts, Settlement Cycles &amp; Zero-Balance Cancellations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DELIVERABLE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265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Summary: 4-Point Defense &amp; Client Message Script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271455" y="41148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71455" y="4114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/ 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0900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325880"/>
            <a:ext cx="4943704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14630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1490472"/>
            <a:ext cx="440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Auto-Offsets Negative Balances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856232"/>
            <a:ext cx="48156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your balance is ₹0, Razorpay processes the refund into negative (-₹1,500) and automatically reconciles it from upcoming weekend bookings. Zero penalties, no manual bank transfers.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370168" y="1325880"/>
            <a:ext cx="50900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3320" y="1325880"/>
            <a:ext cx="4943704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07328" y="14630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507328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18808" y="1490472"/>
            <a:ext cx="440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Saturday Same-Day Cancellations Are Non-Refundable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7328" y="1856232"/>
            <a:ext cx="48156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player who blocks prime Saturday inventory for 3 days is legally blocked from same-day cash refunds under Tier 3 venue policy. The owner keeps their 85% payout to cover empty pitch damages.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1520" y="2880360"/>
            <a:ext cx="50900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2880360"/>
            <a:ext cx="4943704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30175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3044952"/>
            <a:ext cx="440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Automatically Reverses Linked Splits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410712"/>
            <a:ext cx="48156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Route's `reverse_all: 1` parameter pulls back the owner's share programmatically. The platform never pays refunds out-of-pocket for funds already routed.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370168" y="2880360"/>
            <a:ext cx="50900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3320" y="2880360"/>
            <a:ext cx="4943704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6"/>
          <p:cNvSpPr/>
          <p:nvPr/>
        </p:nvSpPr>
        <p:spPr>
          <a:xfrm>
            <a:off x="6507328" y="30175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507328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18808" y="3044952"/>
            <a:ext cx="440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Credits Keep 100% Cash in Your Bank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07328" y="3410712"/>
            <a:ext cx="48156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Offering 100% refunds in Turfify Wallet Credits costs ₹0 in gateway fees and zero cash leaves your bank. Delighted players immediately reschedule their games.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31520" y="4572000"/>
            <a:ext cx="10728655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4572000"/>
            <a:ext cx="10582351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700016"/>
            <a:ext cx="10362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Client Message Script (Copy &amp; Send via WhatsApp / Email)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4400" y="4983480"/>
            <a:ext cx="10362895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5047488"/>
            <a:ext cx="100885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“If a customer cancels on Saturday when your Razorpay balance is ₹0 because funds already settled to your bank on Friday, you are completely protected on three fronts: First, under venue policy, same-day cancellations are strictly non-refundable or offered as instant Turfify Wallet Credits (costing ₹0 out of pocket). Second, if an eligible refund is authorized, Razorpay natively covers it using a negative balance and automatically deducts it from upcoming weekend bookings. Third, using our Escrow Hold setting, payouts are held until match kickoff, guaranteeing zero cash deficits ever occur.”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Platform Architecture — Marketplace Payouts, Settlement Cycles &amp; Zero-Balance Cancellations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FinTech &amp; Marketplace Architecture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Turfify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Marketplace Payouts, Settlement Cycles &amp; Zero-Balance Cancellation Architecture</dc:title>
  <dc:subject>PptxGenJS Presentation</dc:subject>
  <dc:creator>Turfify FinTech &amp; Platform Engineering</dc:creator>
  <cp:lastModifiedBy>Turfify FinTech &amp; Platform Engineering</cp:lastModifiedBy>
  <cp:revision>1</cp:revision>
  <dcterms:created xsi:type="dcterms:W3CDTF">2026-09-15T11:45:27Z</dcterms:created>
  <dcterms:modified xsi:type="dcterms:W3CDTF">2026-09-15T11:45:27Z</dcterms:modified>
</cp:coreProperties>
</file>