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F1D"/>
        </a:solidFill>
      </p:bgPr>
    </p:bg>
    <p:spTree>
      <p:nvGrpSpPr>
        <p:cNvPr id="1" name=""/>
        <p:cNvGrpSpPr/>
        <p:nvPr/>
      </p:nvGrpSpPr>
      <p:grpSpPr>
        <a:xfrm>
          <a:off x="0" y="0"/>
          <a:ext cx="0" cy="0"/>
          <a:chOff x="0" y="0"/>
          <a:chExt cx="0" cy="0"/>
        </a:xfrm>
      </p:grpSpPr>
      <p:sp>
        <p:nvSpPr>
          <p:cNvPr id="2" name="Shape 0"/>
          <p:cNvSpPr/>
          <p:nvPr/>
        </p:nvSpPr>
        <p:spPr>
          <a:xfrm>
            <a:off x="731520" y="731520"/>
            <a:ext cx="10728655" cy="5394960"/>
          </a:xfrm>
          <a:prstGeom prst="roundRect">
            <a:avLst>
              <a:gd name="adj" fmla="val 2542"/>
            </a:avLst>
          </a:prstGeom>
          <a:solidFill>
            <a:srgbClr val="131D33"/>
          </a:solidFill>
          <a:ln w="19050">
            <a:solidFill>
              <a:srgbClr val="334155"/>
            </a:solidFill>
            <a:prstDash val="solid"/>
          </a:ln>
        </p:spPr>
      </p:sp>
      <p:sp>
        <p:nvSpPr>
          <p:cNvPr id="3" name="Shape 1"/>
          <p:cNvSpPr/>
          <p:nvPr/>
        </p:nvSpPr>
        <p:spPr>
          <a:xfrm>
            <a:off x="1097280" y="1097280"/>
            <a:ext cx="3200400" cy="320040"/>
          </a:xfrm>
          <a:prstGeom prst="roundRect">
            <a:avLst>
              <a:gd name="adj" fmla="val 22857"/>
            </a:avLst>
          </a:prstGeom>
          <a:solidFill>
            <a:srgbClr val="1E3A8A"/>
          </a:solidFill>
          <a:ln w="12700">
            <a:solidFill>
              <a:srgbClr val="3B82F6"/>
            </a:solidFill>
            <a:prstDash val="solid"/>
          </a:ln>
        </p:spPr>
      </p:sp>
      <p:sp>
        <p:nvSpPr>
          <p:cNvPr id="4" name="Text 2"/>
          <p:cNvSpPr/>
          <p:nvPr/>
        </p:nvSpPr>
        <p:spPr>
          <a:xfrm>
            <a:off x="1097280" y="1097280"/>
            <a:ext cx="3200400" cy="320040"/>
          </a:xfrm>
          <a:prstGeom prst="rect">
            <a:avLst/>
          </a:prstGeom>
          <a:noFill/>
          <a:ln/>
        </p:spPr>
        <p:txBody>
          <a:bodyPr wrap="square" rtlCol="0" anchor="ctr"/>
          <a:lstStyle/>
          <a:p>
            <a:pPr algn="ctr" indent="0" marL="0">
              <a:buNone/>
            </a:pPr>
            <a:r>
              <a:rPr lang="en-US" sz="950" b="1" dirty="0">
                <a:solidFill>
                  <a:srgbClr val="93C5FD"/>
                </a:solidFill>
                <a:latin typeface="Segoe UI" pitchFamily="34" charset="0"/>
                <a:ea typeface="Segoe UI" pitchFamily="34" charset="-122"/>
                <a:cs typeface="Segoe UI" pitchFamily="34" charset="-120"/>
              </a:rPr>
              <a:t>EXECUTIVE STRATEGY &amp; SECURITY REVIEW</a:t>
            </a:r>
            <a:endParaRPr lang="en-US" sz="950" dirty="0"/>
          </a:p>
        </p:txBody>
      </p:sp>
      <p:sp>
        <p:nvSpPr>
          <p:cNvPr id="5" name="Text 3"/>
          <p:cNvSpPr/>
          <p:nvPr/>
        </p:nvSpPr>
        <p:spPr>
          <a:xfrm>
            <a:off x="1097280" y="1554480"/>
            <a:ext cx="9966960" cy="1280160"/>
          </a:xfrm>
          <a:prstGeom prst="rect">
            <a:avLst/>
          </a:prstGeom>
          <a:noFill/>
          <a:ln/>
        </p:spPr>
        <p:txBody>
          <a:bodyPr wrap="square" rtlCol="0" anchor="ctr"/>
          <a:lstStyle/>
          <a:p>
            <a:pPr indent="0" marL="0">
              <a:lnSpc>
                <a:spcPct val="115000"/>
              </a:lnSpc>
              <a:buNone/>
            </a:pPr>
            <a:r>
              <a:rPr lang="en-US" sz="3200" b="1" dirty="0">
                <a:solidFill>
                  <a:srgbClr val="FFFFFF"/>
                </a:solidFill>
                <a:latin typeface="Segoe UI" pitchFamily="34" charset="0"/>
                <a:ea typeface="Segoe UI" pitchFamily="34" charset="-122"/>
                <a:cs typeface="Segoe UI" pitchFamily="34" charset="-120"/>
              </a:rPr>
              <a:t>Cloud Database Evaluation:</a:t>
            </a:r>
            <a:endParaRPr lang="en-US" sz="3200" dirty="0"/>
          </a:p>
          <a:p>
            <a:pPr indent="0" marL="0">
              <a:lnSpc>
                <a:spcPct val="115000"/>
              </a:lnSpc>
              <a:buNone/>
            </a:pPr>
            <a:r>
              <a:rPr lang="en-US" sz="3200" b="1" dirty="0">
                <a:solidFill>
                  <a:srgbClr val="FFFFFF"/>
                </a:solidFill>
                <a:latin typeface="Segoe UI" pitchFamily="34" charset="0"/>
                <a:ea typeface="Segoe UI" pitchFamily="34" charset="-122"/>
                <a:cs typeface="Segoe UI" pitchFamily="34" charset="-120"/>
              </a:rPr>
              <a:t>Architecture, Anti-Hacking &amp; Pricing</a:t>
            </a:r>
            <a:endParaRPr lang="en-US" sz="3200" dirty="0"/>
          </a:p>
        </p:txBody>
      </p:sp>
      <p:sp>
        <p:nvSpPr>
          <p:cNvPr id="6" name="Text 4"/>
          <p:cNvSpPr/>
          <p:nvPr/>
        </p:nvSpPr>
        <p:spPr>
          <a:xfrm>
            <a:off x="1097280" y="2971800"/>
            <a:ext cx="9966960" cy="457200"/>
          </a:xfrm>
          <a:prstGeom prst="rect">
            <a:avLst/>
          </a:prstGeom>
          <a:noFill/>
          <a:ln/>
        </p:spPr>
        <p:txBody>
          <a:bodyPr wrap="square" rtlCol="0" anchor="ctr"/>
          <a:lstStyle/>
          <a:p>
            <a:pPr indent="0" marL="0">
              <a:buNone/>
            </a:pPr>
            <a:r>
              <a:rPr lang="en-US" sz="1300" dirty="0">
                <a:solidFill>
                  <a:srgbClr val="94A3B8"/>
                </a:solidFill>
                <a:latin typeface="Segoe UI" pitchFamily="34" charset="0"/>
                <a:ea typeface="Segoe UI" pitchFamily="34" charset="-122"/>
                <a:cs typeface="Segoe UI" pitchFamily="34" charset="-120"/>
              </a:rPr>
              <a:t>A Spaciously Structured Assessment of Supabase, MongoDB Atlas, Microsoft Azure, and Amazon AWS for Clients and Management</a:t>
            </a:r>
            <a:endParaRPr lang="en-US" sz="1300" dirty="0"/>
          </a:p>
        </p:txBody>
      </p:sp>
      <p:sp>
        <p:nvSpPr>
          <p:cNvPr id="7" name="Shape 5"/>
          <p:cNvSpPr/>
          <p:nvPr/>
        </p:nvSpPr>
        <p:spPr>
          <a:xfrm>
            <a:off x="1097280" y="3749040"/>
            <a:ext cx="2316175" cy="1371600"/>
          </a:xfrm>
          <a:prstGeom prst="roundRect">
            <a:avLst>
              <a:gd name="adj" fmla="val 8000"/>
            </a:avLst>
          </a:prstGeom>
          <a:solidFill>
            <a:srgbClr val="0A1020"/>
          </a:solidFill>
          <a:ln w="19050">
            <a:solidFill>
              <a:srgbClr val="3ECF8E"/>
            </a:solidFill>
            <a:prstDash val="solid"/>
          </a:ln>
        </p:spPr>
      </p:sp>
      <p:sp>
        <p:nvSpPr>
          <p:cNvPr id="8" name="Text 6"/>
          <p:cNvSpPr/>
          <p:nvPr/>
        </p:nvSpPr>
        <p:spPr>
          <a:xfrm>
            <a:off x="1097280" y="3886200"/>
            <a:ext cx="2316175" cy="320040"/>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Supabase</a:t>
            </a:r>
            <a:endParaRPr lang="en-US" sz="1400" dirty="0"/>
          </a:p>
        </p:txBody>
      </p:sp>
      <p:sp>
        <p:nvSpPr>
          <p:cNvPr id="9" name="Text 7"/>
          <p:cNvSpPr/>
          <p:nvPr/>
        </p:nvSpPr>
        <p:spPr>
          <a:xfrm>
            <a:off x="1097280" y="4206240"/>
            <a:ext cx="2316175" cy="256032"/>
          </a:xfrm>
          <a:prstGeom prst="rect">
            <a:avLst/>
          </a:prstGeom>
          <a:noFill/>
          <a:ln/>
        </p:spPr>
        <p:txBody>
          <a:bodyPr wrap="square" rtlCol="0" anchor="ctr"/>
          <a:lstStyle/>
          <a:p>
            <a:pPr algn="ctr" indent="0" marL="0">
              <a:buNone/>
            </a:pPr>
            <a:r>
              <a:rPr lang="en-US" sz="1000" b="1" dirty="0">
                <a:solidFill>
                  <a:srgbClr val="3ECF8E"/>
                </a:solidFill>
                <a:latin typeface="Segoe UI" pitchFamily="34" charset="0"/>
                <a:ea typeface="Segoe UI" pitchFamily="34" charset="-122"/>
                <a:cs typeface="Segoe UI" pitchFamily="34" charset="-120"/>
              </a:rPr>
              <a:t>Postgres BaaS</a:t>
            </a:r>
            <a:endParaRPr lang="en-US" sz="1000" dirty="0"/>
          </a:p>
        </p:txBody>
      </p:sp>
      <p:sp>
        <p:nvSpPr>
          <p:cNvPr id="10" name="Text 8"/>
          <p:cNvSpPr/>
          <p:nvPr/>
        </p:nvSpPr>
        <p:spPr>
          <a:xfrm>
            <a:off x="1234440" y="4526280"/>
            <a:ext cx="2041855" cy="457200"/>
          </a:xfrm>
          <a:prstGeom prst="rect">
            <a:avLst/>
          </a:prstGeom>
          <a:noFill/>
          <a:ln/>
        </p:spPr>
        <p:txBody>
          <a:bodyPr wrap="square" rtlCol="0" anchor="ctr"/>
          <a:lstStyle/>
          <a:p>
            <a:pPr algn="ctr" indent="0" marL="0">
              <a:buNone/>
            </a:pPr>
            <a:r>
              <a:rPr lang="en-US" sz="850" dirty="0">
                <a:solidFill>
                  <a:srgbClr val="94A3B8"/>
                </a:solidFill>
                <a:latin typeface="Segoe UI" pitchFamily="34" charset="0"/>
                <a:ea typeface="Segoe UI" pitchFamily="34" charset="-122"/>
                <a:cs typeface="Segoe UI" pitchFamily="34" charset="-120"/>
              </a:rPr>
              <a:t>Built-in Auth, Storage &amp; RLS</a:t>
            </a:r>
            <a:endParaRPr lang="en-US" sz="850" dirty="0"/>
          </a:p>
        </p:txBody>
      </p:sp>
      <p:sp>
        <p:nvSpPr>
          <p:cNvPr id="11" name="Shape 9"/>
          <p:cNvSpPr/>
          <p:nvPr/>
        </p:nvSpPr>
        <p:spPr>
          <a:xfrm>
            <a:off x="3657600" y="3749040"/>
            <a:ext cx="2316175" cy="1371600"/>
          </a:xfrm>
          <a:prstGeom prst="roundRect">
            <a:avLst>
              <a:gd name="adj" fmla="val 8000"/>
            </a:avLst>
          </a:prstGeom>
          <a:solidFill>
            <a:srgbClr val="0A1020"/>
          </a:solidFill>
          <a:ln w="19050">
            <a:solidFill>
              <a:srgbClr val="00ED64"/>
            </a:solidFill>
            <a:prstDash val="solid"/>
          </a:ln>
        </p:spPr>
      </p:sp>
      <p:sp>
        <p:nvSpPr>
          <p:cNvPr id="12" name="Text 10"/>
          <p:cNvSpPr/>
          <p:nvPr/>
        </p:nvSpPr>
        <p:spPr>
          <a:xfrm>
            <a:off x="3657600" y="3886200"/>
            <a:ext cx="2316175" cy="320040"/>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MongoDB Atlas</a:t>
            </a:r>
            <a:endParaRPr lang="en-US" sz="1400" dirty="0"/>
          </a:p>
        </p:txBody>
      </p:sp>
      <p:sp>
        <p:nvSpPr>
          <p:cNvPr id="13" name="Text 11"/>
          <p:cNvSpPr/>
          <p:nvPr/>
        </p:nvSpPr>
        <p:spPr>
          <a:xfrm>
            <a:off x="3657600" y="4206240"/>
            <a:ext cx="2316175" cy="256032"/>
          </a:xfrm>
          <a:prstGeom prst="rect">
            <a:avLst/>
          </a:prstGeom>
          <a:noFill/>
          <a:ln/>
        </p:spPr>
        <p:txBody>
          <a:bodyPr wrap="square" rtlCol="0" anchor="ctr"/>
          <a:lstStyle/>
          <a:p>
            <a:pPr algn="ctr" indent="0" marL="0">
              <a:buNone/>
            </a:pPr>
            <a:r>
              <a:rPr lang="en-US" sz="1000" b="1" dirty="0">
                <a:solidFill>
                  <a:srgbClr val="00ED64"/>
                </a:solidFill>
                <a:latin typeface="Segoe UI" pitchFamily="34" charset="0"/>
                <a:ea typeface="Segoe UI" pitchFamily="34" charset="-122"/>
                <a:cs typeface="Segoe UI" pitchFamily="34" charset="-120"/>
              </a:rPr>
              <a:t>Document NoSQL</a:t>
            </a:r>
            <a:endParaRPr lang="en-US" sz="1000" dirty="0"/>
          </a:p>
        </p:txBody>
      </p:sp>
      <p:sp>
        <p:nvSpPr>
          <p:cNvPr id="14" name="Text 12"/>
          <p:cNvSpPr/>
          <p:nvPr/>
        </p:nvSpPr>
        <p:spPr>
          <a:xfrm>
            <a:off x="3794760" y="4526280"/>
            <a:ext cx="2041855" cy="457200"/>
          </a:xfrm>
          <a:prstGeom prst="rect">
            <a:avLst/>
          </a:prstGeom>
          <a:noFill/>
          <a:ln/>
        </p:spPr>
        <p:txBody>
          <a:bodyPr wrap="square" rtlCol="0" anchor="ctr"/>
          <a:lstStyle/>
          <a:p>
            <a:pPr algn="ctr" indent="0" marL="0">
              <a:buNone/>
            </a:pPr>
            <a:r>
              <a:rPr lang="en-US" sz="850" dirty="0">
                <a:solidFill>
                  <a:srgbClr val="94A3B8"/>
                </a:solidFill>
                <a:latin typeface="Segoe UI" pitchFamily="34" charset="0"/>
                <a:ea typeface="Segoe UI" pitchFamily="34" charset="-122"/>
                <a:cs typeface="Segoe UI" pitchFamily="34" charset="-120"/>
              </a:rPr>
              <a:t>Flexible JSON &amp; Multi-Cloud</a:t>
            </a:r>
            <a:endParaRPr lang="en-US" sz="850" dirty="0"/>
          </a:p>
        </p:txBody>
      </p:sp>
      <p:sp>
        <p:nvSpPr>
          <p:cNvPr id="15" name="Shape 13"/>
          <p:cNvSpPr/>
          <p:nvPr/>
        </p:nvSpPr>
        <p:spPr>
          <a:xfrm>
            <a:off x="6217920" y="3749040"/>
            <a:ext cx="2316175" cy="1371600"/>
          </a:xfrm>
          <a:prstGeom prst="roundRect">
            <a:avLst>
              <a:gd name="adj" fmla="val 8000"/>
            </a:avLst>
          </a:prstGeom>
          <a:solidFill>
            <a:srgbClr val="0A1020"/>
          </a:solidFill>
          <a:ln w="19050">
            <a:solidFill>
              <a:srgbClr val="38BDF8"/>
            </a:solidFill>
            <a:prstDash val="solid"/>
          </a:ln>
        </p:spPr>
      </p:sp>
      <p:sp>
        <p:nvSpPr>
          <p:cNvPr id="16" name="Text 14"/>
          <p:cNvSpPr/>
          <p:nvPr/>
        </p:nvSpPr>
        <p:spPr>
          <a:xfrm>
            <a:off x="6217920" y="3886200"/>
            <a:ext cx="2316175" cy="320040"/>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Microsoft Azure</a:t>
            </a:r>
            <a:endParaRPr lang="en-US" sz="1400" dirty="0"/>
          </a:p>
        </p:txBody>
      </p:sp>
      <p:sp>
        <p:nvSpPr>
          <p:cNvPr id="17" name="Text 15"/>
          <p:cNvSpPr/>
          <p:nvPr/>
        </p:nvSpPr>
        <p:spPr>
          <a:xfrm>
            <a:off x="6217920" y="4206240"/>
            <a:ext cx="2316175" cy="256032"/>
          </a:xfrm>
          <a:prstGeom prst="rect">
            <a:avLst/>
          </a:prstGeom>
          <a:noFill/>
          <a:ln/>
        </p:spPr>
        <p:txBody>
          <a:bodyPr wrap="square" rtlCol="0" anchor="ctr"/>
          <a:lstStyle/>
          <a:p>
            <a:pPr algn="ctr" indent="0" marL="0">
              <a:buNone/>
            </a:pPr>
            <a:r>
              <a:rPr lang="en-US" sz="1000" b="1" dirty="0">
                <a:solidFill>
                  <a:srgbClr val="38BDF8"/>
                </a:solidFill>
                <a:latin typeface="Segoe UI" pitchFamily="34" charset="0"/>
                <a:ea typeface="Segoe UI" pitchFamily="34" charset="-122"/>
                <a:cs typeface="Segoe UI" pitchFamily="34" charset="-120"/>
              </a:rPr>
              <a:t>Enterprise SQL</a:t>
            </a:r>
            <a:endParaRPr lang="en-US" sz="1000" dirty="0"/>
          </a:p>
        </p:txBody>
      </p:sp>
      <p:sp>
        <p:nvSpPr>
          <p:cNvPr id="18" name="Text 16"/>
          <p:cNvSpPr/>
          <p:nvPr/>
        </p:nvSpPr>
        <p:spPr>
          <a:xfrm>
            <a:off x="6355080" y="4526280"/>
            <a:ext cx="2041855" cy="457200"/>
          </a:xfrm>
          <a:prstGeom prst="rect">
            <a:avLst/>
          </a:prstGeom>
          <a:noFill/>
          <a:ln/>
        </p:spPr>
        <p:txBody>
          <a:bodyPr wrap="square" rtlCol="0" anchor="ctr"/>
          <a:lstStyle/>
          <a:p>
            <a:pPr algn="ctr" indent="0" marL="0">
              <a:buNone/>
            </a:pPr>
            <a:r>
              <a:rPr lang="en-US" sz="850" dirty="0">
                <a:solidFill>
                  <a:srgbClr val="94A3B8"/>
                </a:solidFill>
                <a:latin typeface="Segoe UI" pitchFamily="34" charset="0"/>
                <a:ea typeface="Segoe UI" pitchFamily="34" charset="-122"/>
                <a:cs typeface="Segoe UI" pitchFamily="34" charset="-120"/>
              </a:rPr>
              <a:t>Active Directory &amp; Power BI</a:t>
            </a:r>
            <a:endParaRPr lang="en-US" sz="850" dirty="0"/>
          </a:p>
        </p:txBody>
      </p:sp>
      <p:sp>
        <p:nvSpPr>
          <p:cNvPr id="19" name="Shape 17"/>
          <p:cNvSpPr/>
          <p:nvPr/>
        </p:nvSpPr>
        <p:spPr>
          <a:xfrm>
            <a:off x="8778240" y="3749040"/>
            <a:ext cx="2316175" cy="1371600"/>
          </a:xfrm>
          <a:prstGeom prst="roundRect">
            <a:avLst>
              <a:gd name="adj" fmla="val 8000"/>
            </a:avLst>
          </a:prstGeom>
          <a:solidFill>
            <a:srgbClr val="0A1020"/>
          </a:solidFill>
          <a:ln w="19050">
            <a:solidFill>
              <a:srgbClr val="FBBF24"/>
            </a:solidFill>
            <a:prstDash val="solid"/>
          </a:ln>
        </p:spPr>
      </p:sp>
      <p:sp>
        <p:nvSpPr>
          <p:cNvPr id="20" name="Text 18"/>
          <p:cNvSpPr/>
          <p:nvPr/>
        </p:nvSpPr>
        <p:spPr>
          <a:xfrm>
            <a:off x="8778240" y="3886200"/>
            <a:ext cx="2316175" cy="320040"/>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Amazon AWS</a:t>
            </a:r>
            <a:endParaRPr lang="en-US" sz="1400" dirty="0"/>
          </a:p>
        </p:txBody>
      </p:sp>
      <p:sp>
        <p:nvSpPr>
          <p:cNvPr id="21" name="Text 19"/>
          <p:cNvSpPr/>
          <p:nvPr/>
        </p:nvSpPr>
        <p:spPr>
          <a:xfrm>
            <a:off x="8778240" y="4206240"/>
            <a:ext cx="2316175" cy="256032"/>
          </a:xfrm>
          <a:prstGeom prst="rect">
            <a:avLst/>
          </a:prstGeom>
          <a:noFill/>
          <a:ln/>
        </p:spPr>
        <p:txBody>
          <a:bodyPr wrap="square" rtlCol="0" anchor="ctr"/>
          <a:lstStyle/>
          <a:p>
            <a:pPr algn="ctr" indent="0" marL="0">
              <a:buNone/>
            </a:pPr>
            <a:r>
              <a:rPr lang="en-US" sz="1000" b="1" dirty="0">
                <a:solidFill>
                  <a:srgbClr val="FBBF24"/>
                </a:solidFill>
                <a:latin typeface="Segoe UI" pitchFamily="34" charset="0"/>
                <a:ea typeface="Segoe UI" pitchFamily="34" charset="-122"/>
                <a:cs typeface="Segoe UI" pitchFamily="34" charset="-120"/>
              </a:rPr>
              <a:t>Cloud Infrastructure</a:t>
            </a:r>
            <a:endParaRPr lang="en-US" sz="1000" dirty="0"/>
          </a:p>
        </p:txBody>
      </p:sp>
      <p:sp>
        <p:nvSpPr>
          <p:cNvPr id="22" name="Text 20"/>
          <p:cNvSpPr/>
          <p:nvPr/>
        </p:nvSpPr>
        <p:spPr>
          <a:xfrm>
            <a:off x="8915400" y="4526280"/>
            <a:ext cx="2041855" cy="457200"/>
          </a:xfrm>
          <a:prstGeom prst="rect">
            <a:avLst/>
          </a:prstGeom>
          <a:noFill/>
          <a:ln/>
        </p:spPr>
        <p:txBody>
          <a:bodyPr wrap="square" rtlCol="0" anchor="ctr"/>
          <a:lstStyle/>
          <a:p>
            <a:pPr algn="ctr" indent="0" marL="0">
              <a:buNone/>
            </a:pPr>
            <a:r>
              <a:rPr lang="en-US" sz="850" dirty="0">
                <a:solidFill>
                  <a:srgbClr val="94A3B8"/>
                </a:solidFill>
                <a:latin typeface="Segoe UI" pitchFamily="34" charset="0"/>
                <a:ea typeface="Segoe UI" pitchFamily="34" charset="-122"/>
                <a:cs typeface="Segoe UI" pitchFamily="34" charset="-120"/>
              </a:rPr>
              <a:t>Isolated VPC &amp; DynamoDB</a:t>
            </a:r>
            <a:endParaRPr lang="en-US" sz="850" dirty="0"/>
          </a:p>
        </p:txBody>
      </p:sp>
      <p:sp>
        <p:nvSpPr>
          <p:cNvPr id="23" name="Text 21"/>
          <p:cNvSpPr/>
          <p:nvPr/>
        </p:nvSpPr>
        <p:spPr>
          <a:xfrm>
            <a:off x="1097280" y="5577840"/>
            <a:ext cx="9966960" cy="274320"/>
          </a:xfrm>
          <a:prstGeom prst="rect">
            <a:avLst/>
          </a:prstGeom>
          <a:noFill/>
          <a:ln/>
        </p:spPr>
        <p:txBody>
          <a:bodyPr wrap="square" rtlCol="0" anchor="ctr"/>
          <a:lstStyle/>
          <a:p>
            <a:pPr algn="ctr" indent="0" marL="0">
              <a:buNone/>
            </a:pPr>
            <a:r>
              <a:rPr lang="en-US" sz="950" dirty="0">
                <a:solidFill>
                  <a:srgbClr val="64748B"/>
                </a:solidFill>
                <a:latin typeface="Segoe UI" pitchFamily="34" charset="0"/>
                <a:ea typeface="Segoe UI" pitchFamily="34" charset="-122"/>
                <a:cs typeface="Segoe UI" pitchFamily="34" charset="-120"/>
              </a:rPr>
              <a:t>2026 Strategic Advisory Edition | Spacious Presentation Layout</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p:spPr>
      </p:sp>
      <p:sp>
        <p:nvSpPr>
          <p:cNvPr id="3" name="Shape 1"/>
          <p:cNvSpPr/>
          <p:nvPr/>
        </p:nvSpPr>
        <p:spPr>
          <a:xfrm>
            <a:off x="731520" y="320040"/>
            <a:ext cx="2286000" cy="274320"/>
          </a:xfrm>
          <a:prstGeom prst="roundRect">
            <a:avLst>
              <a:gd name="adj" fmla="val 26667"/>
            </a:avLst>
          </a:prstGeom>
          <a:solidFill>
            <a:srgbClr val="EFF6FF"/>
          </a:solidFill>
          <a:ln w="12700">
            <a:solidFill>
              <a:srgbClr val="BFDBFE"/>
            </a:solidFill>
            <a:prstDash val="solid"/>
          </a:ln>
        </p:spPr>
      </p:sp>
      <p:sp>
        <p:nvSpPr>
          <p:cNvPr id="4" name="Text 2"/>
          <p:cNvSpPr/>
          <p:nvPr/>
        </p:nvSpPr>
        <p:spPr>
          <a:xfrm>
            <a:off x="731520" y="320040"/>
            <a:ext cx="2286000" cy="274320"/>
          </a:xfrm>
          <a:prstGeom prst="rect">
            <a:avLst/>
          </a:prstGeom>
          <a:noFill/>
          <a:ln/>
        </p:spPr>
        <p:txBody>
          <a:bodyPr wrap="square" rtlCol="0" anchor="ctr"/>
          <a:lstStyle/>
          <a:p>
            <a:pPr algn="ctr" indent="0" marL="0">
              <a:buNone/>
            </a:pPr>
            <a:r>
              <a:rPr lang="en-US" sz="900" b="1" dirty="0">
                <a:solidFill>
                  <a:srgbClr val="1D4ED8"/>
                </a:solidFill>
                <a:latin typeface="Segoe UI" pitchFamily="34" charset="0"/>
                <a:ea typeface="Segoe UI" pitchFamily="34" charset="-122"/>
                <a:cs typeface="Segoe UI" pitchFamily="34" charset="-120"/>
              </a:rPr>
              <a:t>PLATFORM OVERVIEW (1/2)</a:t>
            </a:r>
            <a:endParaRPr lang="en-US" sz="900" dirty="0"/>
          </a:p>
        </p:txBody>
      </p:sp>
      <p:sp>
        <p:nvSpPr>
          <p:cNvPr id="5" name="Text 3"/>
          <p:cNvSpPr/>
          <p:nvPr/>
        </p:nvSpPr>
        <p:spPr>
          <a:xfrm>
            <a:off x="731520" y="658368"/>
            <a:ext cx="10728655" cy="502920"/>
          </a:xfrm>
          <a:prstGeom prst="rect">
            <a:avLst/>
          </a:prstGeom>
          <a:noFill/>
          <a:ln/>
        </p:spPr>
        <p:txBody>
          <a:bodyPr wrap="square" rtlCol="0" anchor="ctr"/>
          <a:lstStyle/>
          <a:p>
            <a:pPr indent="0" marL="0">
              <a:buNone/>
            </a:pPr>
            <a:r>
              <a:rPr lang="en-US" sz="2100" b="1" dirty="0">
                <a:solidFill>
                  <a:srgbClr val="0A0F1D"/>
                </a:solidFill>
                <a:latin typeface="Segoe UI" pitchFamily="34" charset="0"/>
                <a:ea typeface="Segoe UI" pitchFamily="34" charset="-122"/>
                <a:cs typeface="Segoe UI" pitchFamily="34" charset="-120"/>
              </a:rPr>
              <a:t>Platform Overview: Supabase &amp; MongoDB Atlas</a:t>
            </a:r>
            <a:endParaRPr lang="en-US" sz="2100" dirty="0"/>
          </a:p>
        </p:txBody>
      </p:sp>
      <p:sp>
        <p:nvSpPr>
          <p:cNvPr id="6" name="Shape 4"/>
          <p:cNvSpPr/>
          <p:nvPr/>
        </p:nvSpPr>
        <p:spPr>
          <a:xfrm>
            <a:off x="731520" y="1325880"/>
            <a:ext cx="5242255" cy="4846320"/>
          </a:xfrm>
          <a:prstGeom prst="roundRect">
            <a:avLst>
              <a:gd name="adj" fmla="val 2264"/>
            </a:avLst>
          </a:prstGeom>
          <a:solidFill>
            <a:srgbClr val="FFFFFF"/>
          </a:solidFill>
          <a:ln w="15240">
            <a:solidFill>
              <a:srgbClr val="E2E8F0"/>
            </a:solidFill>
            <a:prstDash val="solid"/>
          </a:ln>
        </p:spPr>
      </p:sp>
      <p:sp>
        <p:nvSpPr>
          <p:cNvPr id="7" name="Shape 5"/>
          <p:cNvSpPr/>
          <p:nvPr/>
        </p:nvSpPr>
        <p:spPr>
          <a:xfrm>
            <a:off x="731520" y="1325880"/>
            <a:ext cx="5242255" cy="822960"/>
          </a:xfrm>
          <a:prstGeom prst="roundRect">
            <a:avLst>
              <a:gd name="adj" fmla="val 13333"/>
            </a:avLst>
          </a:prstGeom>
          <a:solidFill>
            <a:srgbClr val="059669"/>
          </a:solidFill>
          <a:ln w="12700">
            <a:solidFill>
              <a:srgbClr val="059669"/>
            </a:solidFill>
            <a:prstDash val="solid"/>
          </a:ln>
        </p:spPr>
      </p:sp>
      <p:sp>
        <p:nvSpPr>
          <p:cNvPr id="8" name="Text 6"/>
          <p:cNvSpPr/>
          <p:nvPr/>
        </p:nvSpPr>
        <p:spPr>
          <a:xfrm>
            <a:off x="1005840" y="1417320"/>
            <a:ext cx="4693615" cy="320040"/>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1. SUPABASE</a:t>
            </a:r>
            <a:endParaRPr lang="en-US" sz="1400" dirty="0"/>
          </a:p>
        </p:txBody>
      </p:sp>
      <p:sp>
        <p:nvSpPr>
          <p:cNvPr id="9" name="Text 7"/>
          <p:cNvSpPr/>
          <p:nvPr/>
        </p:nvSpPr>
        <p:spPr>
          <a:xfrm>
            <a:off x="1005840" y="1755648"/>
            <a:ext cx="4693615" cy="274320"/>
          </a:xfrm>
          <a:prstGeom prst="rect">
            <a:avLst/>
          </a:prstGeom>
          <a:noFill/>
          <a:ln/>
        </p:spPr>
        <p:txBody>
          <a:bodyPr wrap="square" rtlCol="0" anchor="ctr"/>
          <a:lstStyle/>
          <a:p>
            <a:pPr indent="0" marL="0">
              <a:buNone/>
            </a:pPr>
            <a:r>
              <a:rPr lang="en-US" sz="1000" dirty="0">
                <a:solidFill>
                  <a:srgbClr val="E2E8F0"/>
                </a:solidFill>
                <a:latin typeface="Segoe UI" pitchFamily="34" charset="0"/>
                <a:ea typeface="Segoe UI" pitchFamily="34" charset="-122"/>
                <a:cs typeface="Segoe UI" pitchFamily="34" charset="-120"/>
              </a:rPr>
              <a:t>The Modern All-in-One Engine (PostgreSQL BaaS)</a:t>
            </a:r>
            <a:endParaRPr lang="en-US" sz="1000" dirty="0"/>
          </a:p>
        </p:txBody>
      </p:sp>
      <p:sp>
        <p:nvSpPr>
          <p:cNvPr id="10" name="Shape 8"/>
          <p:cNvSpPr/>
          <p:nvPr/>
        </p:nvSpPr>
        <p:spPr>
          <a:xfrm>
            <a:off x="960120" y="2286000"/>
            <a:ext cx="4785055" cy="822960"/>
          </a:xfrm>
          <a:prstGeom prst="roundRect">
            <a:avLst>
              <a:gd name="adj" fmla="val 8889"/>
            </a:avLst>
          </a:prstGeom>
          <a:solidFill>
            <a:srgbClr val="F8FAFC"/>
          </a:solidFill>
          <a:ln w="12700">
            <a:solidFill>
              <a:srgbClr val="E2E8F0"/>
            </a:solidFill>
            <a:prstDash val="solid"/>
          </a:ln>
        </p:spPr>
      </p:sp>
      <p:sp>
        <p:nvSpPr>
          <p:cNvPr id="11" name="Text 9"/>
          <p:cNvSpPr/>
          <p:nvPr/>
        </p:nvSpPr>
        <p:spPr>
          <a:xfrm>
            <a:off x="1097280" y="2359152"/>
            <a:ext cx="4510735" cy="676656"/>
          </a:xfrm>
          <a:prstGeom prst="rect">
            <a:avLst/>
          </a:prstGeom>
          <a:noFill/>
          <a:ln/>
        </p:spPr>
        <p:txBody>
          <a:bodyPr wrap="square" rtlCol="0" anchor="t"/>
          <a:lstStyle/>
          <a:p>
            <a:pPr indent="0" marL="0">
              <a:lnSpc>
                <a:spcPct val="115000"/>
              </a:lnSpc>
              <a:buNone/>
            </a:pPr>
            <a:r>
              <a:rPr lang="en-US" sz="850" b="1" dirty="0">
                <a:solidFill>
                  <a:srgbClr val="059669"/>
                </a:solidFill>
                <a:latin typeface="Segoe UI" pitchFamily="34" charset="0"/>
                <a:ea typeface="Segoe UI" pitchFamily="34" charset="-122"/>
                <a:cs typeface="Segoe UI" pitchFamily="34" charset="-120"/>
              </a:rPr>
              <a:t>CORE TECHNOLOGY
</a:t>
            </a:r>
            <a:pPr indent="0" marL="0">
              <a:lnSpc>
                <a:spcPct val="115000"/>
              </a:lnSpc>
              <a:buNone/>
            </a:pPr>
            <a:r>
              <a:rPr lang="en-US" sz="900" dirty="0">
                <a:solidFill>
                  <a:srgbClr val="0F172A"/>
                </a:solidFill>
                <a:latin typeface="Segoe UI" pitchFamily="34" charset="0"/>
                <a:ea typeface="Segoe UI" pitchFamily="34" charset="-122"/>
                <a:cs typeface="Segoe UI" pitchFamily="34" charset="-120"/>
              </a:rPr>
              <a:t>Runs 100% pure standard PostgreSQL. Not a fork or emulation—fully compatible with any PostgreSQL tool or framework.</a:t>
            </a:r>
            <a:endParaRPr lang="en-US" sz="850" dirty="0"/>
          </a:p>
        </p:txBody>
      </p:sp>
      <p:sp>
        <p:nvSpPr>
          <p:cNvPr id="12" name="Shape 10"/>
          <p:cNvSpPr/>
          <p:nvPr/>
        </p:nvSpPr>
        <p:spPr>
          <a:xfrm>
            <a:off x="960120" y="3218688"/>
            <a:ext cx="4785055" cy="822960"/>
          </a:xfrm>
          <a:prstGeom prst="roundRect">
            <a:avLst>
              <a:gd name="adj" fmla="val 8889"/>
            </a:avLst>
          </a:prstGeom>
          <a:solidFill>
            <a:srgbClr val="F8FAFC"/>
          </a:solidFill>
          <a:ln w="12700">
            <a:solidFill>
              <a:srgbClr val="E2E8F0"/>
            </a:solidFill>
            <a:prstDash val="solid"/>
          </a:ln>
        </p:spPr>
      </p:sp>
      <p:sp>
        <p:nvSpPr>
          <p:cNvPr id="13" name="Text 11"/>
          <p:cNvSpPr/>
          <p:nvPr/>
        </p:nvSpPr>
        <p:spPr>
          <a:xfrm>
            <a:off x="1097280" y="3291840"/>
            <a:ext cx="4510735" cy="676656"/>
          </a:xfrm>
          <a:prstGeom prst="rect">
            <a:avLst/>
          </a:prstGeom>
          <a:noFill/>
          <a:ln/>
        </p:spPr>
        <p:txBody>
          <a:bodyPr wrap="square" rtlCol="0" anchor="t"/>
          <a:lstStyle/>
          <a:p>
            <a:pPr indent="0" marL="0">
              <a:lnSpc>
                <a:spcPct val="115000"/>
              </a:lnSpc>
              <a:buNone/>
            </a:pPr>
            <a:r>
              <a:rPr lang="en-US" sz="850" b="1" dirty="0">
                <a:solidFill>
                  <a:srgbClr val="059669"/>
                </a:solidFill>
                <a:latin typeface="Segoe UI" pitchFamily="34" charset="0"/>
                <a:ea typeface="Segoe UI" pitchFamily="34" charset="-122"/>
                <a:cs typeface="Segoe UI" pitchFamily="34" charset="-120"/>
              </a:rPr>
              <a:t>INCLUDED MODULES
</a:t>
            </a:r>
            <a:pPr indent="0" marL="0">
              <a:lnSpc>
                <a:spcPct val="115000"/>
              </a:lnSpc>
              <a:buNone/>
            </a:pPr>
            <a:r>
              <a:rPr lang="en-US" sz="900" dirty="0">
                <a:solidFill>
                  <a:srgbClr val="0F172A"/>
                </a:solidFill>
                <a:latin typeface="Segoe UI" pitchFamily="34" charset="0"/>
                <a:ea typeface="Segoe UI" pitchFamily="34" charset="-122"/>
                <a:cs typeface="Segoe UI" pitchFamily="34" charset="-120"/>
              </a:rPr>
              <a:t>Provides built-in User Authentication (Google, Apple, Email), S3-compatible File Storage, and auto-generated REST &amp; Realtime APIs.</a:t>
            </a:r>
            <a:endParaRPr lang="en-US" sz="850" dirty="0"/>
          </a:p>
        </p:txBody>
      </p:sp>
      <p:sp>
        <p:nvSpPr>
          <p:cNvPr id="14" name="Shape 12"/>
          <p:cNvSpPr/>
          <p:nvPr/>
        </p:nvSpPr>
        <p:spPr>
          <a:xfrm>
            <a:off x="960120" y="4151376"/>
            <a:ext cx="4785055" cy="822960"/>
          </a:xfrm>
          <a:prstGeom prst="roundRect">
            <a:avLst>
              <a:gd name="adj" fmla="val 8889"/>
            </a:avLst>
          </a:prstGeom>
          <a:solidFill>
            <a:srgbClr val="F8FAFC"/>
          </a:solidFill>
          <a:ln w="12700">
            <a:solidFill>
              <a:srgbClr val="E2E8F0"/>
            </a:solidFill>
            <a:prstDash val="solid"/>
          </a:ln>
        </p:spPr>
      </p:sp>
      <p:sp>
        <p:nvSpPr>
          <p:cNvPr id="15" name="Text 13"/>
          <p:cNvSpPr/>
          <p:nvPr/>
        </p:nvSpPr>
        <p:spPr>
          <a:xfrm>
            <a:off x="1097280" y="4224528"/>
            <a:ext cx="4510735" cy="676656"/>
          </a:xfrm>
          <a:prstGeom prst="rect">
            <a:avLst/>
          </a:prstGeom>
          <a:noFill/>
          <a:ln/>
        </p:spPr>
        <p:txBody>
          <a:bodyPr wrap="square" rtlCol="0" anchor="t"/>
          <a:lstStyle/>
          <a:p>
            <a:pPr indent="0" marL="0">
              <a:lnSpc>
                <a:spcPct val="115000"/>
              </a:lnSpc>
              <a:buNone/>
            </a:pPr>
            <a:r>
              <a:rPr lang="en-US" sz="850" b="1" dirty="0">
                <a:solidFill>
                  <a:srgbClr val="059669"/>
                </a:solidFill>
                <a:latin typeface="Segoe UI" pitchFamily="34" charset="0"/>
                <a:ea typeface="Segoe UI" pitchFamily="34" charset="-122"/>
                <a:cs typeface="Segoe UI" pitchFamily="34" charset="-120"/>
              </a:rPr>
              <a:t>DEVELOPMENT IMPACT
</a:t>
            </a:r>
            <a:pPr indent="0" marL="0">
              <a:lnSpc>
                <a:spcPct val="115000"/>
              </a:lnSpc>
              <a:buNone/>
            </a:pPr>
            <a:r>
              <a:rPr lang="en-US" sz="900" dirty="0">
                <a:solidFill>
                  <a:srgbClr val="0F172A"/>
                </a:solidFill>
                <a:latin typeface="Segoe UI" pitchFamily="34" charset="0"/>
                <a:ea typeface="Segoe UI" pitchFamily="34" charset="-122"/>
                <a:cs typeface="Segoe UI" pitchFamily="34" charset="-120"/>
              </a:rPr>
              <a:t>Cuts backend development time by 40% to 60%. Eliminates the need to build custom login, token, and storage logic.</a:t>
            </a:r>
            <a:endParaRPr lang="en-US" sz="850" dirty="0"/>
          </a:p>
        </p:txBody>
      </p:sp>
      <p:sp>
        <p:nvSpPr>
          <p:cNvPr id="16" name="Shape 14"/>
          <p:cNvSpPr/>
          <p:nvPr/>
        </p:nvSpPr>
        <p:spPr>
          <a:xfrm>
            <a:off x="960120" y="5084064"/>
            <a:ext cx="4785055" cy="822960"/>
          </a:xfrm>
          <a:prstGeom prst="roundRect">
            <a:avLst>
              <a:gd name="adj" fmla="val 8889"/>
            </a:avLst>
          </a:prstGeom>
          <a:solidFill>
            <a:srgbClr val="F8FAFC"/>
          </a:solidFill>
          <a:ln w="12700">
            <a:solidFill>
              <a:srgbClr val="E2E8F0"/>
            </a:solidFill>
            <a:prstDash val="solid"/>
          </a:ln>
        </p:spPr>
      </p:sp>
      <p:sp>
        <p:nvSpPr>
          <p:cNvPr id="17" name="Text 15"/>
          <p:cNvSpPr/>
          <p:nvPr/>
        </p:nvSpPr>
        <p:spPr>
          <a:xfrm>
            <a:off x="1097280" y="5157216"/>
            <a:ext cx="4510735" cy="676656"/>
          </a:xfrm>
          <a:prstGeom prst="rect">
            <a:avLst/>
          </a:prstGeom>
          <a:noFill/>
          <a:ln/>
        </p:spPr>
        <p:txBody>
          <a:bodyPr wrap="square" rtlCol="0" anchor="t"/>
          <a:lstStyle/>
          <a:p>
            <a:pPr indent="0" marL="0">
              <a:lnSpc>
                <a:spcPct val="115000"/>
              </a:lnSpc>
              <a:buNone/>
            </a:pPr>
            <a:r>
              <a:rPr lang="en-US" sz="850" b="1" dirty="0">
                <a:solidFill>
                  <a:srgbClr val="059669"/>
                </a:solidFill>
                <a:latin typeface="Segoe UI" pitchFamily="34" charset="0"/>
                <a:ea typeface="Segoe UI" pitchFamily="34" charset="-122"/>
                <a:cs typeface="Segoe UI" pitchFamily="34" charset="-120"/>
              </a:rPr>
              <a:t>ZERO VENDOR LOCK-IN
</a:t>
            </a:r>
            <a:pPr indent="0" marL="0">
              <a:lnSpc>
                <a:spcPct val="115000"/>
              </a:lnSpc>
              <a:buNone/>
            </a:pPr>
            <a:r>
              <a:rPr lang="en-US" sz="900" dirty="0">
                <a:solidFill>
                  <a:srgbClr val="0F172A"/>
                </a:solidFill>
                <a:latin typeface="Segoe UI" pitchFamily="34" charset="0"/>
                <a:ea typeface="Segoe UI" pitchFamily="34" charset="-122"/>
                <a:cs typeface="Segoe UI" pitchFamily="34" charset="-120"/>
              </a:rPr>
              <a:t>Client can export standard .sql database dumps at any time and migrate to AWS, Azure, or local hardware with zero friction.</a:t>
            </a:r>
            <a:endParaRPr lang="en-US" sz="850" dirty="0"/>
          </a:p>
        </p:txBody>
      </p:sp>
      <p:sp>
        <p:nvSpPr>
          <p:cNvPr id="18" name="Shape 16"/>
          <p:cNvSpPr/>
          <p:nvPr/>
        </p:nvSpPr>
        <p:spPr>
          <a:xfrm>
            <a:off x="6217920" y="1325880"/>
            <a:ext cx="5242255" cy="4846320"/>
          </a:xfrm>
          <a:prstGeom prst="roundRect">
            <a:avLst>
              <a:gd name="adj" fmla="val 2264"/>
            </a:avLst>
          </a:prstGeom>
          <a:solidFill>
            <a:srgbClr val="FFFFFF"/>
          </a:solidFill>
          <a:ln w="15240">
            <a:solidFill>
              <a:srgbClr val="E2E8F0"/>
            </a:solidFill>
            <a:prstDash val="solid"/>
          </a:ln>
        </p:spPr>
      </p:sp>
      <p:sp>
        <p:nvSpPr>
          <p:cNvPr id="19" name="Shape 17"/>
          <p:cNvSpPr/>
          <p:nvPr/>
        </p:nvSpPr>
        <p:spPr>
          <a:xfrm>
            <a:off x="6217920" y="1325880"/>
            <a:ext cx="5242255" cy="822960"/>
          </a:xfrm>
          <a:prstGeom prst="roundRect">
            <a:avLst>
              <a:gd name="adj" fmla="val 13333"/>
            </a:avLst>
          </a:prstGeom>
          <a:solidFill>
            <a:srgbClr val="16A34A"/>
          </a:solidFill>
          <a:ln w="12700">
            <a:solidFill>
              <a:srgbClr val="16A34A"/>
            </a:solidFill>
            <a:prstDash val="solid"/>
          </a:ln>
        </p:spPr>
      </p:sp>
      <p:sp>
        <p:nvSpPr>
          <p:cNvPr id="20" name="Text 18"/>
          <p:cNvSpPr/>
          <p:nvPr/>
        </p:nvSpPr>
        <p:spPr>
          <a:xfrm>
            <a:off x="6492240" y="1417320"/>
            <a:ext cx="4693615" cy="320040"/>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2. MONGODB ATLAS</a:t>
            </a:r>
            <a:endParaRPr lang="en-US" sz="1400" dirty="0"/>
          </a:p>
        </p:txBody>
      </p:sp>
      <p:sp>
        <p:nvSpPr>
          <p:cNvPr id="21" name="Text 19"/>
          <p:cNvSpPr/>
          <p:nvPr/>
        </p:nvSpPr>
        <p:spPr>
          <a:xfrm>
            <a:off x="6492240" y="1755648"/>
            <a:ext cx="4693615" cy="274320"/>
          </a:xfrm>
          <a:prstGeom prst="rect">
            <a:avLst/>
          </a:prstGeom>
          <a:noFill/>
          <a:ln/>
        </p:spPr>
        <p:txBody>
          <a:bodyPr wrap="square" rtlCol="0" anchor="ctr"/>
          <a:lstStyle/>
          <a:p>
            <a:pPr indent="0" marL="0">
              <a:buNone/>
            </a:pPr>
            <a:r>
              <a:rPr lang="en-US" sz="1000" dirty="0">
                <a:solidFill>
                  <a:srgbClr val="E2E8F0"/>
                </a:solidFill>
                <a:latin typeface="Segoe UI" pitchFamily="34" charset="0"/>
                <a:ea typeface="Segoe UI" pitchFamily="34" charset="-122"/>
                <a:cs typeface="Segoe UI" pitchFamily="34" charset="-120"/>
              </a:rPr>
              <a:t>The Flexible Filing Cabinet (Document NoSQL)</a:t>
            </a:r>
            <a:endParaRPr lang="en-US" sz="1000" dirty="0"/>
          </a:p>
        </p:txBody>
      </p:sp>
      <p:sp>
        <p:nvSpPr>
          <p:cNvPr id="22" name="Shape 20"/>
          <p:cNvSpPr/>
          <p:nvPr/>
        </p:nvSpPr>
        <p:spPr>
          <a:xfrm>
            <a:off x="6446520" y="2286000"/>
            <a:ext cx="4785055" cy="822960"/>
          </a:xfrm>
          <a:prstGeom prst="roundRect">
            <a:avLst>
              <a:gd name="adj" fmla="val 8889"/>
            </a:avLst>
          </a:prstGeom>
          <a:solidFill>
            <a:srgbClr val="F8FAFC"/>
          </a:solidFill>
          <a:ln w="12700">
            <a:solidFill>
              <a:srgbClr val="E2E8F0"/>
            </a:solidFill>
            <a:prstDash val="solid"/>
          </a:ln>
        </p:spPr>
      </p:sp>
      <p:sp>
        <p:nvSpPr>
          <p:cNvPr id="23" name="Text 21"/>
          <p:cNvSpPr/>
          <p:nvPr/>
        </p:nvSpPr>
        <p:spPr>
          <a:xfrm>
            <a:off x="6583680" y="2359152"/>
            <a:ext cx="4510735" cy="676656"/>
          </a:xfrm>
          <a:prstGeom prst="rect">
            <a:avLst/>
          </a:prstGeom>
          <a:noFill/>
          <a:ln/>
        </p:spPr>
        <p:txBody>
          <a:bodyPr wrap="square" rtlCol="0" anchor="t"/>
          <a:lstStyle/>
          <a:p>
            <a:pPr indent="0" marL="0">
              <a:lnSpc>
                <a:spcPct val="115000"/>
              </a:lnSpc>
              <a:buNone/>
            </a:pPr>
            <a:r>
              <a:rPr lang="en-US" sz="850" b="1" dirty="0">
                <a:solidFill>
                  <a:srgbClr val="16A34A"/>
                </a:solidFill>
                <a:latin typeface="Segoe UI" pitchFamily="34" charset="0"/>
                <a:ea typeface="Segoe UI" pitchFamily="34" charset="-122"/>
                <a:cs typeface="Segoe UI" pitchFamily="34" charset="-120"/>
              </a:rPr>
              <a:t>CORE TECHNOLOGY
</a:t>
            </a:r>
            <a:pPr indent="0" marL="0">
              <a:lnSpc>
                <a:spcPct val="115000"/>
              </a:lnSpc>
              <a:buNone/>
            </a:pPr>
            <a:r>
              <a:rPr lang="en-US" sz="900" dirty="0">
                <a:solidFill>
                  <a:srgbClr val="0F172A"/>
                </a:solidFill>
                <a:latin typeface="Segoe UI" pitchFamily="34" charset="0"/>
                <a:ea typeface="Segoe UI" pitchFamily="34" charset="-122"/>
                <a:cs typeface="Segoe UI" pitchFamily="34" charset="-120"/>
              </a:rPr>
              <a:t>Stores records as rich, flexible JSON/BSON documents. Ideal for catalogs, product specs, and unstructured data streams.</a:t>
            </a:r>
            <a:endParaRPr lang="en-US" sz="850" dirty="0"/>
          </a:p>
        </p:txBody>
      </p:sp>
      <p:sp>
        <p:nvSpPr>
          <p:cNvPr id="24" name="Shape 22"/>
          <p:cNvSpPr/>
          <p:nvPr/>
        </p:nvSpPr>
        <p:spPr>
          <a:xfrm>
            <a:off x="6446520" y="3218688"/>
            <a:ext cx="4785055" cy="822960"/>
          </a:xfrm>
          <a:prstGeom prst="roundRect">
            <a:avLst>
              <a:gd name="adj" fmla="val 8889"/>
            </a:avLst>
          </a:prstGeom>
          <a:solidFill>
            <a:srgbClr val="F8FAFC"/>
          </a:solidFill>
          <a:ln w="12700">
            <a:solidFill>
              <a:srgbClr val="E2E8F0"/>
            </a:solidFill>
            <a:prstDash val="solid"/>
          </a:ln>
        </p:spPr>
      </p:sp>
      <p:sp>
        <p:nvSpPr>
          <p:cNvPr id="25" name="Text 23"/>
          <p:cNvSpPr/>
          <p:nvPr/>
        </p:nvSpPr>
        <p:spPr>
          <a:xfrm>
            <a:off x="6583680" y="3291840"/>
            <a:ext cx="4510735" cy="676656"/>
          </a:xfrm>
          <a:prstGeom prst="rect">
            <a:avLst/>
          </a:prstGeom>
          <a:noFill/>
          <a:ln/>
        </p:spPr>
        <p:txBody>
          <a:bodyPr wrap="square" rtlCol="0" anchor="t"/>
          <a:lstStyle/>
          <a:p>
            <a:pPr indent="0" marL="0">
              <a:lnSpc>
                <a:spcPct val="115000"/>
              </a:lnSpc>
              <a:buNone/>
            </a:pPr>
            <a:r>
              <a:rPr lang="en-US" sz="850" b="1" dirty="0">
                <a:solidFill>
                  <a:srgbClr val="16A34A"/>
                </a:solidFill>
                <a:latin typeface="Segoe UI" pitchFamily="34" charset="0"/>
                <a:ea typeface="Segoe UI" pitchFamily="34" charset="-122"/>
                <a:cs typeface="Segoe UI" pitchFamily="34" charset="-120"/>
              </a:rPr>
              <a:t>DYNAMIC SCHEMA AGILITY
</a:t>
            </a:r>
            <a:pPr indent="0" marL="0">
              <a:lnSpc>
                <a:spcPct val="115000"/>
              </a:lnSpc>
              <a:buNone/>
            </a:pPr>
            <a:r>
              <a:rPr lang="en-US" sz="900" dirty="0">
                <a:solidFill>
                  <a:srgbClr val="0F172A"/>
                </a:solidFill>
                <a:latin typeface="Segoe UI" pitchFamily="34" charset="0"/>
                <a:ea typeface="Segoe UI" pitchFamily="34" charset="-122"/>
                <a:cs typeface="Segoe UI" pitchFamily="34" charset="-120"/>
              </a:rPr>
              <a:t>No rigid tables or columns. Adding new fields or attributes never breaks existing database schemas or requires complex migrations.</a:t>
            </a:r>
            <a:endParaRPr lang="en-US" sz="850" dirty="0"/>
          </a:p>
        </p:txBody>
      </p:sp>
      <p:sp>
        <p:nvSpPr>
          <p:cNvPr id="26" name="Shape 24"/>
          <p:cNvSpPr/>
          <p:nvPr/>
        </p:nvSpPr>
        <p:spPr>
          <a:xfrm>
            <a:off x="6446520" y="4151376"/>
            <a:ext cx="4785055" cy="822960"/>
          </a:xfrm>
          <a:prstGeom prst="roundRect">
            <a:avLst>
              <a:gd name="adj" fmla="val 8889"/>
            </a:avLst>
          </a:prstGeom>
          <a:solidFill>
            <a:srgbClr val="F8FAFC"/>
          </a:solidFill>
          <a:ln w="12700">
            <a:solidFill>
              <a:srgbClr val="E2E8F0"/>
            </a:solidFill>
            <a:prstDash val="solid"/>
          </a:ln>
        </p:spPr>
      </p:sp>
      <p:sp>
        <p:nvSpPr>
          <p:cNvPr id="27" name="Text 25"/>
          <p:cNvSpPr/>
          <p:nvPr/>
        </p:nvSpPr>
        <p:spPr>
          <a:xfrm>
            <a:off x="6583680" y="4224528"/>
            <a:ext cx="4510735" cy="676656"/>
          </a:xfrm>
          <a:prstGeom prst="rect">
            <a:avLst/>
          </a:prstGeom>
          <a:noFill/>
          <a:ln/>
        </p:spPr>
        <p:txBody>
          <a:bodyPr wrap="square" rtlCol="0" anchor="t"/>
          <a:lstStyle/>
          <a:p>
            <a:pPr indent="0" marL="0">
              <a:lnSpc>
                <a:spcPct val="115000"/>
              </a:lnSpc>
              <a:buNone/>
            </a:pPr>
            <a:r>
              <a:rPr lang="en-US" sz="850" b="1" dirty="0">
                <a:solidFill>
                  <a:srgbClr val="16A34A"/>
                </a:solidFill>
                <a:latin typeface="Segoe UI" pitchFamily="34" charset="0"/>
                <a:ea typeface="Segoe UI" pitchFamily="34" charset="-122"/>
                <a:cs typeface="Segoe UI" pitchFamily="34" charset="-120"/>
              </a:rPr>
              <a:t>BUILT-IN SEARCH ENGINE
</a:t>
            </a:r>
            <a:pPr indent="0" marL="0">
              <a:lnSpc>
                <a:spcPct val="115000"/>
              </a:lnSpc>
              <a:buNone/>
            </a:pPr>
            <a:r>
              <a:rPr lang="en-US" sz="900" dirty="0">
                <a:solidFill>
                  <a:srgbClr val="0F172A"/>
                </a:solidFill>
                <a:latin typeface="Segoe UI" pitchFamily="34" charset="0"/>
                <a:ea typeface="Segoe UI" pitchFamily="34" charset="-122"/>
                <a:cs typeface="Segoe UI" pitchFamily="34" charset="-120"/>
              </a:rPr>
              <a:t>Includes full-text search with Apache Lucene built-in. Eliminates the cost and operational overhead of running a separate Elasticsearch cluster.</a:t>
            </a:r>
            <a:endParaRPr lang="en-US" sz="850" dirty="0"/>
          </a:p>
        </p:txBody>
      </p:sp>
      <p:sp>
        <p:nvSpPr>
          <p:cNvPr id="28" name="Shape 26"/>
          <p:cNvSpPr/>
          <p:nvPr/>
        </p:nvSpPr>
        <p:spPr>
          <a:xfrm>
            <a:off x="6446520" y="5084064"/>
            <a:ext cx="4785055" cy="822960"/>
          </a:xfrm>
          <a:prstGeom prst="roundRect">
            <a:avLst>
              <a:gd name="adj" fmla="val 8889"/>
            </a:avLst>
          </a:prstGeom>
          <a:solidFill>
            <a:srgbClr val="F8FAFC"/>
          </a:solidFill>
          <a:ln w="12700">
            <a:solidFill>
              <a:srgbClr val="E2E8F0"/>
            </a:solidFill>
            <a:prstDash val="solid"/>
          </a:ln>
        </p:spPr>
      </p:sp>
      <p:sp>
        <p:nvSpPr>
          <p:cNvPr id="29" name="Text 27"/>
          <p:cNvSpPr/>
          <p:nvPr/>
        </p:nvSpPr>
        <p:spPr>
          <a:xfrm>
            <a:off x="6583680" y="5157216"/>
            <a:ext cx="4510735" cy="676656"/>
          </a:xfrm>
          <a:prstGeom prst="rect">
            <a:avLst/>
          </a:prstGeom>
          <a:noFill/>
          <a:ln/>
        </p:spPr>
        <p:txBody>
          <a:bodyPr wrap="square" rtlCol="0" anchor="t"/>
          <a:lstStyle/>
          <a:p>
            <a:pPr indent="0" marL="0">
              <a:lnSpc>
                <a:spcPct val="115000"/>
              </a:lnSpc>
              <a:buNone/>
            </a:pPr>
            <a:r>
              <a:rPr lang="en-US" sz="850" b="1" dirty="0">
                <a:solidFill>
                  <a:srgbClr val="16A34A"/>
                </a:solidFill>
                <a:latin typeface="Segoe UI" pitchFamily="34" charset="0"/>
                <a:ea typeface="Segoe UI" pitchFamily="34" charset="-122"/>
                <a:cs typeface="Segoe UI" pitchFamily="34" charset="-120"/>
              </a:rPr>
              <a:t>MULTI-CLOUD PORTABILITY
</a:t>
            </a:r>
            <a:pPr indent="0" marL="0">
              <a:lnSpc>
                <a:spcPct val="115000"/>
              </a:lnSpc>
              <a:buNone/>
            </a:pPr>
            <a:r>
              <a:rPr lang="en-US" sz="900" dirty="0">
                <a:solidFill>
                  <a:srgbClr val="0F172A"/>
                </a:solidFill>
                <a:latin typeface="Segoe UI" pitchFamily="34" charset="0"/>
                <a:ea typeface="Segoe UI" pitchFamily="34" charset="-122"/>
                <a:cs typeface="Segoe UI" pitchFamily="34" charset="-120"/>
              </a:rPr>
              <a:t>Runs identically across Amazon AWS, Microsoft Azure, and Google Cloud with 1-click cloud migration.</a:t>
            </a:r>
            <a:endParaRPr lang="en-US" sz="850" dirty="0"/>
          </a:p>
        </p:txBody>
      </p:sp>
      <p:sp>
        <p:nvSpPr>
          <p:cNvPr id="30" name="Shape 28"/>
          <p:cNvSpPr/>
          <p:nvPr/>
        </p:nvSpPr>
        <p:spPr>
          <a:xfrm>
            <a:off x="731520" y="6355080"/>
            <a:ext cx="10728655" cy="18288"/>
          </a:xfrm>
          <a:prstGeom prst="rect">
            <a:avLst/>
          </a:prstGeom>
          <a:solidFill>
            <a:srgbClr val="E2E8F0"/>
          </a:solidFill>
          <a:ln/>
        </p:spPr>
      </p:sp>
      <p:sp>
        <p:nvSpPr>
          <p:cNvPr id="31" name="Text 29"/>
          <p:cNvSpPr/>
          <p:nvPr/>
        </p:nvSpPr>
        <p:spPr>
          <a:xfrm>
            <a:off x="731520" y="6419088"/>
            <a:ext cx="7772400" cy="27432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CONFIDENTIAL &amp; PROPRIETARY | Enterprise Cloud Database Evaluation &amp; Advisory</a:t>
            </a:r>
            <a:endParaRPr lang="en-US" sz="850" dirty="0"/>
          </a:p>
        </p:txBody>
      </p:sp>
      <p:sp>
        <p:nvSpPr>
          <p:cNvPr id="32" name="Text 30"/>
          <p:cNvSpPr/>
          <p:nvPr/>
        </p:nvSpPr>
        <p:spPr>
          <a:xfrm>
            <a:off x="9631375" y="6419088"/>
            <a:ext cx="1828800" cy="274320"/>
          </a:xfrm>
          <a:prstGeom prst="rect">
            <a:avLst/>
          </a:prstGeom>
          <a:noFill/>
          <a:ln/>
        </p:spPr>
        <p:txBody>
          <a:bodyPr wrap="square" rtlCol="0" anchor="ctr"/>
          <a:lstStyle/>
          <a:p>
            <a:pPr algn="r" indent="0" marL="0">
              <a:buNone/>
            </a:pPr>
            <a:r>
              <a:rPr lang="en-US" sz="850" dirty="0">
                <a:solidFill>
                  <a:srgbClr val="94A3B8"/>
                </a:solidFill>
                <a:latin typeface="Segoe UI" pitchFamily="34" charset="0"/>
                <a:ea typeface="Segoe UI" pitchFamily="34" charset="-122"/>
                <a:cs typeface="Segoe UI" pitchFamily="34" charset="-120"/>
              </a:rPr>
              <a:t>Slide 2 of 17</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p:spPr>
      </p:sp>
      <p:sp>
        <p:nvSpPr>
          <p:cNvPr id="3" name="Shape 1"/>
          <p:cNvSpPr/>
          <p:nvPr/>
        </p:nvSpPr>
        <p:spPr>
          <a:xfrm>
            <a:off x="731520" y="320040"/>
            <a:ext cx="2286000" cy="274320"/>
          </a:xfrm>
          <a:prstGeom prst="roundRect">
            <a:avLst>
              <a:gd name="adj" fmla="val 26667"/>
            </a:avLst>
          </a:prstGeom>
          <a:solidFill>
            <a:srgbClr val="EFF6FF"/>
          </a:solidFill>
          <a:ln w="12700">
            <a:solidFill>
              <a:srgbClr val="BFDBFE"/>
            </a:solidFill>
            <a:prstDash val="solid"/>
          </a:ln>
        </p:spPr>
      </p:sp>
      <p:sp>
        <p:nvSpPr>
          <p:cNvPr id="4" name="Text 2"/>
          <p:cNvSpPr/>
          <p:nvPr/>
        </p:nvSpPr>
        <p:spPr>
          <a:xfrm>
            <a:off x="731520" y="320040"/>
            <a:ext cx="2286000" cy="274320"/>
          </a:xfrm>
          <a:prstGeom prst="rect">
            <a:avLst/>
          </a:prstGeom>
          <a:noFill/>
          <a:ln/>
        </p:spPr>
        <p:txBody>
          <a:bodyPr wrap="square" rtlCol="0" anchor="ctr"/>
          <a:lstStyle/>
          <a:p>
            <a:pPr algn="ctr" indent="0" marL="0">
              <a:buNone/>
            </a:pPr>
            <a:r>
              <a:rPr lang="en-US" sz="900" b="1" dirty="0">
                <a:solidFill>
                  <a:srgbClr val="1D4ED8"/>
                </a:solidFill>
                <a:latin typeface="Segoe UI" pitchFamily="34" charset="0"/>
                <a:ea typeface="Segoe UI" pitchFamily="34" charset="-122"/>
                <a:cs typeface="Segoe UI" pitchFamily="34" charset="-120"/>
              </a:rPr>
              <a:t>PLATFORM OVERVIEW (2/2)</a:t>
            </a:r>
            <a:endParaRPr lang="en-US" sz="900" dirty="0"/>
          </a:p>
        </p:txBody>
      </p:sp>
      <p:sp>
        <p:nvSpPr>
          <p:cNvPr id="5" name="Text 3"/>
          <p:cNvSpPr/>
          <p:nvPr/>
        </p:nvSpPr>
        <p:spPr>
          <a:xfrm>
            <a:off x="731520" y="658368"/>
            <a:ext cx="10728655" cy="502920"/>
          </a:xfrm>
          <a:prstGeom prst="rect">
            <a:avLst/>
          </a:prstGeom>
          <a:noFill/>
          <a:ln/>
        </p:spPr>
        <p:txBody>
          <a:bodyPr wrap="square" rtlCol="0" anchor="ctr"/>
          <a:lstStyle/>
          <a:p>
            <a:pPr indent="0" marL="0">
              <a:buNone/>
            </a:pPr>
            <a:r>
              <a:rPr lang="en-US" sz="2100" b="1" dirty="0">
                <a:solidFill>
                  <a:srgbClr val="0A0F1D"/>
                </a:solidFill>
                <a:latin typeface="Segoe UI" pitchFamily="34" charset="0"/>
                <a:ea typeface="Segoe UI" pitchFamily="34" charset="-122"/>
                <a:cs typeface="Segoe UI" pitchFamily="34" charset="-120"/>
              </a:rPr>
              <a:t>Platform Overview: Microsoft Azure &amp; Amazon AWS</a:t>
            </a:r>
            <a:endParaRPr lang="en-US" sz="2100" dirty="0"/>
          </a:p>
        </p:txBody>
      </p:sp>
      <p:sp>
        <p:nvSpPr>
          <p:cNvPr id="6" name="Shape 4"/>
          <p:cNvSpPr/>
          <p:nvPr/>
        </p:nvSpPr>
        <p:spPr>
          <a:xfrm>
            <a:off x="731520" y="1325880"/>
            <a:ext cx="5242255" cy="4846320"/>
          </a:xfrm>
          <a:prstGeom prst="roundRect">
            <a:avLst>
              <a:gd name="adj" fmla="val 2264"/>
            </a:avLst>
          </a:prstGeom>
          <a:solidFill>
            <a:srgbClr val="FFFFFF"/>
          </a:solidFill>
          <a:ln w="15240">
            <a:solidFill>
              <a:srgbClr val="E2E8F0"/>
            </a:solidFill>
            <a:prstDash val="solid"/>
          </a:ln>
        </p:spPr>
      </p:sp>
      <p:sp>
        <p:nvSpPr>
          <p:cNvPr id="7" name="Shape 5"/>
          <p:cNvSpPr/>
          <p:nvPr/>
        </p:nvSpPr>
        <p:spPr>
          <a:xfrm>
            <a:off x="731520" y="1325880"/>
            <a:ext cx="5242255" cy="822960"/>
          </a:xfrm>
          <a:prstGeom prst="roundRect">
            <a:avLst>
              <a:gd name="adj" fmla="val 13333"/>
            </a:avLst>
          </a:prstGeom>
          <a:solidFill>
            <a:srgbClr val="0284C7"/>
          </a:solidFill>
          <a:ln w="12700">
            <a:solidFill>
              <a:srgbClr val="0284C7"/>
            </a:solidFill>
            <a:prstDash val="solid"/>
          </a:ln>
        </p:spPr>
      </p:sp>
      <p:sp>
        <p:nvSpPr>
          <p:cNvPr id="8" name="Text 6"/>
          <p:cNvSpPr/>
          <p:nvPr/>
        </p:nvSpPr>
        <p:spPr>
          <a:xfrm>
            <a:off x="1005840" y="1417320"/>
            <a:ext cx="4693615" cy="320040"/>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3. MICROSOFT AZURE</a:t>
            </a:r>
            <a:endParaRPr lang="en-US" sz="1400" dirty="0"/>
          </a:p>
        </p:txBody>
      </p:sp>
      <p:sp>
        <p:nvSpPr>
          <p:cNvPr id="9" name="Text 7"/>
          <p:cNvSpPr/>
          <p:nvPr/>
        </p:nvSpPr>
        <p:spPr>
          <a:xfrm>
            <a:off x="1005840" y="1755648"/>
            <a:ext cx="4693615" cy="274320"/>
          </a:xfrm>
          <a:prstGeom prst="rect">
            <a:avLst/>
          </a:prstGeom>
          <a:noFill/>
          <a:ln/>
        </p:spPr>
        <p:txBody>
          <a:bodyPr wrap="square" rtlCol="0" anchor="ctr"/>
          <a:lstStyle/>
          <a:p>
            <a:pPr indent="0" marL="0">
              <a:buNone/>
            </a:pPr>
            <a:r>
              <a:rPr lang="en-US" sz="1000" dirty="0">
                <a:solidFill>
                  <a:srgbClr val="E2E8F0"/>
                </a:solidFill>
                <a:latin typeface="Segoe UI" pitchFamily="34" charset="0"/>
                <a:ea typeface="Segoe UI" pitchFamily="34" charset="-122"/>
                <a:cs typeface="Segoe UI" pitchFamily="34" charset="-120"/>
              </a:rPr>
              <a:t>The Corporate Suite (Enterprise SQL &amp; Postgres)</a:t>
            </a:r>
            <a:endParaRPr lang="en-US" sz="1000" dirty="0"/>
          </a:p>
        </p:txBody>
      </p:sp>
      <p:sp>
        <p:nvSpPr>
          <p:cNvPr id="10" name="Shape 8"/>
          <p:cNvSpPr/>
          <p:nvPr/>
        </p:nvSpPr>
        <p:spPr>
          <a:xfrm>
            <a:off x="960120" y="2286000"/>
            <a:ext cx="4785055" cy="822960"/>
          </a:xfrm>
          <a:prstGeom prst="roundRect">
            <a:avLst>
              <a:gd name="adj" fmla="val 8889"/>
            </a:avLst>
          </a:prstGeom>
          <a:solidFill>
            <a:srgbClr val="F8FAFC"/>
          </a:solidFill>
          <a:ln w="12700">
            <a:solidFill>
              <a:srgbClr val="E2E8F0"/>
            </a:solidFill>
            <a:prstDash val="solid"/>
          </a:ln>
        </p:spPr>
      </p:sp>
      <p:sp>
        <p:nvSpPr>
          <p:cNvPr id="11" name="Text 9"/>
          <p:cNvSpPr/>
          <p:nvPr/>
        </p:nvSpPr>
        <p:spPr>
          <a:xfrm>
            <a:off x="1097280" y="2359152"/>
            <a:ext cx="4510735" cy="676656"/>
          </a:xfrm>
          <a:prstGeom prst="rect">
            <a:avLst/>
          </a:prstGeom>
          <a:noFill/>
          <a:ln/>
        </p:spPr>
        <p:txBody>
          <a:bodyPr wrap="square" rtlCol="0" anchor="t"/>
          <a:lstStyle/>
          <a:p>
            <a:pPr indent="0" marL="0">
              <a:lnSpc>
                <a:spcPct val="115000"/>
              </a:lnSpc>
              <a:buNone/>
            </a:pPr>
            <a:r>
              <a:rPr lang="en-US" sz="850" b="1" dirty="0">
                <a:solidFill>
                  <a:srgbClr val="0284C7"/>
                </a:solidFill>
                <a:latin typeface="Segoe UI" pitchFamily="34" charset="0"/>
                <a:ea typeface="Segoe UI" pitchFamily="34" charset="-122"/>
                <a:cs typeface="Segoe UI" pitchFamily="34" charset="-120"/>
              </a:rPr>
              <a:t>CORE TECHNOLOGY
</a:t>
            </a:r>
            <a:pPr indent="0" marL="0">
              <a:lnSpc>
                <a:spcPct val="115000"/>
              </a:lnSpc>
              <a:buNone/>
            </a:pPr>
            <a:r>
              <a:rPr lang="en-US" sz="900" dirty="0">
                <a:solidFill>
                  <a:srgbClr val="0F172A"/>
                </a:solidFill>
                <a:latin typeface="Segoe UI" pitchFamily="34" charset="0"/>
                <a:ea typeface="Segoe UI" pitchFamily="34" charset="-122"/>
                <a:cs typeface="Segoe UI" pitchFamily="34" charset="-120"/>
              </a:rPr>
              <a:t>Azure SQL Database (flagship T-SQL engine) &amp; Azure Database for PostgreSQL Flexible Server.</a:t>
            </a:r>
            <a:endParaRPr lang="en-US" sz="850" dirty="0"/>
          </a:p>
        </p:txBody>
      </p:sp>
      <p:sp>
        <p:nvSpPr>
          <p:cNvPr id="12" name="Shape 10"/>
          <p:cNvSpPr/>
          <p:nvPr/>
        </p:nvSpPr>
        <p:spPr>
          <a:xfrm>
            <a:off x="960120" y="3218688"/>
            <a:ext cx="4785055" cy="822960"/>
          </a:xfrm>
          <a:prstGeom prst="roundRect">
            <a:avLst>
              <a:gd name="adj" fmla="val 8889"/>
            </a:avLst>
          </a:prstGeom>
          <a:solidFill>
            <a:srgbClr val="F8FAFC"/>
          </a:solidFill>
          <a:ln w="12700">
            <a:solidFill>
              <a:srgbClr val="E2E8F0"/>
            </a:solidFill>
            <a:prstDash val="solid"/>
          </a:ln>
        </p:spPr>
      </p:sp>
      <p:sp>
        <p:nvSpPr>
          <p:cNvPr id="13" name="Text 11"/>
          <p:cNvSpPr/>
          <p:nvPr/>
        </p:nvSpPr>
        <p:spPr>
          <a:xfrm>
            <a:off x="1097280" y="3291840"/>
            <a:ext cx="4510735" cy="676656"/>
          </a:xfrm>
          <a:prstGeom prst="rect">
            <a:avLst/>
          </a:prstGeom>
          <a:noFill/>
          <a:ln/>
        </p:spPr>
        <p:txBody>
          <a:bodyPr wrap="square" rtlCol="0" anchor="t"/>
          <a:lstStyle/>
          <a:p>
            <a:pPr indent="0" marL="0">
              <a:lnSpc>
                <a:spcPct val="115000"/>
              </a:lnSpc>
              <a:buNone/>
            </a:pPr>
            <a:r>
              <a:rPr lang="en-US" sz="850" b="1" dirty="0">
                <a:solidFill>
                  <a:srgbClr val="0284C7"/>
                </a:solidFill>
                <a:latin typeface="Segoe UI" pitchFamily="34" charset="0"/>
                <a:ea typeface="Segoe UI" pitchFamily="34" charset="-122"/>
                <a:cs typeface="Segoe UI" pitchFamily="34" charset="-120"/>
              </a:rPr>
              <a:t>MICROSOFT ECOSYSTEM
</a:t>
            </a:r>
            <a:pPr indent="0" marL="0">
              <a:lnSpc>
                <a:spcPct val="115000"/>
              </a:lnSpc>
              <a:buNone/>
            </a:pPr>
            <a:r>
              <a:rPr lang="en-US" sz="900" dirty="0">
                <a:solidFill>
                  <a:srgbClr val="0F172A"/>
                </a:solidFill>
                <a:latin typeface="Segoe UI" pitchFamily="34" charset="0"/>
                <a:ea typeface="Segoe UI" pitchFamily="34" charset="-122"/>
                <a:cs typeface="Segoe UI" pitchFamily="34" charset="-120"/>
              </a:rPr>
              <a:t>Seamless native connection to Microsoft 365, Excel spreadsheets, Power BI analytics dashboards, and C# / .NET.</a:t>
            </a:r>
            <a:endParaRPr lang="en-US" sz="850" dirty="0"/>
          </a:p>
        </p:txBody>
      </p:sp>
      <p:sp>
        <p:nvSpPr>
          <p:cNvPr id="14" name="Shape 12"/>
          <p:cNvSpPr/>
          <p:nvPr/>
        </p:nvSpPr>
        <p:spPr>
          <a:xfrm>
            <a:off x="960120" y="4151376"/>
            <a:ext cx="4785055" cy="822960"/>
          </a:xfrm>
          <a:prstGeom prst="roundRect">
            <a:avLst>
              <a:gd name="adj" fmla="val 8889"/>
            </a:avLst>
          </a:prstGeom>
          <a:solidFill>
            <a:srgbClr val="F8FAFC"/>
          </a:solidFill>
          <a:ln w="12700">
            <a:solidFill>
              <a:srgbClr val="E2E8F0"/>
            </a:solidFill>
            <a:prstDash val="solid"/>
          </a:ln>
        </p:spPr>
      </p:sp>
      <p:sp>
        <p:nvSpPr>
          <p:cNvPr id="15" name="Text 13"/>
          <p:cNvSpPr/>
          <p:nvPr/>
        </p:nvSpPr>
        <p:spPr>
          <a:xfrm>
            <a:off x="1097280" y="4224528"/>
            <a:ext cx="4510735" cy="676656"/>
          </a:xfrm>
          <a:prstGeom prst="rect">
            <a:avLst/>
          </a:prstGeom>
          <a:noFill/>
          <a:ln/>
        </p:spPr>
        <p:txBody>
          <a:bodyPr wrap="square" rtlCol="0" anchor="t"/>
          <a:lstStyle/>
          <a:p>
            <a:pPr indent="0" marL="0">
              <a:lnSpc>
                <a:spcPct val="115000"/>
              </a:lnSpc>
              <a:buNone/>
            </a:pPr>
            <a:r>
              <a:rPr lang="en-US" sz="850" b="1" dirty="0">
                <a:solidFill>
                  <a:srgbClr val="0284C7"/>
                </a:solidFill>
                <a:latin typeface="Segoe UI" pitchFamily="34" charset="0"/>
                <a:ea typeface="Segoe UI" pitchFamily="34" charset="-122"/>
                <a:cs typeface="Segoe UI" pitchFamily="34" charset="-120"/>
              </a:rPr>
              <a:t>LOW ENTRY COST
</a:t>
            </a:r>
            <a:pPr indent="0" marL="0">
              <a:lnSpc>
                <a:spcPct val="115000"/>
              </a:lnSpc>
              <a:buNone/>
            </a:pPr>
            <a:r>
              <a:rPr lang="en-US" sz="900" dirty="0">
                <a:solidFill>
                  <a:srgbClr val="0F172A"/>
                </a:solidFill>
                <a:latin typeface="Segoe UI" pitchFamily="34" charset="0"/>
                <a:ea typeface="Segoe UI" pitchFamily="34" charset="-122"/>
                <a:cs typeface="Segoe UI" pitchFamily="34" charset="-120"/>
              </a:rPr>
              <a:t>Azure SQL Basic tier starts at only ~$4.99/month, making it the most affordable managed database for small business apps.</a:t>
            </a:r>
            <a:endParaRPr lang="en-US" sz="850" dirty="0"/>
          </a:p>
        </p:txBody>
      </p:sp>
      <p:sp>
        <p:nvSpPr>
          <p:cNvPr id="16" name="Shape 14"/>
          <p:cNvSpPr/>
          <p:nvPr/>
        </p:nvSpPr>
        <p:spPr>
          <a:xfrm>
            <a:off x="960120" y="5084064"/>
            <a:ext cx="4785055" cy="822960"/>
          </a:xfrm>
          <a:prstGeom prst="roundRect">
            <a:avLst>
              <a:gd name="adj" fmla="val 8889"/>
            </a:avLst>
          </a:prstGeom>
          <a:solidFill>
            <a:srgbClr val="F8FAFC"/>
          </a:solidFill>
          <a:ln w="12700">
            <a:solidFill>
              <a:srgbClr val="E2E8F0"/>
            </a:solidFill>
            <a:prstDash val="solid"/>
          </a:ln>
        </p:spPr>
      </p:sp>
      <p:sp>
        <p:nvSpPr>
          <p:cNvPr id="17" name="Text 15"/>
          <p:cNvSpPr/>
          <p:nvPr/>
        </p:nvSpPr>
        <p:spPr>
          <a:xfrm>
            <a:off x="1097280" y="5157216"/>
            <a:ext cx="4510735" cy="676656"/>
          </a:xfrm>
          <a:prstGeom prst="rect">
            <a:avLst/>
          </a:prstGeom>
          <a:noFill/>
          <a:ln/>
        </p:spPr>
        <p:txBody>
          <a:bodyPr wrap="square" rtlCol="0" anchor="t"/>
          <a:lstStyle/>
          <a:p>
            <a:pPr indent="0" marL="0">
              <a:lnSpc>
                <a:spcPct val="115000"/>
              </a:lnSpc>
              <a:buNone/>
            </a:pPr>
            <a:r>
              <a:rPr lang="en-US" sz="850" b="1" dirty="0">
                <a:solidFill>
                  <a:srgbClr val="0284C7"/>
                </a:solidFill>
                <a:latin typeface="Segoe UI" pitchFamily="34" charset="0"/>
                <a:ea typeface="Segoe UI" pitchFamily="34" charset="-122"/>
                <a:cs typeface="Segoe UI" pitchFamily="34" charset="-120"/>
              </a:rPr>
              <a:t>CORPORATE GOVERNANCE
</a:t>
            </a:r>
            <a:pPr indent="0" marL="0">
              <a:lnSpc>
                <a:spcPct val="115000"/>
              </a:lnSpc>
              <a:buNone/>
            </a:pPr>
            <a:r>
              <a:rPr lang="en-US" sz="900" dirty="0">
                <a:solidFill>
                  <a:srgbClr val="0F172A"/>
                </a:solidFill>
                <a:latin typeface="Segoe UI" pitchFamily="34" charset="0"/>
                <a:ea typeface="Segoe UI" pitchFamily="34" charset="-122"/>
                <a:cs typeface="Segoe UI" pitchFamily="34" charset="-120"/>
              </a:rPr>
              <a:t>Native integration with Microsoft Entra ID (Active Directory) allows single-sign-on access using employee company credentials.</a:t>
            </a:r>
            <a:endParaRPr lang="en-US" sz="850" dirty="0"/>
          </a:p>
        </p:txBody>
      </p:sp>
      <p:sp>
        <p:nvSpPr>
          <p:cNvPr id="18" name="Shape 16"/>
          <p:cNvSpPr/>
          <p:nvPr/>
        </p:nvSpPr>
        <p:spPr>
          <a:xfrm>
            <a:off x="6217920" y="1325880"/>
            <a:ext cx="5242255" cy="4846320"/>
          </a:xfrm>
          <a:prstGeom prst="roundRect">
            <a:avLst>
              <a:gd name="adj" fmla="val 2264"/>
            </a:avLst>
          </a:prstGeom>
          <a:solidFill>
            <a:srgbClr val="FFFFFF"/>
          </a:solidFill>
          <a:ln w="15240">
            <a:solidFill>
              <a:srgbClr val="E2E8F0"/>
            </a:solidFill>
            <a:prstDash val="solid"/>
          </a:ln>
        </p:spPr>
      </p:sp>
      <p:sp>
        <p:nvSpPr>
          <p:cNvPr id="19" name="Shape 17"/>
          <p:cNvSpPr/>
          <p:nvPr/>
        </p:nvSpPr>
        <p:spPr>
          <a:xfrm>
            <a:off x="6217920" y="1325880"/>
            <a:ext cx="5242255" cy="822960"/>
          </a:xfrm>
          <a:prstGeom prst="roundRect">
            <a:avLst>
              <a:gd name="adj" fmla="val 13333"/>
            </a:avLst>
          </a:prstGeom>
          <a:solidFill>
            <a:srgbClr val="D97706"/>
          </a:solidFill>
          <a:ln w="12700">
            <a:solidFill>
              <a:srgbClr val="D97706"/>
            </a:solidFill>
            <a:prstDash val="solid"/>
          </a:ln>
        </p:spPr>
      </p:sp>
      <p:sp>
        <p:nvSpPr>
          <p:cNvPr id="20" name="Text 18"/>
          <p:cNvSpPr/>
          <p:nvPr/>
        </p:nvSpPr>
        <p:spPr>
          <a:xfrm>
            <a:off x="6492240" y="1417320"/>
            <a:ext cx="4693615" cy="320040"/>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4. AMAZON AWS</a:t>
            </a:r>
            <a:endParaRPr lang="en-US" sz="1400" dirty="0"/>
          </a:p>
        </p:txBody>
      </p:sp>
      <p:sp>
        <p:nvSpPr>
          <p:cNvPr id="21" name="Text 19"/>
          <p:cNvSpPr/>
          <p:nvPr/>
        </p:nvSpPr>
        <p:spPr>
          <a:xfrm>
            <a:off x="6492240" y="1755648"/>
            <a:ext cx="4693615" cy="274320"/>
          </a:xfrm>
          <a:prstGeom prst="rect">
            <a:avLst/>
          </a:prstGeom>
          <a:noFill/>
          <a:ln/>
        </p:spPr>
        <p:txBody>
          <a:bodyPr wrap="square" rtlCol="0" anchor="ctr"/>
          <a:lstStyle/>
          <a:p>
            <a:pPr indent="0" marL="0">
              <a:buNone/>
            </a:pPr>
            <a:r>
              <a:rPr lang="en-US" sz="1000" dirty="0">
                <a:solidFill>
                  <a:srgbClr val="E2E8F0"/>
                </a:solidFill>
                <a:latin typeface="Segoe UI" pitchFamily="34" charset="0"/>
                <a:ea typeface="Segoe UI" pitchFamily="34" charset="-122"/>
                <a:cs typeface="Segoe UI" pitchFamily="34" charset="-120"/>
              </a:rPr>
              <a:t>The Industrial Powerhouse (RDS &amp; DynamoDB)</a:t>
            </a:r>
            <a:endParaRPr lang="en-US" sz="1000" dirty="0"/>
          </a:p>
        </p:txBody>
      </p:sp>
      <p:sp>
        <p:nvSpPr>
          <p:cNvPr id="22" name="Shape 20"/>
          <p:cNvSpPr/>
          <p:nvPr/>
        </p:nvSpPr>
        <p:spPr>
          <a:xfrm>
            <a:off x="6446520" y="2286000"/>
            <a:ext cx="4785055" cy="822960"/>
          </a:xfrm>
          <a:prstGeom prst="roundRect">
            <a:avLst>
              <a:gd name="adj" fmla="val 8889"/>
            </a:avLst>
          </a:prstGeom>
          <a:solidFill>
            <a:srgbClr val="F8FAFC"/>
          </a:solidFill>
          <a:ln w="12700">
            <a:solidFill>
              <a:srgbClr val="E2E8F0"/>
            </a:solidFill>
            <a:prstDash val="solid"/>
          </a:ln>
        </p:spPr>
      </p:sp>
      <p:sp>
        <p:nvSpPr>
          <p:cNvPr id="23" name="Text 21"/>
          <p:cNvSpPr/>
          <p:nvPr/>
        </p:nvSpPr>
        <p:spPr>
          <a:xfrm>
            <a:off x="6583680" y="2359152"/>
            <a:ext cx="4510735" cy="676656"/>
          </a:xfrm>
          <a:prstGeom prst="rect">
            <a:avLst/>
          </a:prstGeom>
          <a:noFill/>
          <a:ln/>
        </p:spPr>
        <p:txBody>
          <a:bodyPr wrap="square" rtlCol="0" anchor="t"/>
          <a:lstStyle/>
          <a:p>
            <a:pPr indent="0" marL="0">
              <a:lnSpc>
                <a:spcPct val="115000"/>
              </a:lnSpc>
              <a:buNone/>
            </a:pPr>
            <a:r>
              <a:rPr lang="en-US" sz="850" b="1" dirty="0">
                <a:solidFill>
                  <a:srgbClr val="D97706"/>
                </a:solidFill>
                <a:latin typeface="Segoe UI" pitchFamily="34" charset="0"/>
                <a:ea typeface="Segoe UI" pitchFamily="34" charset="-122"/>
                <a:cs typeface="Segoe UI" pitchFamily="34" charset="-120"/>
              </a:rPr>
              <a:t>CORE TECHNOLOGY
</a:t>
            </a:r>
            <a:pPr indent="0" marL="0">
              <a:lnSpc>
                <a:spcPct val="115000"/>
              </a:lnSpc>
              <a:buNone/>
            </a:pPr>
            <a:r>
              <a:rPr lang="en-US" sz="900" dirty="0">
                <a:solidFill>
                  <a:srgbClr val="0F172A"/>
                </a:solidFill>
                <a:latin typeface="Segoe UI" pitchFamily="34" charset="0"/>
                <a:ea typeface="Segoe UI" pitchFamily="34" charset="-122"/>
                <a:cs typeface="Segoe UI" pitchFamily="34" charset="-120"/>
              </a:rPr>
              <a:t>Amazon RDS (managed PostgreSQL/MySQL) and Amazon DynamoDB (extreme throughput key-value NoSQL).</a:t>
            </a:r>
            <a:endParaRPr lang="en-US" sz="850" dirty="0"/>
          </a:p>
        </p:txBody>
      </p:sp>
      <p:sp>
        <p:nvSpPr>
          <p:cNvPr id="24" name="Shape 22"/>
          <p:cNvSpPr/>
          <p:nvPr/>
        </p:nvSpPr>
        <p:spPr>
          <a:xfrm>
            <a:off x="6446520" y="3218688"/>
            <a:ext cx="4785055" cy="822960"/>
          </a:xfrm>
          <a:prstGeom prst="roundRect">
            <a:avLst>
              <a:gd name="adj" fmla="val 8889"/>
            </a:avLst>
          </a:prstGeom>
          <a:solidFill>
            <a:srgbClr val="F8FAFC"/>
          </a:solidFill>
          <a:ln w="12700">
            <a:solidFill>
              <a:srgbClr val="E2E8F0"/>
            </a:solidFill>
            <a:prstDash val="solid"/>
          </a:ln>
        </p:spPr>
      </p:sp>
      <p:sp>
        <p:nvSpPr>
          <p:cNvPr id="25" name="Text 23"/>
          <p:cNvSpPr/>
          <p:nvPr/>
        </p:nvSpPr>
        <p:spPr>
          <a:xfrm>
            <a:off x="6583680" y="3291840"/>
            <a:ext cx="4510735" cy="676656"/>
          </a:xfrm>
          <a:prstGeom prst="rect">
            <a:avLst/>
          </a:prstGeom>
          <a:noFill/>
          <a:ln/>
        </p:spPr>
        <p:txBody>
          <a:bodyPr wrap="square" rtlCol="0" anchor="t"/>
          <a:lstStyle/>
          <a:p>
            <a:pPr indent="0" marL="0">
              <a:lnSpc>
                <a:spcPct val="115000"/>
              </a:lnSpc>
              <a:buNone/>
            </a:pPr>
            <a:r>
              <a:rPr lang="en-US" sz="850" b="1" dirty="0">
                <a:solidFill>
                  <a:srgbClr val="D97706"/>
                </a:solidFill>
                <a:latin typeface="Segoe UI" pitchFamily="34" charset="0"/>
                <a:ea typeface="Segoe UI" pitchFamily="34" charset="-122"/>
                <a:cs typeface="Segoe UI" pitchFamily="34" charset="-120"/>
              </a:rPr>
              <a:t>UNMATCHED SCALE
</a:t>
            </a:r>
            <a:pPr indent="0" marL="0">
              <a:lnSpc>
                <a:spcPct val="115000"/>
              </a:lnSpc>
              <a:buNone/>
            </a:pPr>
            <a:r>
              <a:rPr lang="en-US" sz="900" dirty="0">
                <a:solidFill>
                  <a:srgbClr val="0F172A"/>
                </a:solidFill>
                <a:latin typeface="Segoe UI" pitchFamily="34" charset="0"/>
                <a:ea typeface="Segoe UI" pitchFamily="34" charset="-122"/>
                <a:cs typeface="Segoe UI" pitchFamily="34" charset="-120"/>
              </a:rPr>
              <a:t>Proven global architecture capable of processing millions of transactions per second with single-digit millisecond response times.</a:t>
            </a:r>
            <a:endParaRPr lang="en-US" sz="850" dirty="0"/>
          </a:p>
        </p:txBody>
      </p:sp>
      <p:sp>
        <p:nvSpPr>
          <p:cNvPr id="26" name="Shape 24"/>
          <p:cNvSpPr/>
          <p:nvPr/>
        </p:nvSpPr>
        <p:spPr>
          <a:xfrm>
            <a:off x="6446520" y="4151376"/>
            <a:ext cx="4785055" cy="822960"/>
          </a:xfrm>
          <a:prstGeom prst="roundRect">
            <a:avLst>
              <a:gd name="adj" fmla="val 8889"/>
            </a:avLst>
          </a:prstGeom>
          <a:solidFill>
            <a:srgbClr val="F8FAFC"/>
          </a:solidFill>
          <a:ln w="12700">
            <a:solidFill>
              <a:srgbClr val="E2E8F0"/>
            </a:solidFill>
            <a:prstDash val="solid"/>
          </a:ln>
        </p:spPr>
      </p:sp>
      <p:sp>
        <p:nvSpPr>
          <p:cNvPr id="27" name="Text 25"/>
          <p:cNvSpPr/>
          <p:nvPr/>
        </p:nvSpPr>
        <p:spPr>
          <a:xfrm>
            <a:off x="6583680" y="4224528"/>
            <a:ext cx="4510735" cy="676656"/>
          </a:xfrm>
          <a:prstGeom prst="rect">
            <a:avLst/>
          </a:prstGeom>
          <a:noFill/>
          <a:ln/>
        </p:spPr>
        <p:txBody>
          <a:bodyPr wrap="square" rtlCol="0" anchor="t"/>
          <a:lstStyle/>
          <a:p>
            <a:pPr indent="0" marL="0">
              <a:lnSpc>
                <a:spcPct val="115000"/>
              </a:lnSpc>
              <a:buNone/>
            </a:pPr>
            <a:r>
              <a:rPr lang="en-US" sz="850" b="1" dirty="0">
                <a:solidFill>
                  <a:srgbClr val="D97706"/>
                </a:solidFill>
                <a:latin typeface="Segoe UI" pitchFamily="34" charset="0"/>
                <a:ea typeface="Segoe UI" pitchFamily="34" charset="-122"/>
                <a:cs typeface="Segoe UI" pitchFamily="34" charset="-120"/>
              </a:rPr>
              <a:t>ALWAYS-FREE DYNAMODB
</a:t>
            </a:r>
            <a:pPr indent="0" marL="0">
              <a:lnSpc>
                <a:spcPct val="115000"/>
              </a:lnSpc>
              <a:buNone/>
            </a:pPr>
            <a:r>
              <a:rPr lang="en-US" sz="900" dirty="0">
                <a:solidFill>
                  <a:srgbClr val="0F172A"/>
                </a:solidFill>
                <a:latin typeface="Segoe UI" pitchFamily="34" charset="0"/>
                <a:ea typeface="Segoe UI" pitchFamily="34" charset="-122"/>
                <a:cs typeface="Segoe UI" pitchFamily="34" charset="-120"/>
              </a:rPr>
              <a:t>DynamoDB provides 25 GB of storage free forever (not just 12 months), handling up to 200 million requests monthly at $0.</a:t>
            </a:r>
            <a:endParaRPr lang="en-US" sz="850" dirty="0"/>
          </a:p>
        </p:txBody>
      </p:sp>
      <p:sp>
        <p:nvSpPr>
          <p:cNvPr id="28" name="Shape 26"/>
          <p:cNvSpPr/>
          <p:nvPr/>
        </p:nvSpPr>
        <p:spPr>
          <a:xfrm>
            <a:off x="6446520" y="5084064"/>
            <a:ext cx="4785055" cy="822960"/>
          </a:xfrm>
          <a:prstGeom prst="roundRect">
            <a:avLst>
              <a:gd name="adj" fmla="val 8889"/>
            </a:avLst>
          </a:prstGeom>
          <a:solidFill>
            <a:srgbClr val="F8FAFC"/>
          </a:solidFill>
          <a:ln w="12700">
            <a:solidFill>
              <a:srgbClr val="E2E8F0"/>
            </a:solidFill>
            <a:prstDash val="solid"/>
          </a:ln>
        </p:spPr>
      </p:sp>
      <p:sp>
        <p:nvSpPr>
          <p:cNvPr id="29" name="Text 27"/>
          <p:cNvSpPr/>
          <p:nvPr/>
        </p:nvSpPr>
        <p:spPr>
          <a:xfrm>
            <a:off x="6583680" y="5157216"/>
            <a:ext cx="4510735" cy="676656"/>
          </a:xfrm>
          <a:prstGeom prst="rect">
            <a:avLst/>
          </a:prstGeom>
          <a:noFill/>
          <a:ln/>
        </p:spPr>
        <p:txBody>
          <a:bodyPr wrap="square" rtlCol="0" anchor="t"/>
          <a:lstStyle/>
          <a:p>
            <a:pPr indent="0" marL="0">
              <a:lnSpc>
                <a:spcPct val="115000"/>
              </a:lnSpc>
              <a:buNone/>
            </a:pPr>
            <a:r>
              <a:rPr lang="en-US" sz="850" b="1" dirty="0">
                <a:solidFill>
                  <a:srgbClr val="D97706"/>
                </a:solidFill>
                <a:latin typeface="Segoe UI" pitchFamily="34" charset="0"/>
                <a:ea typeface="Segoe UI" pitchFamily="34" charset="-122"/>
                <a:cs typeface="Segoe UI" pitchFamily="34" charset="-120"/>
              </a:rPr>
              <a:t>ISOLATED DEFENSE
</a:t>
            </a:r>
            <a:pPr indent="0" marL="0">
              <a:lnSpc>
                <a:spcPct val="115000"/>
              </a:lnSpc>
              <a:buNone/>
            </a:pPr>
            <a:r>
              <a:rPr lang="en-US" sz="900" dirty="0">
                <a:solidFill>
                  <a:srgbClr val="0F172A"/>
                </a:solidFill>
                <a:latin typeface="Segoe UI" pitchFamily="34" charset="0"/>
                <a:ea typeface="Segoe UI" pitchFamily="34" charset="-122"/>
                <a:cs typeface="Segoe UI" pitchFamily="34" charset="-120"/>
              </a:rPr>
              <a:t>Bank-grade Virtual Private Cloud (VPC) subnets isolate databases completely from the public internet.</a:t>
            </a:r>
            <a:endParaRPr lang="en-US" sz="850" dirty="0"/>
          </a:p>
        </p:txBody>
      </p:sp>
      <p:sp>
        <p:nvSpPr>
          <p:cNvPr id="30" name="Shape 28"/>
          <p:cNvSpPr/>
          <p:nvPr/>
        </p:nvSpPr>
        <p:spPr>
          <a:xfrm>
            <a:off x="731520" y="6355080"/>
            <a:ext cx="10728655" cy="18288"/>
          </a:xfrm>
          <a:prstGeom prst="rect">
            <a:avLst/>
          </a:prstGeom>
          <a:solidFill>
            <a:srgbClr val="E2E8F0"/>
          </a:solidFill>
          <a:ln/>
        </p:spPr>
      </p:sp>
      <p:sp>
        <p:nvSpPr>
          <p:cNvPr id="31" name="Text 29"/>
          <p:cNvSpPr/>
          <p:nvPr/>
        </p:nvSpPr>
        <p:spPr>
          <a:xfrm>
            <a:off x="731520" y="6419088"/>
            <a:ext cx="7772400" cy="27432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CONFIDENTIAL &amp; PROPRIETARY | Enterprise Cloud Database Evaluation &amp; Advisory</a:t>
            </a:r>
            <a:endParaRPr lang="en-US" sz="850" dirty="0"/>
          </a:p>
        </p:txBody>
      </p:sp>
      <p:sp>
        <p:nvSpPr>
          <p:cNvPr id="32" name="Text 30"/>
          <p:cNvSpPr/>
          <p:nvPr/>
        </p:nvSpPr>
        <p:spPr>
          <a:xfrm>
            <a:off x="9631375" y="6419088"/>
            <a:ext cx="1828800" cy="274320"/>
          </a:xfrm>
          <a:prstGeom prst="rect">
            <a:avLst/>
          </a:prstGeom>
          <a:noFill/>
          <a:ln/>
        </p:spPr>
        <p:txBody>
          <a:bodyPr wrap="square" rtlCol="0" anchor="ctr"/>
          <a:lstStyle/>
          <a:p>
            <a:pPr algn="r" indent="0" marL="0">
              <a:buNone/>
            </a:pPr>
            <a:r>
              <a:rPr lang="en-US" sz="850" dirty="0">
                <a:solidFill>
                  <a:srgbClr val="94A3B8"/>
                </a:solidFill>
                <a:latin typeface="Segoe UI" pitchFamily="34" charset="0"/>
                <a:ea typeface="Segoe UI" pitchFamily="34" charset="-122"/>
                <a:cs typeface="Segoe UI" pitchFamily="34" charset="-120"/>
              </a:rPr>
              <a:t>Slide 3 of 17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p:spPr>
      </p:sp>
      <p:sp>
        <p:nvSpPr>
          <p:cNvPr id="3" name="Shape 1"/>
          <p:cNvSpPr/>
          <p:nvPr/>
        </p:nvSpPr>
        <p:spPr>
          <a:xfrm>
            <a:off x="731520" y="320040"/>
            <a:ext cx="2286000" cy="274320"/>
          </a:xfrm>
          <a:prstGeom prst="roundRect">
            <a:avLst>
              <a:gd name="adj" fmla="val 26667"/>
            </a:avLst>
          </a:prstGeom>
          <a:solidFill>
            <a:srgbClr val="EFF6FF"/>
          </a:solidFill>
          <a:ln w="12700">
            <a:solidFill>
              <a:srgbClr val="BFDBFE"/>
            </a:solidFill>
            <a:prstDash val="solid"/>
          </a:ln>
        </p:spPr>
      </p:sp>
      <p:sp>
        <p:nvSpPr>
          <p:cNvPr id="4" name="Text 2"/>
          <p:cNvSpPr/>
          <p:nvPr/>
        </p:nvSpPr>
        <p:spPr>
          <a:xfrm>
            <a:off x="731520" y="320040"/>
            <a:ext cx="2286000" cy="274320"/>
          </a:xfrm>
          <a:prstGeom prst="rect">
            <a:avLst/>
          </a:prstGeom>
          <a:noFill/>
          <a:ln/>
        </p:spPr>
        <p:txBody>
          <a:bodyPr wrap="square" rtlCol="0" anchor="ctr"/>
          <a:lstStyle/>
          <a:p>
            <a:pPr algn="ctr" indent="0" marL="0">
              <a:buNone/>
            </a:pPr>
            <a:r>
              <a:rPr lang="en-US" sz="900" b="1" dirty="0">
                <a:solidFill>
                  <a:srgbClr val="1D4ED8"/>
                </a:solidFill>
                <a:latin typeface="Segoe UI" pitchFamily="34" charset="0"/>
                <a:ea typeface="Segoe UI" pitchFamily="34" charset="-122"/>
                <a:cs typeface="Segoe UI" pitchFamily="34" charset="-120"/>
              </a:rPr>
              <a:t>ARCHITECTURE FLOW (1/2)</a:t>
            </a:r>
            <a:endParaRPr lang="en-US" sz="900" dirty="0"/>
          </a:p>
        </p:txBody>
      </p:sp>
      <p:sp>
        <p:nvSpPr>
          <p:cNvPr id="5" name="Text 3"/>
          <p:cNvSpPr/>
          <p:nvPr/>
        </p:nvSpPr>
        <p:spPr>
          <a:xfrm>
            <a:off x="731520" y="658368"/>
            <a:ext cx="10728655" cy="502920"/>
          </a:xfrm>
          <a:prstGeom prst="rect">
            <a:avLst/>
          </a:prstGeom>
          <a:noFill/>
          <a:ln/>
        </p:spPr>
        <p:txBody>
          <a:bodyPr wrap="square" rtlCol="0" anchor="ctr"/>
          <a:lstStyle/>
          <a:p>
            <a:pPr indent="0" marL="0">
              <a:buNone/>
            </a:pPr>
            <a:r>
              <a:rPr lang="en-US" sz="2100" b="1" dirty="0">
                <a:solidFill>
                  <a:srgbClr val="0A0F1D"/>
                </a:solidFill>
                <a:latin typeface="Segoe UI" pitchFamily="34" charset="0"/>
                <a:ea typeface="Segoe UI" pitchFamily="34" charset="-122"/>
                <a:cs typeface="Segoe UI" pitchFamily="34" charset="-120"/>
              </a:rPr>
              <a:t>Visual Architecture: Supabase &amp; MongoDB Atlas</a:t>
            </a:r>
            <a:endParaRPr lang="en-US" sz="2100" dirty="0"/>
          </a:p>
        </p:txBody>
      </p:sp>
      <p:sp>
        <p:nvSpPr>
          <p:cNvPr id="6" name="Shape 4"/>
          <p:cNvSpPr/>
          <p:nvPr/>
        </p:nvSpPr>
        <p:spPr>
          <a:xfrm>
            <a:off x="731520" y="1325880"/>
            <a:ext cx="10728655" cy="2331720"/>
          </a:xfrm>
          <a:prstGeom prst="roundRect">
            <a:avLst>
              <a:gd name="adj" fmla="val 4706"/>
            </a:avLst>
          </a:prstGeom>
          <a:solidFill>
            <a:srgbClr val="FFFFFF"/>
          </a:solidFill>
          <a:ln w="15240">
            <a:solidFill>
              <a:srgbClr val="E2E8F0"/>
            </a:solidFill>
            <a:prstDash val="solid"/>
          </a:ln>
        </p:spPr>
      </p:sp>
      <p:sp>
        <p:nvSpPr>
          <p:cNvPr id="7" name="Shape 5"/>
          <p:cNvSpPr/>
          <p:nvPr/>
        </p:nvSpPr>
        <p:spPr>
          <a:xfrm>
            <a:off x="731520" y="1325880"/>
            <a:ext cx="10728655" cy="384048"/>
          </a:xfrm>
          <a:prstGeom prst="roundRect">
            <a:avLst>
              <a:gd name="adj" fmla="val 28571"/>
            </a:avLst>
          </a:prstGeom>
          <a:solidFill>
            <a:srgbClr val="059669"/>
          </a:solidFill>
          <a:ln w="12700">
            <a:solidFill>
              <a:srgbClr val="059669"/>
            </a:solidFill>
            <a:prstDash val="solid"/>
          </a:ln>
        </p:spPr>
      </p:sp>
      <p:sp>
        <p:nvSpPr>
          <p:cNvPr id="8" name="Text 6"/>
          <p:cNvSpPr/>
          <p:nvPr/>
        </p:nvSpPr>
        <p:spPr>
          <a:xfrm>
            <a:off x="1005840" y="1380744"/>
            <a:ext cx="10058400" cy="274320"/>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1. SUPABASE ARCHITECTURE (Direct &amp; All-in-One BaaS)</a:t>
            </a:r>
            <a:endParaRPr lang="en-US" sz="1100" dirty="0"/>
          </a:p>
        </p:txBody>
      </p:sp>
      <p:sp>
        <p:nvSpPr>
          <p:cNvPr id="9" name="Shape 7"/>
          <p:cNvSpPr/>
          <p:nvPr/>
        </p:nvSpPr>
        <p:spPr>
          <a:xfrm>
            <a:off x="1005840" y="1828800"/>
            <a:ext cx="2377440" cy="640080"/>
          </a:xfrm>
          <a:prstGeom prst="roundRect">
            <a:avLst>
              <a:gd name="adj" fmla="val 11429"/>
            </a:avLst>
          </a:prstGeom>
          <a:solidFill>
            <a:srgbClr val="EFF6FF"/>
          </a:solidFill>
          <a:ln w="12700">
            <a:solidFill>
              <a:srgbClr val="BFDBFE"/>
            </a:solidFill>
            <a:prstDash val="solid"/>
          </a:ln>
        </p:spPr>
      </p:sp>
      <p:sp>
        <p:nvSpPr>
          <p:cNvPr id="10" name="Text 8"/>
          <p:cNvSpPr/>
          <p:nvPr/>
        </p:nvSpPr>
        <p:spPr>
          <a:xfrm>
            <a:off x="1005840" y="1874520"/>
            <a:ext cx="2377440" cy="548640"/>
          </a:xfrm>
          <a:prstGeom prst="rect">
            <a:avLst/>
          </a:prstGeom>
          <a:noFill/>
          <a:ln/>
        </p:spPr>
        <p:txBody>
          <a:bodyPr wrap="square" rtlCol="0" anchor="ctr"/>
          <a:lstStyle/>
          <a:p>
            <a:pPr algn="ctr" indent="0" marL="0">
              <a:buNone/>
            </a:pPr>
            <a:r>
              <a:rPr lang="en-US" sz="1000" b="1" dirty="0">
                <a:solidFill>
                  <a:srgbClr val="1E40AF"/>
                </a:solidFill>
                <a:latin typeface="Segoe UI" pitchFamily="34" charset="0"/>
                <a:ea typeface="Segoe UI" pitchFamily="34" charset="-122"/>
                <a:cs typeface="Segoe UI" pitchFamily="34" charset="-120"/>
              </a:rPr>
              <a:t>Client App
</a:t>
            </a:r>
            <a:pPr algn="ctr" indent="0" marL="0">
              <a:buNone/>
            </a:pPr>
            <a:r>
              <a:rPr lang="en-US" sz="850" dirty="0">
                <a:solidFill>
                  <a:srgbClr val="3B82F6"/>
                </a:solidFill>
                <a:latin typeface="Segoe UI" pitchFamily="34" charset="0"/>
                <a:ea typeface="Segoe UI" pitchFamily="34" charset="-122"/>
                <a:cs typeface="Segoe UI" pitchFamily="34" charset="-120"/>
              </a:rPr>
              <a:t>Web / Mobile Interface</a:t>
            </a:r>
            <a:endParaRPr lang="en-US" sz="1000" dirty="0"/>
          </a:p>
        </p:txBody>
      </p:sp>
      <p:sp>
        <p:nvSpPr>
          <p:cNvPr id="11" name="Text 9"/>
          <p:cNvSpPr/>
          <p:nvPr/>
        </p:nvSpPr>
        <p:spPr>
          <a:xfrm>
            <a:off x="3520440" y="1828800"/>
            <a:ext cx="457200" cy="640080"/>
          </a:xfrm>
          <a:prstGeom prst="rect">
            <a:avLst/>
          </a:prstGeom>
          <a:noFill/>
          <a:ln/>
        </p:spPr>
        <p:txBody>
          <a:bodyPr wrap="square" rtlCol="0" anchor="ctr"/>
          <a:lstStyle/>
          <a:p>
            <a:pPr algn="ctr" indent="0" marL="0">
              <a:buNone/>
            </a:pPr>
            <a:r>
              <a:rPr lang="en-US" sz="2000" b="1" dirty="0">
                <a:solidFill>
                  <a:srgbClr val="94A3B8"/>
                </a:solidFill>
              </a:rPr>
              <a:t>➔</a:t>
            </a:r>
            <a:endParaRPr lang="en-US" sz="2000" dirty="0"/>
          </a:p>
        </p:txBody>
      </p:sp>
      <p:sp>
        <p:nvSpPr>
          <p:cNvPr id="12" name="Shape 10"/>
          <p:cNvSpPr/>
          <p:nvPr/>
        </p:nvSpPr>
        <p:spPr>
          <a:xfrm>
            <a:off x="4114800" y="1828800"/>
            <a:ext cx="3474720" cy="640080"/>
          </a:xfrm>
          <a:prstGeom prst="roundRect">
            <a:avLst>
              <a:gd name="adj" fmla="val 11429"/>
            </a:avLst>
          </a:prstGeom>
          <a:solidFill>
            <a:srgbClr val="F8FAFC"/>
          </a:solidFill>
          <a:ln w="12700">
            <a:solidFill>
              <a:srgbClr val="E2E8F0"/>
            </a:solidFill>
            <a:prstDash val="solid"/>
          </a:ln>
        </p:spPr>
      </p:sp>
      <p:sp>
        <p:nvSpPr>
          <p:cNvPr id="13" name="Text 11"/>
          <p:cNvSpPr/>
          <p:nvPr/>
        </p:nvSpPr>
        <p:spPr>
          <a:xfrm>
            <a:off x="4114800" y="1874520"/>
            <a:ext cx="3474720" cy="548640"/>
          </a:xfrm>
          <a:prstGeom prst="rect">
            <a:avLst/>
          </a:prstGeom>
          <a:noFill/>
          <a:ln/>
        </p:spPr>
        <p:txBody>
          <a:bodyPr wrap="square" rtlCol="0" anchor="ctr"/>
          <a:lstStyle/>
          <a:p>
            <a:pPr algn="ctr" indent="0" marL="0">
              <a:buNone/>
            </a:pPr>
            <a:r>
              <a:rPr lang="en-US" sz="1000" b="1" dirty="0">
                <a:solidFill>
                  <a:srgbClr val="0F172A"/>
                </a:solidFill>
                <a:latin typeface="Segoe UI" pitchFamily="34" charset="0"/>
                <a:ea typeface="Segoe UI" pitchFamily="34" charset="-122"/>
                <a:cs typeface="Segoe UI" pitchFamily="34" charset="-120"/>
              </a:rPr>
              <a:t>API &amp; Auth Gateway
</a:t>
            </a:r>
            <a:pPr algn="ctr" indent="0" marL="0">
              <a:buNone/>
            </a:pPr>
            <a:r>
              <a:rPr lang="en-US" sz="850" dirty="0">
                <a:solidFill>
                  <a:srgbClr val="475569"/>
                </a:solidFill>
                <a:latin typeface="Segoe UI" pitchFamily="34" charset="0"/>
                <a:ea typeface="Segoe UI" pitchFamily="34" charset="-122"/>
                <a:cs typeface="Segoe UI" pitchFamily="34" charset="-120"/>
              </a:rPr>
              <a:t>Kong + GoTrue + Storage</a:t>
            </a:r>
            <a:endParaRPr lang="en-US" sz="1000" dirty="0"/>
          </a:p>
        </p:txBody>
      </p:sp>
      <p:sp>
        <p:nvSpPr>
          <p:cNvPr id="14" name="Text 12"/>
          <p:cNvSpPr/>
          <p:nvPr/>
        </p:nvSpPr>
        <p:spPr>
          <a:xfrm>
            <a:off x="7726680" y="1828800"/>
            <a:ext cx="457200" cy="640080"/>
          </a:xfrm>
          <a:prstGeom prst="rect">
            <a:avLst/>
          </a:prstGeom>
          <a:noFill/>
          <a:ln/>
        </p:spPr>
        <p:txBody>
          <a:bodyPr wrap="square" rtlCol="0" anchor="ctr"/>
          <a:lstStyle/>
          <a:p>
            <a:pPr algn="ctr" indent="0" marL="0">
              <a:buNone/>
            </a:pPr>
            <a:r>
              <a:rPr lang="en-US" sz="2000" b="1" dirty="0">
                <a:solidFill>
                  <a:srgbClr val="94A3B8"/>
                </a:solidFill>
              </a:rPr>
              <a:t>➔</a:t>
            </a:r>
            <a:endParaRPr lang="en-US" sz="2000" dirty="0"/>
          </a:p>
        </p:txBody>
      </p:sp>
      <p:sp>
        <p:nvSpPr>
          <p:cNvPr id="15" name="Shape 13"/>
          <p:cNvSpPr/>
          <p:nvPr/>
        </p:nvSpPr>
        <p:spPr>
          <a:xfrm>
            <a:off x="8321040" y="1828800"/>
            <a:ext cx="2834640" cy="640080"/>
          </a:xfrm>
          <a:prstGeom prst="roundRect">
            <a:avLst>
              <a:gd name="adj" fmla="val 11429"/>
            </a:avLst>
          </a:prstGeom>
          <a:solidFill>
            <a:srgbClr val="FEF3C7"/>
          </a:solidFill>
          <a:ln w="12700">
            <a:solidFill>
              <a:srgbClr val="FCD34D"/>
            </a:solidFill>
            <a:prstDash val="solid"/>
          </a:ln>
        </p:spPr>
      </p:sp>
      <p:sp>
        <p:nvSpPr>
          <p:cNvPr id="16" name="Text 14"/>
          <p:cNvSpPr/>
          <p:nvPr/>
        </p:nvSpPr>
        <p:spPr>
          <a:xfrm>
            <a:off x="8321040" y="1874520"/>
            <a:ext cx="2834640" cy="548640"/>
          </a:xfrm>
          <a:prstGeom prst="rect">
            <a:avLst/>
          </a:prstGeom>
          <a:noFill/>
          <a:ln/>
        </p:spPr>
        <p:txBody>
          <a:bodyPr wrap="square" rtlCol="0" anchor="ctr"/>
          <a:lstStyle/>
          <a:p>
            <a:pPr algn="ctr" indent="0" marL="0">
              <a:buNone/>
            </a:pPr>
            <a:r>
              <a:rPr lang="en-US" sz="1000" b="1" dirty="0">
                <a:solidFill>
                  <a:srgbClr val="92400E"/>
                </a:solidFill>
                <a:latin typeface="Segoe UI" pitchFamily="34" charset="0"/>
                <a:ea typeface="Segoe UI" pitchFamily="34" charset="-122"/>
                <a:cs typeface="Segoe UI" pitchFamily="34" charset="-120"/>
              </a:rPr>
              <a:t>PostgreSQL Engine
</a:t>
            </a:r>
            <a:pPr algn="ctr" indent="0" marL="0">
              <a:buNone/>
            </a:pPr>
            <a:r>
              <a:rPr lang="en-US" sz="850" dirty="0">
                <a:solidFill>
                  <a:srgbClr val="B45309"/>
                </a:solidFill>
                <a:latin typeface="Segoe UI" pitchFamily="34" charset="0"/>
                <a:ea typeface="Segoe UI" pitchFamily="34" charset="-122"/>
                <a:cs typeface="Segoe UI" pitchFamily="34" charset="-120"/>
              </a:rPr>
              <a:t>Row-Level Security (RLS)</a:t>
            </a:r>
            <a:endParaRPr lang="en-US" sz="1000" dirty="0"/>
          </a:p>
        </p:txBody>
      </p:sp>
      <p:sp>
        <p:nvSpPr>
          <p:cNvPr id="17" name="Shape 15"/>
          <p:cNvSpPr/>
          <p:nvPr/>
        </p:nvSpPr>
        <p:spPr>
          <a:xfrm>
            <a:off x="1005840" y="2606040"/>
            <a:ext cx="10149840" cy="868680"/>
          </a:xfrm>
          <a:prstGeom prst="roundRect">
            <a:avLst>
              <a:gd name="adj" fmla="val 8421"/>
            </a:avLst>
          </a:prstGeom>
          <a:solidFill>
            <a:srgbClr val="F8FAFC"/>
          </a:solidFill>
          <a:ln w="12700">
            <a:solidFill>
              <a:srgbClr val="E2E8F0"/>
            </a:solidFill>
            <a:prstDash val="solid"/>
          </a:ln>
        </p:spPr>
      </p:sp>
      <p:sp>
        <p:nvSpPr>
          <p:cNvPr id="18" name="Text 16"/>
          <p:cNvSpPr/>
          <p:nvPr/>
        </p:nvSpPr>
        <p:spPr>
          <a:xfrm>
            <a:off x="1188720" y="2651760"/>
            <a:ext cx="9784080" cy="777240"/>
          </a:xfrm>
          <a:prstGeom prst="rect">
            <a:avLst/>
          </a:prstGeom>
          <a:noFill/>
          <a:ln/>
        </p:spPr>
        <p:txBody>
          <a:bodyPr wrap="square" rtlCol="0" anchor="ctr"/>
          <a:lstStyle/>
          <a:p>
            <a:pPr indent="0" marL="0">
              <a:lnSpc>
                <a:spcPct val="120000"/>
              </a:lnSpc>
              <a:buNone/>
            </a:pPr>
            <a:r>
              <a:rPr lang="en-US" sz="950" dirty="0">
                <a:solidFill>
                  <a:srgbClr val="0F172A"/>
                </a:solidFill>
                <a:latin typeface="Segoe UI" pitchFamily="34" charset="0"/>
                <a:ea typeface="Segoe UI" pitchFamily="34" charset="-122"/>
                <a:cs typeface="Segoe UI" pitchFamily="34" charset="-120"/>
              </a:rPr>
              <a:t>HOW IT WORKS: The client app talks directly to Supabase via secure HTTPS/WebSockets. The built-in Kong Gateway validates user identity, applies Row-Level Security, and returns data in milliseconds without needing a separate backend server.</a:t>
            </a:r>
            <a:endParaRPr lang="en-US" sz="950" dirty="0"/>
          </a:p>
        </p:txBody>
      </p:sp>
      <p:sp>
        <p:nvSpPr>
          <p:cNvPr id="19" name="Shape 17"/>
          <p:cNvSpPr/>
          <p:nvPr/>
        </p:nvSpPr>
        <p:spPr>
          <a:xfrm>
            <a:off x="731520" y="3794760"/>
            <a:ext cx="10728655" cy="2331720"/>
          </a:xfrm>
          <a:prstGeom prst="roundRect">
            <a:avLst>
              <a:gd name="adj" fmla="val 4706"/>
            </a:avLst>
          </a:prstGeom>
          <a:solidFill>
            <a:srgbClr val="FFFFFF"/>
          </a:solidFill>
          <a:ln w="15240">
            <a:solidFill>
              <a:srgbClr val="E2E8F0"/>
            </a:solidFill>
            <a:prstDash val="solid"/>
          </a:ln>
        </p:spPr>
      </p:sp>
      <p:sp>
        <p:nvSpPr>
          <p:cNvPr id="20" name="Shape 18"/>
          <p:cNvSpPr/>
          <p:nvPr/>
        </p:nvSpPr>
        <p:spPr>
          <a:xfrm>
            <a:off x="731520" y="3794760"/>
            <a:ext cx="10728655" cy="384048"/>
          </a:xfrm>
          <a:prstGeom prst="roundRect">
            <a:avLst>
              <a:gd name="adj" fmla="val 28571"/>
            </a:avLst>
          </a:prstGeom>
          <a:solidFill>
            <a:srgbClr val="16A34A"/>
          </a:solidFill>
          <a:ln w="12700">
            <a:solidFill>
              <a:srgbClr val="16A34A"/>
            </a:solidFill>
            <a:prstDash val="solid"/>
          </a:ln>
        </p:spPr>
      </p:sp>
      <p:sp>
        <p:nvSpPr>
          <p:cNvPr id="21" name="Text 19"/>
          <p:cNvSpPr/>
          <p:nvPr/>
        </p:nvSpPr>
        <p:spPr>
          <a:xfrm>
            <a:off x="1005840" y="3849624"/>
            <a:ext cx="10058400" cy="274320"/>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2. MONGODB ATLAS ARCHITECTURE (Multi-Cloud Auto-Replication)</a:t>
            </a:r>
            <a:endParaRPr lang="en-US" sz="1100" dirty="0"/>
          </a:p>
        </p:txBody>
      </p:sp>
      <p:sp>
        <p:nvSpPr>
          <p:cNvPr id="22" name="Shape 20"/>
          <p:cNvSpPr/>
          <p:nvPr/>
        </p:nvSpPr>
        <p:spPr>
          <a:xfrm>
            <a:off x="1005840" y="4297680"/>
            <a:ext cx="2377440" cy="640080"/>
          </a:xfrm>
          <a:prstGeom prst="roundRect">
            <a:avLst>
              <a:gd name="adj" fmla="val 11429"/>
            </a:avLst>
          </a:prstGeom>
          <a:solidFill>
            <a:srgbClr val="EFF6FF"/>
          </a:solidFill>
          <a:ln w="12700">
            <a:solidFill>
              <a:srgbClr val="BFDBFE"/>
            </a:solidFill>
            <a:prstDash val="solid"/>
          </a:ln>
        </p:spPr>
      </p:sp>
      <p:sp>
        <p:nvSpPr>
          <p:cNvPr id="23" name="Text 21"/>
          <p:cNvSpPr/>
          <p:nvPr/>
        </p:nvSpPr>
        <p:spPr>
          <a:xfrm>
            <a:off x="1005840" y="4343400"/>
            <a:ext cx="2377440" cy="548640"/>
          </a:xfrm>
          <a:prstGeom prst="rect">
            <a:avLst/>
          </a:prstGeom>
          <a:noFill/>
          <a:ln/>
        </p:spPr>
        <p:txBody>
          <a:bodyPr wrap="square" rtlCol="0" anchor="ctr"/>
          <a:lstStyle/>
          <a:p>
            <a:pPr algn="ctr" indent="0" marL="0">
              <a:buNone/>
            </a:pPr>
            <a:r>
              <a:rPr lang="en-US" sz="1000" b="1" dirty="0">
                <a:solidFill>
                  <a:srgbClr val="1E40AF"/>
                </a:solidFill>
                <a:latin typeface="Segoe UI" pitchFamily="34" charset="0"/>
                <a:ea typeface="Segoe UI" pitchFamily="34" charset="-122"/>
                <a:cs typeface="Segoe UI" pitchFamily="34" charset="-120"/>
              </a:rPr>
              <a:t>Client App
</a:t>
            </a:r>
            <a:pPr algn="ctr" indent="0" marL="0">
              <a:buNone/>
            </a:pPr>
            <a:r>
              <a:rPr lang="en-US" sz="850" dirty="0">
                <a:solidFill>
                  <a:srgbClr val="3B82F6"/>
                </a:solidFill>
                <a:latin typeface="Segoe UI" pitchFamily="34" charset="0"/>
                <a:ea typeface="Segoe UI" pitchFamily="34" charset="-122"/>
                <a:cs typeface="Segoe UI" pitchFamily="34" charset="-120"/>
              </a:rPr>
              <a:t>Web / Mobile Interface</a:t>
            </a:r>
            <a:endParaRPr lang="en-US" sz="1000" dirty="0"/>
          </a:p>
        </p:txBody>
      </p:sp>
      <p:sp>
        <p:nvSpPr>
          <p:cNvPr id="24" name="Text 22"/>
          <p:cNvSpPr/>
          <p:nvPr/>
        </p:nvSpPr>
        <p:spPr>
          <a:xfrm>
            <a:off x="3520440" y="4297680"/>
            <a:ext cx="457200" cy="640080"/>
          </a:xfrm>
          <a:prstGeom prst="rect">
            <a:avLst/>
          </a:prstGeom>
          <a:noFill/>
          <a:ln/>
        </p:spPr>
        <p:txBody>
          <a:bodyPr wrap="square" rtlCol="0" anchor="ctr"/>
          <a:lstStyle/>
          <a:p>
            <a:pPr algn="ctr" indent="0" marL="0">
              <a:buNone/>
            </a:pPr>
            <a:r>
              <a:rPr lang="en-US" sz="2000" b="1" dirty="0">
                <a:solidFill>
                  <a:srgbClr val="94A3B8"/>
                </a:solidFill>
              </a:rPr>
              <a:t>➔</a:t>
            </a:r>
            <a:endParaRPr lang="en-US" sz="2000" dirty="0"/>
          </a:p>
        </p:txBody>
      </p:sp>
      <p:sp>
        <p:nvSpPr>
          <p:cNvPr id="25" name="Shape 23"/>
          <p:cNvSpPr/>
          <p:nvPr/>
        </p:nvSpPr>
        <p:spPr>
          <a:xfrm>
            <a:off x="4114800" y="4297680"/>
            <a:ext cx="3474720" cy="640080"/>
          </a:xfrm>
          <a:prstGeom prst="roundRect">
            <a:avLst>
              <a:gd name="adj" fmla="val 11429"/>
            </a:avLst>
          </a:prstGeom>
          <a:solidFill>
            <a:srgbClr val="F8FAFC"/>
          </a:solidFill>
          <a:ln w="12700">
            <a:solidFill>
              <a:srgbClr val="E2E8F0"/>
            </a:solidFill>
            <a:prstDash val="solid"/>
          </a:ln>
        </p:spPr>
      </p:sp>
      <p:sp>
        <p:nvSpPr>
          <p:cNvPr id="26" name="Text 24"/>
          <p:cNvSpPr/>
          <p:nvPr/>
        </p:nvSpPr>
        <p:spPr>
          <a:xfrm>
            <a:off x="4114800" y="4343400"/>
            <a:ext cx="3474720" cy="548640"/>
          </a:xfrm>
          <a:prstGeom prst="rect">
            <a:avLst/>
          </a:prstGeom>
          <a:noFill/>
          <a:ln/>
        </p:spPr>
        <p:txBody>
          <a:bodyPr wrap="square" rtlCol="0" anchor="ctr"/>
          <a:lstStyle/>
          <a:p>
            <a:pPr algn="ctr" indent="0" marL="0">
              <a:buNone/>
            </a:pPr>
            <a:r>
              <a:rPr lang="en-US" sz="1000" b="1" dirty="0">
                <a:solidFill>
                  <a:srgbClr val="0F172A"/>
                </a:solidFill>
                <a:latin typeface="Segoe UI" pitchFamily="34" charset="0"/>
                <a:ea typeface="Segoe UI" pitchFamily="34" charset="-122"/>
                <a:cs typeface="Segoe UI" pitchFamily="34" charset="-120"/>
              </a:rPr>
              <a:t>App Server API
</a:t>
            </a:r>
            <a:pPr algn="ctr" indent="0" marL="0">
              <a:buNone/>
            </a:pPr>
            <a:r>
              <a:rPr lang="en-US" sz="850" dirty="0">
                <a:solidFill>
                  <a:srgbClr val="475569"/>
                </a:solidFill>
                <a:latin typeface="Segoe UI" pitchFamily="34" charset="0"/>
                <a:ea typeface="Segoe UI" pitchFamily="34" charset="-122"/>
                <a:cs typeface="Segoe UI" pitchFamily="34" charset="-120"/>
              </a:rPr>
              <a:t>Node.js / Python / Java</a:t>
            </a:r>
            <a:endParaRPr lang="en-US" sz="1000" dirty="0"/>
          </a:p>
        </p:txBody>
      </p:sp>
      <p:sp>
        <p:nvSpPr>
          <p:cNvPr id="27" name="Text 25"/>
          <p:cNvSpPr/>
          <p:nvPr/>
        </p:nvSpPr>
        <p:spPr>
          <a:xfrm>
            <a:off x="7726680" y="4297680"/>
            <a:ext cx="457200" cy="640080"/>
          </a:xfrm>
          <a:prstGeom prst="rect">
            <a:avLst/>
          </a:prstGeom>
          <a:noFill/>
          <a:ln/>
        </p:spPr>
        <p:txBody>
          <a:bodyPr wrap="square" rtlCol="0" anchor="ctr"/>
          <a:lstStyle/>
          <a:p>
            <a:pPr algn="ctr" indent="0" marL="0">
              <a:buNone/>
            </a:pPr>
            <a:r>
              <a:rPr lang="en-US" sz="2000" b="1" dirty="0">
                <a:solidFill>
                  <a:srgbClr val="94A3B8"/>
                </a:solidFill>
              </a:rPr>
              <a:t>➔</a:t>
            </a:r>
            <a:endParaRPr lang="en-US" sz="2000" dirty="0"/>
          </a:p>
        </p:txBody>
      </p:sp>
      <p:sp>
        <p:nvSpPr>
          <p:cNvPr id="28" name="Shape 26"/>
          <p:cNvSpPr/>
          <p:nvPr/>
        </p:nvSpPr>
        <p:spPr>
          <a:xfrm>
            <a:off x="8321040" y="4297680"/>
            <a:ext cx="2834640" cy="640080"/>
          </a:xfrm>
          <a:prstGeom prst="roundRect">
            <a:avLst>
              <a:gd name="adj" fmla="val 11429"/>
            </a:avLst>
          </a:prstGeom>
          <a:solidFill>
            <a:srgbClr val="FEF3C7"/>
          </a:solidFill>
          <a:ln w="12700">
            <a:solidFill>
              <a:srgbClr val="FCD34D"/>
            </a:solidFill>
            <a:prstDash val="solid"/>
          </a:ln>
        </p:spPr>
      </p:sp>
      <p:sp>
        <p:nvSpPr>
          <p:cNvPr id="29" name="Text 27"/>
          <p:cNvSpPr/>
          <p:nvPr/>
        </p:nvSpPr>
        <p:spPr>
          <a:xfrm>
            <a:off x="8321040" y="4343400"/>
            <a:ext cx="2834640" cy="548640"/>
          </a:xfrm>
          <a:prstGeom prst="rect">
            <a:avLst/>
          </a:prstGeom>
          <a:noFill/>
          <a:ln/>
        </p:spPr>
        <p:txBody>
          <a:bodyPr wrap="square" rtlCol="0" anchor="ctr"/>
          <a:lstStyle/>
          <a:p>
            <a:pPr algn="ctr" indent="0" marL="0">
              <a:buNone/>
            </a:pPr>
            <a:r>
              <a:rPr lang="en-US" sz="1000" b="1" dirty="0">
                <a:solidFill>
                  <a:srgbClr val="92400E"/>
                </a:solidFill>
                <a:latin typeface="Segoe UI" pitchFamily="34" charset="0"/>
                <a:ea typeface="Segoe UI" pitchFamily="34" charset="-122"/>
                <a:cs typeface="Segoe UI" pitchFamily="34" charset="-120"/>
              </a:rPr>
              <a:t>3-Node Replica Set
</a:t>
            </a:r>
            <a:pPr algn="ctr" indent="0" marL="0">
              <a:buNone/>
            </a:pPr>
            <a:r>
              <a:rPr lang="en-US" sz="850" dirty="0">
                <a:solidFill>
                  <a:srgbClr val="B45309"/>
                </a:solidFill>
                <a:latin typeface="Segoe UI" pitchFamily="34" charset="0"/>
                <a:ea typeface="Segoe UI" pitchFamily="34" charset="-122"/>
                <a:cs typeface="Segoe UI" pitchFamily="34" charset="-120"/>
              </a:rPr>
              <a:t>Auto-copies data across 3 nodes</a:t>
            </a:r>
            <a:endParaRPr lang="en-US" sz="1000" dirty="0"/>
          </a:p>
        </p:txBody>
      </p:sp>
      <p:sp>
        <p:nvSpPr>
          <p:cNvPr id="30" name="Shape 28"/>
          <p:cNvSpPr/>
          <p:nvPr/>
        </p:nvSpPr>
        <p:spPr>
          <a:xfrm>
            <a:off x="1005840" y="5074920"/>
            <a:ext cx="10149840" cy="868680"/>
          </a:xfrm>
          <a:prstGeom prst="roundRect">
            <a:avLst>
              <a:gd name="adj" fmla="val 8421"/>
            </a:avLst>
          </a:prstGeom>
          <a:solidFill>
            <a:srgbClr val="F8FAFC"/>
          </a:solidFill>
          <a:ln w="12700">
            <a:solidFill>
              <a:srgbClr val="E2E8F0"/>
            </a:solidFill>
            <a:prstDash val="solid"/>
          </a:ln>
        </p:spPr>
      </p:sp>
      <p:sp>
        <p:nvSpPr>
          <p:cNvPr id="31" name="Text 29"/>
          <p:cNvSpPr/>
          <p:nvPr/>
        </p:nvSpPr>
        <p:spPr>
          <a:xfrm>
            <a:off x="1188720" y="5120640"/>
            <a:ext cx="9784080" cy="777240"/>
          </a:xfrm>
          <a:prstGeom prst="rect">
            <a:avLst/>
          </a:prstGeom>
          <a:noFill/>
          <a:ln/>
        </p:spPr>
        <p:txBody>
          <a:bodyPr wrap="square" rtlCol="0" anchor="ctr"/>
          <a:lstStyle/>
          <a:p>
            <a:pPr indent="0" marL="0">
              <a:lnSpc>
                <a:spcPct val="120000"/>
              </a:lnSpc>
              <a:buNone/>
            </a:pPr>
            <a:r>
              <a:rPr lang="en-US" sz="950" dirty="0">
                <a:solidFill>
                  <a:srgbClr val="0F172A"/>
                </a:solidFill>
                <a:latin typeface="Segoe UI" pitchFamily="34" charset="0"/>
                <a:ea typeface="Segoe UI" pitchFamily="34" charset="-122"/>
                <a:cs typeface="Segoe UI" pitchFamily="34" charset="-120"/>
              </a:rPr>
              <a:t>HOW IT WORKS: Applications connect through standard database drivers. Behind the scenes, MongoDB automatically replicates data across 3 separate server nodes. If a hardware failure occurs, a secondary node is elected primary in under 2 seconds.</a:t>
            </a:r>
            <a:endParaRPr lang="en-US" sz="950" dirty="0"/>
          </a:p>
        </p:txBody>
      </p:sp>
      <p:sp>
        <p:nvSpPr>
          <p:cNvPr id="32" name="Shape 30"/>
          <p:cNvSpPr/>
          <p:nvPr/>
        </p:nvSpPr>
        <p:spPr>
          <a:xfrm>
            <a:off x="731520" y="6355080"/>
            <a:ext cx="10728655" cy="18288"/>
          </a:xfrm>
          <a:prstGeom prst="rect">
            <a:avLst/>
          </a:prstGeom>
          <a:solidFill>
            <a:srgbClr val="E2E8F0"/>
          </a:solidFill>
          <a:ln/>
        </p:spPr>
      </p:sp>
      <p:sp>
        <p:nvSpPr>
          <p:cNvPr id="33" name="Text 31"/>
          <p:cNvSpPr/>
          <p:nvPr/>
        </p:nvSpPr>
        <p:spPr>
          <a:xfrm>
            <a:off x="731520" y="6419088"/>
            <a:ext cx="7772400" cy="27432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CONFIDENTIAL &amp; PROPRIETARY | Enterprise Cloud Database Evaluation &amp; Advisory</a:t>
            </a:r>
            <a:endParaRPr lang="en-US" sz="850" dirty="0"/>
          </a:p>
        </p:txBody>
      </p:sp>
      <p:sp>
        <p:nvSpPr>
          <p:cNvPr id="34" name="Text 32"/>
          <p:cNvSpPr/>
          <p:nvPr/>
        </p:nvSpPr>
        <p:spPr>
          <a:xfrm>
            <a:off x="9631375" y="6419088"/>
            <a:ext cx="1828800" cy="274320"/>
          </a:xfrm>
          <a:prstGeom prst="rect">
            <a:avLst/>
          </a:prstGeom>
          <a:noFill/>
          <a:ln/>
        </p:spPr>
        <p:txBody>
          <a:bodyPr wrap="square" rtlCol="0" anchor="ctr"/>
          <a:lstStyle/>
          <a:p>
            <a:pPr algn="r" indent="0" marL="0">
              <a:buNone/>
            </a:pPr>
            <a:r>
              <a:rPr lang="en-US" sz="850" dirty="0">
                <a:solidFill>
                  <a:srgbClr val="94A3B8"/>
                </a:solidFill>
                <a:latin typeface="Segoe UI" pitchFamily="34" charset="0"/>
                <a:ea typeface="Segoe UI" pitchFamily="34" charset="-122"/>
                <a:cs typeface="Segoe UI" pitchFamily="34" charset="-120"/>
              </a:rPr>
              <a:t>Slide 4 of 17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p:spPr>
      </p:sp>
      <p:sp>
        <p:nvSpPr>
          <p:cNvPr id="3" name="Shape 1"/>
          <p:cNvSpPr/>
          <p:nvPr/>
        </p:nvSpPr>
        <p:spPr>
          <a:xfrm>
            <a:off x="731520" y="320040"/>
            <a:ext cx="2286000" cy="274320"/>
          </a:xfrm>
          <a:prstGeom prst="roundRect">
            <a:avLst>
              <a:gd name="adj" fmla="val 26667"/>
            </a:avLst>
          </a:prstGeom>
          <a:solidFill>
            <a:srgbClr val="EFF6FF"/>
          </a:solidFill>
          <a:ln w="12700">
            <a:solidFill>
              <a:srgbClr val="BFDBFE"/>
            </a:solidFill>
            <a:prstDash val="solid"/>
          </a:ln>
        </p:spPr>
      </p:sp>
      <p:sp>
        <p:nvSpPr>
          <p:cNvPr id="4" name="Text 2"/>
          <p:cNvSpPr/>
          <p:nvPr/>
        </p:nvSpPr>
        <p:spPr>
          <a:xfrm>
            <a:off x="731520" y="320040"/>
            <a:ext cx="2286000" cy="274320"/>
          </a:xfrm>
          <a:prstGeom prst="rect">
            <a:avLst/>
          </a:prstGeom>
          <a:noFill/>
          <a:ln/>
        </p:spPr>
        <p:txBody>
          <a:bodyPr wrap="square" rtlCol="0" anchor="ctr"/>
          <a:lstStyle/>
          <a:p>
            <a:pPr algn="ctr" indent="0" marL="0">
              <a:buNone/>
            </a:pPr>
            <a:r>
              <a:rPr lang="en-US" sz="900" b="1" dirty="0">
                <a:solidFill>
                  <a:srgbClr val="1D4ED8"/>
                </a:solidFill>
                <a:latin typeface="Segoe UI" pitchFamily="34" charset="0"/>
                <a:ea typeface="Segoe UI" pitchFamily="34" charset="-122"/>
                <a:cs typeface="Segoe UI" pitchFamily="34" charset="-120"/>
              </a:rPr>
              <a:t>ARCHITECTURE FLOW (2/2)</a:t>
            </a:r>
            <a:endParaRPr lang="en-US" sz="900" dirty="0"/>
          </a:p>
        </p:txBody>
      </p:sp>
      <p:sp>
        <p:nvSpPr>
          <p:cNvPr id="5" name="Text 3"/>
          <p:cNvSpPr/>
          <p:nvPr/>
        </p:nvSpPr>
        <p:spPr>
          <a:xfrm>
            <a:off x="731520" y="658368"/>
            <a:ext cx="10728655" cy="502920"/>
          </a:xfrm>
          <a:prstGeom prst="rect">
            <a:avLst/>
          </a:prstGeom>
          <a:noFill/>
          <a:ln/>
        </p:spPr>
        <p:txBody>
          <a:bodyPr wrap="square" rtlCol="0" anchor="ctr"/>
          <a:lstStyle/>
          <a:p>
            <a:pPr indent="0" marL="0">
              <a:buNone/>
            </a:pPr>
            <a:r>
              <a:rPr lang="en-US" sz="2100" b="1" dirty="0">
                <a:solidFill>
                  <a:srgbClr val="0A0F1D"/>
                </a:solidFill>
                <a:latin typeface="Segoe UI" pitchFamily="34" charset="0"/>
                <a:ea typeface="Segoe UI" pitchFamily="34" charset="-122"/>
                <a:cs typeface="Segoe UI" pitchFamily="34" charset="-120"/>
              </a:rPr>
              <a:t>Visual Architecture: Microsoft Azure &amp; Amazon AWS</a:t>
            </a:r>
            <a:endParaRPr lang="en-US" sz="2100" dirty="0"/>
          </a:p>
        </p:txBody>
      </p:sp>
      <p:sp>
        <p:nvSpPr>
          <p:cNvPr id="6" name="Shape 4"/>
          <p:cNvSpPr/>
          <p:nvPr/>
        </p:nvSpPr>
        <p:spPr>
          <a:xfrm>
            <a:off x="731520" y="1325880"/>
            <a:ext cx="10728655" cy="2331720"/>
          </a:xfrm>
          <a:prstGeom prst="roundRect">
            <a:avLst>
              <a:gd name="adj" fmla="val 4706"/>
            </a:avLst>
          </a:prstGeom>
          <a:solidFill>
            <a:srgbClr val="FFFFFF"/>
          </a:solidFill>
          <a:ln w="15240">
            <a:solidFill>
              <a:srgbClr val="E2E8F0"/>
            </a:solidFill>
            <a:prstDash val="solid"/>
          </a:ln>
        </p:spPr>
      </p:sp>
      <p:sp>
        <p:nvSpPr>
          <p:cNvPr id="7" name="Shape 5"/>
          <p:cNvSpPr/>
          <p:nvPr/>
        </p:nvSpPr>
        <p:spPr>
          <a:xfrm>
            <a:off x="731520" y="1325880"/>
            <a:ext cx="10728655" cy="384048"/>
          </a:xfrm>
          <a:prstGeom prst="roundRect">
            <a:avLst>
              <a:gd name="adj" fmla="val 28571"/>
            </a:avLst>
          </a:prstGeom>
          <a:solidFill>
            <a:srgbClr val="0284C7"/>
          </a:solidFill>
          <a:ln w="12700">
            <a:solidFill>
              <a:srgbClr val="0284C7"/>
            </a:solidFill>
            <a:prstDash val="solid"/>
          </a:ln>
        </p:spPr>
      </p:sp>
      <p:sp>
        <p:nvSpPr>
          <p:cNvPr id="8" name="Text 6"/>
          <p:cNvSpPr/>
          <p:nvPr/>
        </p:nvSpPr>
        <p:spPr>
          <a:xfrm>
            <a:off x="1005840" y="1380744"/>
            <a:ext cx="10058400" cy="274320"/>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3. MICROSOFT AZURE ARCHITECTURE (Corporate Protected Network)</a:t>
            </a:r>
            <a:endParaRPr lang="en-US" sz="1100" dirty="0"/>
          </a:p>
        </p:txBody>
      </p:sp>
      <p:sp>
        <p:nvSpPr>
          <p:cNvPr id="9" name="Shape 7"/>
          <p:cNvSpPr/>
          <p:nvPr/>
        </p:nvSpPr>
        <p:spPr>
          <a:xfrm>
            <a:off x="1005840" y="1828800"/>
            <a:ext cx="2377440" cy="640080"/>
          </a:xfrm>
          <a:prstGeom prst="roundRect">
            <a:avLst>
              <a:gd name="adj" fmla="val 11429"/>
            </a:avLst>
          </a:prstGeom>
          <a:solidFill>
            <a:srgbClr val="EFF6FF"/>
          </a:solidFill>
          <a:ln w="12700">
            <a:solidFill>
              <a:srgbClr val="BFDBFE"/>
            </a:solidFill>
            <a:prstDash val="solid"/>
          </a:ln>
        </p:spPr>
      </p:sp>
      <p:sp>
        <p:nvSpPr>
          <p:cNvPr id="10" name="Text 8"/>
          <p:cNvSpPr/>
          <p:nvPr/>
        </p:nvSpPr>
        <p:spPr>
          <a:xfrm>
            <a:off x="1005840" y="1874520"/>
            <a:ext cx="2377440" cy="548640"/>
          </a:xfrm>
          <a:prstGeom prst="rect">
            <a:avLst/>
          </a:prstGeom>
          <a:noFill/>
          <a:ln/>
        </p:spPr>
        <p:txBody>
          <a:bodyPr wrap="square" rtlCol="0" anchor="ctr"/>
          <a:lstStyle/>
          <a:p>
            <a:pPr algn="ctr" indent="0" marL="0">
              <a:buNone/>
            </a:pPr>
            <a:r>
              <a:rPr lang="en-US" sz="1000" b="1" dirty="0">
                <a:solidFill>
                  <a:srgbClr val="1E40AF"/>
                </a:solidFill>
                <a:latin typeface="Segoe UI" pitchFamily="34" charset="0"/>
                <a:ea typeface="Segoe UI" pitchFamily="34" charset="-122"/>
                <a:cs typeface="Segoe UI" pitchFamily="34" charset="-120"/>
              </a:rPr>
              <a:t>Enterprise Client
</a:t>
            </a:r>
            <a:pPr algn="ctr" indent="0" marL="0">
              <a:buNone/>
            </a:pPr>
            <a:r>
              <a:rPr lang="en-US" sz="850" dirty="0">
                <a:solidFill>
                  <a:srgbClr val="3B82F6"/>
                </a:solidFill>
                <a:latin typeface="Segoe UI" pitchFamily="34" charset="0"/>
                <a:ea typeface="Segoe UI" pitchFamily="34" charset="-122"/>
                <a:cs typeface="Segoe UI" pitchFamily="34" charset="-120"/>
              </a:rPr>
              <a:t>Web / Office 365</a:t>
            </a:r>
            <a:endParaRPr lang="en-US" sz="1000" dirty="0"/>
          </a:p>
        </p:txBody>
      </p:sp>
      <p:sp>
        <p:nvSpPr>
          <p:cNvPr id="11" name="Text 9"/>
          <p:cNvSpPr/>
          <p:nvPr/>
        </p:nvSpPr>
        <p:spPr>
          <a:xfrm>
            <a:off x="3520440" y="1828800"/>
            <a:ext cx="457200" cy="640080"/>
          </a:xfrm>
          <a:prstGeom prst="rect">
            <a:avLst/>
          </a:prstGeom>
          <a:noFill/>
          <a:ln/>
        </p:spPr>
        <p:txBody>
          <a:bodyPr wrap="square" rtlCol="0" anchor="ctr"/>
          <a:lstStyle/>
          <a:p>
            <a:pPr algn="ctr" indent="0" marL="0">
              <a:buNone/>
            </a:pPr>
            <a:r>
              <a:rPr lang="en-US" sz="2000" b="1" dirty="0">
                <a:solidFill>
                  <a:srgbClr val="94A3B8"/>
                </a:solidFill>
              </a:rPr>
              <a:t>➔</a:t>
            </a:r>
            <a:endParaRPr lang="en-US" sz="2000" dirty="0"/>
          </a:p>
        </p:txBody>
      </p:sp>
      <p:sp>
        <p:nvSpPr>
          <p:cNvPr id="12" name="Shape 10"/>
          <p:cNvSpPr/>
          <p:nvPr/>
        </p:nvSpPr>
        <p:spPr>
          <a:xfrm>
            <a:off x="4114800" y="1828800"/>
            <a:ext cx="3474720" cy="640080"/>
          </a:xfrm>
          <a:prstGeom prst="roundRect">
            <a:avLst>
              <a:gd name="adj" fmla="val 11429"/>
            </a:avLst>
          </a:prstGeom>
          <a:solidFill>
            <a:srgbClr val="F8FAFC"/>
          </a:solidFill>
          <a:ln w="12700">
            <a:solidFill>
              <a:srgbClr val="E2E8F0"/>
            </a:solidFill>
            <a:prstDash val="solid"/>
          </a:ln>
        </p:spPr>
      </p:sp>
      <p:sp>
        <p:nvSpPr>
          <p:cNvPr id="13" name="Text 11"/>
          <p:cNvSpPr/>
          <p:nvPr/>
        </p:nvSpPr>
        <p:spPr>
          <a:xfrm>
            <a:off x="4114800" y="1874520"/>
            <a:ext cx="3474720" cy="548640"/>
          </a:xfrm>
          <a:prstGeom prst="rect">
            <a:avLst/>
          </a:prstGeom>
          <a:noFill/>
          <a:ln/>
        </p:spPr>
        <p:txBody>
          <a:bodyPr wrap="square" rtlCol="0" anchor="ctr"/>
          <a:lstStyle/>
          <a:p>
            <a:pPr algn="ctr" indent="0" marL="0">
              <a:buNone/>
            </a:pPr>
            <a:r>
              <a:rPr lang="en-US" sz="1000" b="1" dirty="0">
                <a:solidFill>
                  <a:srgbClr val="0F172A"/>
                </a:solidFill>
                <a:latin typeface="Segoe UI" pitchFamily="34" charset="0"/>
                <a:ea typeface="Segoe UI" pitchFamily="34" charset="-122"/>
                <a:cs typeface="Segoe UI" pitchFamily="34" charset="-120"/>
              </a:rPr>
              <a:t>Azure Entra ID &amp; Firewall
</a:t>
            </a:r>
            <a:pPr algn="ctr" indent="0" marL="0">
              <a:buNone/>
            </a:pPr>
            <a:r>
              <a:rPr lang="en-US" sz="850" dirty="0">
                <a:solidFill>
                  <a:srgbClr val="475569"/>
                </a:solidFill>
                <a:latin typeface="Segoe UI" pitchFamily="34" charset="0"/>
                <a:ea typeface="Segoe UI" pitchFamily="34" charset="-122"/>
                <a:cs typeface="Segoe UI" pitchFamily="34" charset="-120"/>
              </a:rPr>
              <a:t>Active Directory + IP Whitelisting</a:t>
            </a:r>
            <a:endParaRPr lang="en-US" sz="1000" dirty="0"/>
          </a:p>
        </p:txBody>
      </p:sp>
      <p:sp>
        <p:nvSpPr>
          <p:cNvPr id="14" name="Text 12"/>
          <p:cNvSpPr/>
          <p:nvPr/>
        </p:nvSpPr>
        <p:spPr>
          <a:xfrm>
            <a:off x="7726680" y="1828800"/>
            <a:ext cx="457200" cy="640080"/>
          </a:xfrm>
          <a:prstGeom prst="rect">
            <a:avLst/>
          </a:prstGeom>
          <a:noFill/>
          <a:ln/>
        </p:spPr>
        <p:txBody>
          <a:bodyPr wrap="square" rtlCol="0" anchor="ctr"/>
          <a:lstStyle/>
          <a:p>
            <a:pPr algn="ctr" indent="0" marL="0">
              <a:buNone/>
            </a:pPr>
            <a:r>
              <a:rPr lang="en-US" sz="2000" b="1" dirty="0">
                <a:solidFill>
                  <a:srgbClr val="94A3B8"/>
                </a:solidFill>
              </a:rPr>
              <a:t>➔</a:t>
            </a:r>
            <a:endParaRPr lang="en-US" sz="2000" dirty="0"/>
          </a:p>
        </p:txBody>
      </p:sp>
      <p:sp>
        <p:nvSpPr>
          <p:cNvPr id="15" name="Shape 13"/>
          <p:cNvSpPr/>
          <p:nvPr/>
        </p:nvSpPr>
        <p:spPr>
          <a:xfrm>
            <a:off x="8321040" y="1828800"/>
            <a:ext cx="2834640" cy="640080"/>
          </a:xfrm>
          <a:prstGeom prst="roundRect">
            <a:avLst>
              <a:gd name="adj" fmla="val 11429"/>
            </a:avLst>
          </a:prstGeom>
          <a:solidFill>
            <a:srgbClr val="FEF3C7"/>
          </a:solidFill>
          <a:ln w="12700">
            <a:solidFill>
              <a:srgbClr val="FCD34D"/>
            </a:solidFill>
            <a:prstDash val="solid"/>
          </a:ln>
        </p:spPr>
      </p:sp>
      <p:sp>
        <p:nvSpPr>
          <p:cNvPr id="16" name="Text 14"/>
          <p:cNvSpPr/>
          <p:nvPr/>
        </p:nvSpPr>
        <p:spPr>
          <a:xfrm>
            <a:off x="8321040" y="1874520"/>
            <a:ext cx="2834640" cy="548640"/>
          </a:xfrm>
          <a:prstGeom prst="rect">
            <a:avLst/>
          </a:prstGeom>
          <a:noFill/>
          <a:ln/>
        </p:spPr>
        <p:txBody>
          <a:bodyPr wrap="square" rtlCol="0" anchor="ctr"/>
          <a:lstStyle/>
          <a:p>
            <a:pPr algn="ctr" indent="0" marL="0">
              <a:buNone/>
            </a:pPr>
            <a:r>
              <a:rPr lang="en-US" sz="1000" b="1" dirty="0">
                <a:solidFill>
                  <a:srgbClr val="92400E"/>
                </a:solidFill>
                <a:latin typeface="Segoe UI" pitchFamily="34" charset="0"/>
                <a:ea typeface="Segoe UI" pitchFamily="34" charset="-122"/>
                <a:cs typeface="Segoe UI" pitchFamily="34" charset="-120"/>
              </a:rPr>
              <a:t>Azure SQL Database
</a:t>
            </a:r>
            <a:pPr algn="ctr" indent="0" marL="0">
              <a:buNone/>
            </a:pPr>
            <a:r>
              <a:rPr lang="en-US" sz="850" dirty="0">
                <a:solidFill>
                  <a:srgbClr val="B45309"/>
                </a:solidFill>
                <a:latin typeface="Segoe UI" pitchFamily="34" charset="0"/>
                <a:ea typeface="Segoe UI" pitchFamily="34" charset="-122"/>
                <a:cs typeface="Segoe UI" pitchFamily="34" charset="-120"/>
              </a:rPr>
              <a:t>Direct sync with Power BI &amp; Excel</a:t>
            </a:r>
            <a:endParaRPr lang="en-US" sz="1000" dirty="0"/>
          </a:p>
        </p:txBody>
      </p:sp>
      <p:sp>
        <p:nvSpPr>
          <p:cNvPr id="17" name="Shape 15"/>
          <p:cNvSpPr/>
          <p:nvPr/>
        </p:nvSpPr>
        <p:spPr>
          <a:xfrm>
            <a:off x="1005840" y="2606040"/>
            <a:ext cx="10149840" cy="868680"/>
          </a:xfrm>
          <a:prstGeom prst="roundRect">
            <a:avLst>
              <a:gd name="adj" fmla="val 8421"/>
            </a:avLst>
          </a:prstGeom>
          <a:solidFill>
            <a:srgbClr val="F8FAFC"/>
          </a:solidFill>
          <a:ln w="12700">
            <a:solidFill>
              <a:srgbClr val="E2E8F0"/>
            </a:solidFill>
            <a:prstDash val="solid"/>
          </a:ln>
        </p:spPr>
      </p:sp>
      <p:sp>
        <p:nvSpPr>
          <p:cNvPr id="18" name="Text 16"/>
          <p:cNvSpPr/>
          <p:nvPr/>
        </p:nvSpPr>
        <p:spPr>
          <a:xfrm>
            <a:off x="1188720" y="2651760"/>
            <a:ext cx="9784080" cy="777240"/>
          </a:xfrm>
          <a:prstGeom prst="rect">
            <a:avLst/>
          </a:prstGeom>
          <a:noFill/>
          <a:ln/>
        </p:spPr>
        <p:txBody>
          <a:bodyPr wrap="square" rtlCol="0" anchor="ctr"/>
          <a:lstStyle/>
          <a:p>
            <a:pPr indent="0" marL="0">
              <a:lnSpc>
                <a:spcPct val="120000"/>
              </a:lnSpc>
              <a:buNone/>
            </a:pPr>
            <a:r>
              <a:rPr lang="en-US" sz="950" dirty="0">
                <a:solidFill>
                  <a:srgbClr val="0F172A"/>
                </a:solidFill>
                <a:latin typeface="Segoe UI" pitchFamily="34" charset="0"/>
                <a:ea typeface="Segoe UI" pitchFamily="34" charset="-122"/>
                <a:cs typeface="Segoe UI" pitchFamily="34" charset="-120"/>
              </a:rPr>
              <a:t>HOW IT WORKS: Applications connect through Azure's secure gateway using single-sign-on (SSO). Security policies, firewall rules, and encryption are applied centrally, with native connections feeding data into Power BI dashboards without third-party plugins.</a:t>
            </a:r>
            <a:endParaRPr lang="en-US" sz="950" dirty="0"/>
          </a:p>
        </p:txBody>
      </p:sp>
      <p:sp>
        <p:nvSpPr>
          <p:cNvPr id="19" name="Shape 17"/>
          <p:cNvSpPr/>
          <p:nvPr/>
        </p:nvSpPr>
        <p:spPr>
          <a:xfrm>
            <a:off x="731520" y="3794760"/>
            <a:ext cx="10728655" cy="2331720"/>
          </a:xfrm>
          <a:prstGeom prst="roundRect">
            <a:avLst>
              <a:gd name="adj" fmla="val 4706"/>
            </a:avLst>
          </a:prstGeom>
          <a:solidFill>
            <a:srgbClr val="FFFFFF"/>
          </a:solidFill>
          <a:ln w="15240">
            <a:solidFill>
              <a:srgbClr val="E2E8F0"/>
            </a:solidFill>
            <a:prstDash val="solid"/>
          </a:ln>
        </p:spPr>
      </p:sp>
      <p:sp>
        <p:nvSpPr>
          <p:cNvPr id="20" name="Shape 18"/>
          <p:cNvSpPr/>
          <p:nvPr/>
        </p:nvSpPr>
        <p:spPr>
          <a:xfrm>
            <a:off x="731520" y="3794760"/>
            <a:ext cx="10728655" cy="384048"/>
          </a:xfrm>
          <a:prstGeom prst="roundRect">
            <a:avLst>
              <a:gd name="adj" fmla="val 28571"/>
            </a:avLst>
          </a:prstGeom>
          <a:solidFill>
            <a:srgbClr val="D97706"/>
          </a:solidFill>
          <a:ln w="12700">
            <a:solidFill>
              <a:srgbClr val="D97706"/>
            </a:solidFill>
            <a:prstDash val="solid"/>
          </a:ln>
        </p:spPr>
      </p:sp>
      <p:sp>
        <p:nvSpPr>
          <p:cNvPr id="21" name="Text 19"/>
          <p:cNvSpPr/>
          <p:nvPr/>
        </p:nvSpPr>
        <p:spPr>
          <a:xfrm>
            <a:off x="1005840" y="3849624"/>
            <a:ext cx="10058400" cy="274320"/>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4. AMAZON AWS ARCHITECTURE (Enterprise Fortress &amp; Extreme Scale)</a:t>
            </a:r>
            <a:endParaRPr lang="en-US" sz="1100" dirty="0"/>
          </a:p>
        </p:txBody>
      </p:sp>
      <p:sp>
        <p:nvSpPr>
          <p:cNvPr id="22" name="Shape 20"/>
          <p:cNvSpPr/>
          <p:nvPr/>
        </p:nvSpPr>
        <p:spPr>
          <a:xfrm>
            <a:off x="1005840" y="4297680"/>
            <a:ext cx="2377440" cy="640080"/>
          </a:xfrm>
          <a:prstGeom prst="roundRect">
            <a:avLst>
              <a:gd name="adj" fmla="val 11429"/>
            </a:avLst>
          </a:prstGeom>
          <a:solidFill>
            <a:srgbClr val="EFF6FF"/>
          </a:solidFill>
          <a:ln w="12700">
            <a:solidFill>
              <a:srgbClr val="BFDBFE"/>
            </a:solidFill>
            <a:prstDash val="solid"/>
          </a:ln>
        </p:spPr>
      </p:sp>
      <p:sp>
        <p:nvSpPr>
          <p:cNvPr id="23" name="Text 21"/>
          <p:cNvSpPr/>
          <p:nvPr/>
        </p:nvSpPr>
        <p:spPr>
          <a:xfrm>
            <a:off x="1005840" y="4343400"/>
            <a:ext cx="2377440" cy="548640"/>
          </a:xfrm>
          <a:prstGeom prst="rect">
            <a:avLst/>
          </a:prstGeom>
          <a:noFill/>
          <a:ln/>
        </p:spPr>
        <p:txBody>
          <a:bodyPr wrap="square" rtlCol="0" anchor="ctr"/>
          <a:lstStyle/>
          <a:p>
            <a:pPr algn="ctr" indent="0" marL="0">
              <a:buNone/>
            </a:pPr>
            <a:r>
              <a:rPr lang="en-US" sz="1000" b="1" dirty="0">
                <a:solidFill>
                  <a:srgbClr val="1E40AF"/>
                </a:solidFill>
                <a:latin typeface="Segoe UI" pitchFamily="34" charset="0"/>
                <a:ea typeface="Segoe UI" pitchFamily="34" charset="-122"/>
                <a:cs typeface="Segoe UI" pitchFamily="34" charset="-120"/>
              </a:rPr>
              <a:t>High-Traffic App
</a:t>
            </a:r>
            <a:pPr algn="ctr" indent="0" marL="0">
              <a:buNone/>
            </a:pPr>
            <a:r>
              <a:rPr lang="en-US" sz="850" dirty="0">
                <a:solidFill>
                  <a:srgbClr val="3B82F6"/>
                </a:solidFill>
                <a:latin typeface="Segoe UI" pitchFamily="34" charset="0"/>
                <a:ea typeface="Segoe UI" pitchFamily="34" charset="-122"/>
                <a:cs typeface="Segoe UI" pitchFamily="34" charset="-120"/>
              </a:rPr>
              <a:t>Millions of Visitors</a:t>
            </a:r>
            <a:endParaRPr lang="en-US" sz="1000" dirty="0"/>
          </a:p>
        </p:txBody>
      </p:sp>
      <p:sp>
        <p:nvSpPr>
          <p:cNvPr id="24" name="Text 22"/>
          <p:cNvSpPr/>
          <p:nvPr/>
        </p:nvSpPr>
        <p:spPr>
          <a:xfrm>
            <a:off x="3520440" y="4297680"/>
            <a:ext cx="457200" cy="640080"/>
          </a:xfrm>
          <a:prstGeom prst="rect">
            <a:avLst/>
          </a:prstGeom>
          <a:noFill/>
          <a:ln/>
        </p:spPr>
        <p:txBody>
          <a:bodyPr wrap="square" rtlCol="0" anchor="ctr"/>
          <a:lstStyle/>
          <a:p>
            <a:pPr algn="ctr" indent="0" marL="0">
              <a:buNone/>
            </a:pPr>
            <a:r>
              <a:rPr lang="en-US" sz="2000" b="1" dirty="0">
                <a:solidFill>
                  <a:srgbClr val="94A3B8"/>
                </a:solidFill>
              </a:rPr>
              <a:t>➔</a:t>
            </a:r>
            <a:endParaRPr lang="en-US" sz="2000" dirty="0"/>
          </a:p>
        </p:txBody>
      </p:sp>
      <p:sp>
        <p:nvSpPr>
          <p:cNvPr id="25" name="Shape 23"/>
          <p:cNvSpPr/>
          <p:nvPr/>
        </p:nvSpPr>
        <p:spPr>
          <a:xfrm>
            <a:off x="4114800" y="4297680"/>
            <a:ext cx="3474720" cy="640080"/>
          </a:xfrm>
          <a:prstGeom prst="roundRect">
            <a:avLst>
              <a:gd name="adj" fmla="val 11429"/>
            </a:avLst>
          </a:prstGeom>
          <a:solidFill>
            <a:srgbClr val="F8FAFC"/>
          </a:solidFill>
          <a:ln w="12700">
            <a:solidFill>
              <a:srgbClr val="E2E8F0"/>
            </a:solidFill>
            <a:prstDash val="solid"/>
          </a:ln>
        </p:spPr>
      </p:sp>
      <p:sp>
        <p:nvSpPr>
          <p:cNvPr id="26" name="Text 24"/>
          <p:cNvSpPr/>
          <p:nvPr/>
        </p:nvSpPr>
        <p:spPr>
          <a:xfrm>
            <a:off x="4114800" y="4343400"/>
            <a:ext cx="3474720" cy="548640"/>
          </a:xfrm>
          <a:prstGeom prst="rect">
            <a:avLst/>
          </a:prstGeom>
          <a:noFill/>
          <a:ln/>
        </p:spPr>
        <p:txBody>
          <a:bodyPr wrap="square" rtlCol="0" anchor="ctr"/>
          <a:lstStyle/>
          <a:p>
            <a:pPr algn="ctr" indent="0" marL="0">
              <a:buNone/>
            </a:pPr>
            <a:r>
              <a:rPr lang="en-US" sz="1000" b="1" dirty="0">
                <a:solidFill>
                  <a:srgbClr val="0F172A"/>
                </a:solidFill>
                <a:latin typeface="Segoe UI" pitchFamily="34" charset="0"/>
                <a:ea typeface="Segoe UI" pitchFamily="34" charset="-122"/>
                <a:cs typeface="Segoe UI" pitchFamily="34" charset="-120"/>
              </a:rPr>
              <a:t>VPC Gateway &amp; IAM
</a:t>
            </a:r>
            <a:pPr algn="ctr" indent="0" marL="0">
              <a:buNone/>
            </a:pPr>
            <a:r>
              <a:rPr lang="en-US" sz="850" dirty="0">
                <a:solidFill>
                  <a:srgbClr val="475569"/>
                </a:solidFill>
                <a:latin typeface="Segoe UI" pitchFamily="34" charset="0"/>
                <a:ea typeface="Segoe UI" pitchFamily="34" charset="-122"/>
                <a:cs typeface="Segoe UI" pitchFamily="34" charset="-120"/>
              </a:rPr>
              <a:t>Private Subnet + Security Groups</a:t>
            </a:r>
            <a:endParaRPr lang="en-US" sz="1000" dirty="0"/>
          </a:p>
        </p:txBody>
      </p:sp>
      <p:sp>
        <p:nvSpPr>
          <p:cNvPr id="27" name="Text 25"/>
          <p:cNvSpPr/>
          <p:nvPr/>
        </p:nvSpPr>
        <p:spPr>
          <a:xfrm>
            <a:off x="7726680" y="4297680"/>
            <a:ext cx="457200" cy="640080"/>
          </a:xfrm>
          <a:prstGeom prst="rect">
            <a:avLst/>
          </a:prstGeom>
          <a:noFill/>
          <a:ln/>
        </p:spPr>
        <p:txBody>
          <a:bodyPr wrap="square" rtlCol="0" anchor="ctr"/>
          <a:lstStyle/>
          <a:p>
            <a:pPr algn="ctr" indent="0" marL="0">
              <a:buNone/>
            </a:pPr>
            <a:r>
              <a:rPr lang="en-US" sz="2000" b="1" dirty="0">
                <a:solidFill>
                  <a:srgbClr val="94A3B8"/>
                </a:solidFill>
              </a:rPr>
              <a:t>➔</a:t>
            </a:r>
            <a:endParaRPr lang="en-US" sz="2000" dirty="0"/>
          </a:p>
        </p:txBody>
      </p:sp>
      <p:sp>
        <p:nvSpPr>
          <p:cNvPr id="28" name="Shape 26"/>
          <p:cNvSpPr/>
          <p:nvPr/>
        </p:nvSpPr>
        <p:spPr>
          <a:xfrm>
            <a:off x="8321040" y="4297680"/>
            <a:ext cx="2834640" cy="640080"/>
          </a:xfrm>
          <a:prstGeom prst="roundRect">
            <a:avLst>
              <a:gd name="adj" fmla="val 11429"/>
            </a:avLst>
          </a:prstGeom>
          <a:solidFill>
            <a:srgbClr val="FEF3C7"/>
          </a:solidFill>
          <a:ln w="12700">
            <a:solidFill>
              <a:srgbClr val="FCD34D"/>
            </a:solidFill>
            <a:prstDash val="solid"/>
          </a:ln>
        </p:spPr>
      </p:sp>
      <p:sp>
        <p:nvSpPr>
          <p:cNvPr id="29" name="Text 27"/>
          <p:cNvSpPr/>
          <p:nvPr/>
        </p:nvSpPr>
        <p:spPr>
          <a:xfrm>
            <a:off x="8321040" y="4343400"/>
            <a:ext cx="2834640" cy="548640"/>
          </a:xfrm>
          <a:prstGeom prst="rect">
            <a:avLst/>
          </a:prstGeom>
          <a:noFill/>
          <a:ln/>
        </p:spPr>
        <p:txBody>
          <a:bodyPr wrap="square" rtlCol="0" anchor="ctr"/>
          <a:lstStyle/>
          <a:p>
            <a:pPr algn="ctr" indent="0" marL="0">
              <a:buNone/>
            </a:pPr>
            <a:r>
              <a:rPr lang="en-US" sz="1000" b="1" dirty="0">
                <a:solidFill>
                  <a:srgbClr val="92400E"/>
                </a:solidFill>
                <a:latin typeface="Segoe UI" pitchFamily="34" charset="0"/>
                <a:ea typeface="Segoe UI" pitchFamily="34" charset="-122"/>
                <a:cs typeface="Segoe UI" pitchFamily="34" charset="-120"/>
              </a:rPr>
              <a:t>Amazon RDS / Dynamo
</a:t>
            </a:r>
            <a:pPr algn="ctr" indent="0" marL="0">
              <a:buNone/>
            </a:pPr>
            <a:r>
              <a:rPr lang="en-US" sz="850" dirty="0">
                <a:solidFill>
                  <a:srgbClr val="B45309"/>
                </a:solidFill>
                <a:latin typeface="Segoe UI" pitchFamily="34" charset="0"/>
                <a:ea typeface="Segoe UI" pitchFamily="34" charset="-122"/>
                <a:cs typeface="Segoe UI" pitchFamily="34" charset="-120"/>
              </a:rPr>
              <a:t>SSD High IOPS Storage Cluster</a:t>
            </a:r>
            <a:endParaRPr lang="en-US" sz="1000" dirty="0"/>
          </a:p>
        </p:txBody>
      </p:sp>
      <p:sp>
        <p:nvSpPr>
          <p:cNvPr id="30" name="Shape 28"/>
          <p:cNvSpPr/>
          <p:nvPr/>
        </p:nvSpPr>
        <p:spPr>
          <a:xfrm>
            <a:off x="1005840" y="5074920"/>
            <a:ext cx="10149840" cy="868680"/>
          </a:xfrm>
          <a:prstGeom prst="roundRect">
            <a:avLst>
              <a:gd name="adj" fmla="val 8421"/>
            </a:avLst>
          </a:prstGeom>
          <a:solidFill>
            <a:srgbClr val="F8FAFC"/>
          </a:solidFill>
          <a:ln w="12700">
            <a:solidFill>
              <a:srgbClr val="E2E8F0"/>
            </a:solidFill>
            <a:prstDash val="solid"/>
          </a:ln>
        </p:spPr>
      </p:sp>
      <p:sp>
        <p:nvSpPr>
          <p:cNvPr id="31" name="Text 29"/>
          <p:cNvSpPr/>
          <p:nvPr/>
        </p:nvSpPr>
        <p:spPr>
          <a:xfrm>
            <a:off x="1188720" y="5120640"/>
            <a:ext cx="9784080" cy="777240"/>
          </a:xfrm>
          <a:prstGeom prst="rect">
            <a:avLst/>
          </a:prstGeom>
          <a:noFill/>
          <a:ln/>
        </p:spPr>
        <p:txBody>
          <a:bodyPr wrap="square" rtlCol="0" anchor="ctr"/>
          <a:lstStyle/>
          <a:p>
            <a:pPr indent="0" marL="0">
              <a:lnSpc>
                <a:spcPct val="120000"/>
              </a:lnSpc>
              <a:buNone/>
            </a:pPr>
            <a:r>
              <a:rPr lang="en-US" sz="950" dirty="0">
                <a:solidFill>
                  <a:srgbClr val="0F172A"/>
                </a:solidFill>
                <a:latin typeface="Segoe UI" pitchFamily="34" charset="0"/>
                <a:ea typeface="Segoe UI" pitchFamily="34" charset="-122"/>
                <a:cs typeface="Segoe UI" pitchFamily="34" charset="-120"/>
              </a:rPr>
              <a:t>HOW IT WORKS: The database resides inside an isolated private subnet with NO public internet IP address. Inbound traffic is strictly filtered by AWS Security Groups, and compute can scale dynamically to handle billions of requests.</a:t>
            </a:r>
            <a:endParaRPr lang="en-US" sz="950" dirty="0"/>
          </a:p>
        </p:txBody>
      </p:sp>
      <p:sp>
        <p:nvSpPr>
          <p:cNvPr id="32" name="Shape 30"/>
          <p:cNvSpPr/>
          <p:nvPr/>
        </p:nvSpPr>
        <p:spPr>
          <a:xfrm>
            <a:off x="731520" y="6355080"/>
            <a:ext cx="10728655" cy="18288"/>
          </a:xfrm>
          <a:prstGeom prst="rect">
            <a:avLst/>
          </a:prstGeom>
          <a:solidFill>
            <a:srgbClr val="E2E8F0"/>
          </a:solidFill>
          <a:ln/>
        </p:spPr>
      </p:sp>
      <p:sp>
        <p:nvSpPr>
          <p:cNvPr id="33" name="Text 31"/>
          <p:cNvSpPr/>
          <p:nvPr/>
        </p:nvSpPr>
        <p:spPr>
          <a:xfrm>
            <a:off x="731520" y="6419088"/>
            <a:ext cx="7772400" cy="27432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CONFIDENTIAL &amp; PROPRIETARY | Enterprise Cloud Database Evaluation &amp; Advisory</a:t>
            </a:r>
            <a:endParaRPr lang="en-US" sz="850" dirty="0"/>
          </a:p>
        </p:txBody>
      </p:sp>
      <p:sp>
        <p:nvSpPr>
          <p:cNvPr id="34" name="Text 32"/>
          <p:cNvSpPr/>
          <p:nvPr/>
        </p:nvSpPr>
        <p:spPr>
          <a:xfrm>
            <a:off x="9631375" y="6419088"/>
            <a:ext cx="1828800" cy="274320"/>
          </a:xfrm>
          <a:prstGeom prst="rect">
            <a:avLst/>
          </a:prstGeom>
          <a:noFill/>
          <a:ln/>
        </p:spPr>
        <p:txBody>
          <a:bodyPr wrap="square" rtlCol="0" anchor="ctr"/>
          <a:lstStyle/>
          <a:p>
            <a:pPr algn="r" indent="0" marL="0">
              <a:buNone/>
            </a:pPr>
            <a:r>
              <a:rPr lang="en-US" sz="850" dirty="0">
                <a:solidFill>
                  <a:srgbClr val="94A3B8"/>
                </a:solidFill>
                <a:latin typeface="Segoe UI" pitchFamily="34" charset="0"/>
                <a:ea typeface="Segoe UI" pitchFamily="34" charset="-122"/>
                <a:cs typeface="Segoe UI" pitchFamily="34" charset="-120"/>
              </a:rPr>
              <a:t>Slide 5 of 17</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p:spPr>
      </p:sp>
      <p:sp>
        <p:nvSpPr>
          <p:cNvPr id="3" name="Shape 1"/>
          <p:cNvSpPr/>
          <p:nvPr/>
        </p:nvSpPr>
        <p:spPr>
          <a:xfrm>
            <a:off x="731520" y="320040"/>
            <a:ext cx="2286000" cy="274320"/>
          </a:xfrm>
          <a:prstGeom prst="roundRect">
            <a:avLst>
              <a:gd name="adj" fmla="val 26667"/>
            </a:avLst>
          </a:prstGeom>
          <a:solidFill>
            <a:srgbClr val="EFF6FF"/>
          </a:solidFill>
          <a:ln w="12700">
            <a:solidFill>
              <a:srgbClr val="BFDBFE"/>
            </a:solidFill>
            <a:prstDash val="solid"/>
          </a:ln>
        </p:spPr>
      </p:sp>
      <p:sp>
        <p:nvSpPr>
          <p:cNvPr id="4" name="Text 2"/>
          <p:cNvSpPr/>
          <p:nvPr/>
        </p:nvSpPr>
        <p:spPr>
          <a:xfrm>
            <a:off x="731520" y="320040"/>
            <a:ext cx="2286000" cy="274320"/>
          </a:xfrm>
          <a:prstGeom prst="rect">
            <a:avLst/>
          </a:prstGeom>
          <a:noFill/>
          <a:ln/>
        </p:spPr>
        <p:txBody>
          <a:bodyPr wrap="square" rtlCol="0" anchor="ctr"/>
          <a:lstStyle/>
          <a:p>
            <a:pPr algn="ctr" indent="0" marL="0">
              <a:buNone/>
            </a:pPr>
            <a:r>
              <a:rPr lang="en-US" sz="900" b="1" dirty="0">
                <a:solidFill>
                  <a:srgbClr val="1D4ED8"/>
                </a:solidFill>
                <a:latin typeface="Segoe UI" pitchFamily="34" charset="0"/>
                <a:ea typeface="Segoe UI" pitchFamily="34" charset="-122"/>
                <a:cs typeface="Segoe UI" pitchFamily="34" charset="-120"/>
              </a:rPr>
              <a:t>HACKER THREAT LANDSCAPE (1/2)</a:t>
            </a:r>
            <a:endParaRPr lang="en-US" sz="900" dirty="0"/>
          </a:p>
        </p:txBody>
      </p:sp>
      <p:sp>
        <p:nvSpPr>
          <p:cNvPr id="5" name="Text 3"/>
          <p:cNvSpPr/>
          <p:nvPr/>
        </p:nvSpPr>
        <p:spPr>
          <a:xfrm>
            <a:off x="731520" y="658368"/>
            <a:ext cx="10728655" cy="502920"/>
          </a:xfrm>
          <a:prstGeom prst="rect">
            <a:avLst/>
          </a:prstGeom>
          <a:noFill/>
          <a:ln/>
        </p:spPr>
        <p:txBody>
          <a:bodyPr wrap="square" rtlCol="0" anchor="ctr"/>
          <a:lstStyle/>
          <a:p>
            <a:pPr indent="0" marL="0">
              <a:buNone/>
            </a:pPr>
            <a:r>
              <a:rPr lang="en-US" sz="2100" b="1" dirty="0">
                <a:solidFill>
                  <a:srgbClr val="0A0F1D"/>
                </a:solidFill>
                <a:latin typeface="Segoe UI" pitchFamily="34" charset="0"/>
                <a:ea typeface="Segoe UI" pitchFamily="34" charset="-122"/>
                <a:cs typeface="Segoe UI" pitchFamily="34" charset="-120"/>
              </a:rPr>
              <a:t>Data Security in Hacker's Eye: Injections &amp; Port Scanning</a:t>
            </a:r>
            <a:endParaRPr lang="en-US" sz="2100" dirty="0"/>
          </a:p>
        </p:txBody>
      </p:sp>
      <p:sp>
        <p:nvSpPr>
          <p:cNvPr id="6" name="Shape 4"/>
          <p:cNvSpPr/>
          <p:nvPr/>
        </p:nvSpPr>
        <p:spPr>
          <a:xfrm>
            <a:off x="731520" y="1325880"/>
            <a:ext cx="5242255" cy="4846320"/>
          </a:xfrm>
          <a:prstGeom prst="roundRect">
            <a:avLst>
              <a:gd name="adj" fmla="val 2264"/>
            </a:avLst>
          </a:prstGeom>
          <a:solidFill>
            <a:srgbClr val="FFFFFF"/>
          </a:solidFill>
          <a:ln w="19050">
            <a:solidFill>
              <a:srgbClr val="FECACA"/>
            </a:solidFill>
            <a:prstDash val="solid"/>
          </a:ln>
        </p:spPr>
      </p:sp>
      <p:sp>
        <p:nvSpPr>
          <p:cNvPr id="7" name="Shape 5"/>
          <p:cNvSpPr/>
          <p:nvPr/>
        </p:nvSpPr>
        <p:spPr>
          <a:xfrm>
            <a:off x="731520" y="1325880"/>
            <a:ext cx="5242255" cy="640080"/>
          </a:xfrm>
          <a:prstGeom prst="roundRect">
            <a:avLst>
              <a:gd name="adj" fmla="val 17143"/>
            </a:avLst>
          </a:prstGeom>
          <a:solidFill>
            <a:srgbClr val="DC2626"/>
          </a:solidFill>
          <a:ln w="12700">
            <a:solidFill>
              <a:srgbClr val="DC2626"/>
            </a:solidFill>
            <a:prstDash val="solid"/>
          </a:ln>
        </p:spPr>
      </p:sp>
      <p:sp>
        <p:nvSpPr>
          <p:cNvPr id="8" name="Text 6"/>
          <p:cNvSpPr/>
          <p:nvPr/>
        </p:nvSpPr>
        <p:spPr>
          <a:xfrm>
            <a:off x="1005840" y="1325880"/>
            <a:ext cx="4693615" cy="640080"/>
          </a:xfrm>
          <a:prstGeom prst="rect">
            <a:avLst/>
          </a:prstGeom>
          <a:noFill/>
          <a:ln/>
        </p:spPr>
        <p:txBody>
          <a:bodyPr wrap="square" rtlCol="0" anchor="ctr"/>
          <a:lstStyle/>
          <a:p>
            <a:pPr indent="0" marL="0">
              <a:buNone/>
            </a:pPr>
            <a:r>
              <a:rPr lang="en-US" sz="1200" b="1" dirty="0">
                <a:solidFill>
                  <a:srgbClr val="FFFFFF"/>
                </a:solidFill>
                <a:latin typeface="Segoe UI" pitchFamily="34" charset="0"/>
                <a:ea typeface="Segoe UI" pitchFamily="34" charset="-122"/>
                <a:cs typeface="Segoe UI" pitchFamily="34" charset="-120"/>
              </a:rPr>
              <a:t>THREAT 1: SQL INJECTION &amp; DATA TAMPERING</a:t>
            </a:r>
            <a:endParaRPr lang="en-US" sz="1200" dirty="0"/>
          </a:p>
        </p:txBody>
      </p:sp>
      <p:sp>
        <p:nvSpPr>
          <p:cNvPr id="9" name="Shape 7"/>
          <p:cNvSpPr/>
          <p:nvPr/>
        </p:nvSpPr>
        <p:spPr>
          <a:xfrm>
            <a:off x="1005840" y="2148840"/>
            <a:ext cx="4693615" cy="1828800"/>
          </a:xfrm>
          <a:prstGeom prst="roundRect">
            <a:avLst>
              <a:gd name="adj" fmla="val 4000"/>
            </a:avLst>
          </a:prstGeom>
          <a:solidFill>
            <a:srgbClr val="F8FAFC"/>
          </a:solidFill>
          <a:ln w="12700">
            <a:solidFill>
              <a:srgbClr val="E2E8F0"/>
            </a:solidFill>
            <a:prstDash val="solid"/>
          </a:ln>
        </p:spPr>
      </p:sp>
      <p:sp>
        <p:nvSpPr>
          <p:cNvPr id="10" name="Text 8"/>
          <p:cNvSpPr/>
          <p:nvPr/>
        </p:nvSpPr>
        <p:spPr>
          <a:xfrm>
            <a:off x="1188720" y="2240280"/>
            <a:ext cx="4327855" cy="1645920"/>
          </a:xfrm>
          <a:prstGeom prst="rect">
            <a:avLst/>
          </a:prstGeom>
          <a:noFill/>
          <a:ln/>
        </p:spPr>
        <p:txBody>
          <a:bodyPr wrap="square" rtlCol="0" anchor="ctr"/>
          <a:lstStyle/>
          <a:p>
            <a:pPr indent="0" marL="0">
              <a:lnSpc>
                <a:spcPct val="120000"/>
              </a:lnSpc>
              <a:buNone/>
            </a:pPr>
            <a:r>
              <a:rPr lang="en-US" sz="950" dirty="0">
                <a:solidFill>
                  <a:srgbClr val="0F172A"/>
                </a:solidFill>
                <a:latin typeface="Segoe UI" pitchFamily="34" charset="0"/>
                <a:ea typeface="Segoe UI" pitchFamily="34" charset="-122"/>
                <a:cs typeface="Segoe UI" pitchFamily="34" charset="-120"/>
              </a:rPr>
              <a:t>HOW THE ATTACK WORKS:</a:t>
            </a:r>
            <a:endParaRPr lang="en-US" sz="950" dirty="0"/>
          </a:p>
          <a:p>
            <a:pPr indent="0" marL="0">
              <a:lnSpc>
                <a:spcPct val="120000"/>
              </a:lnSpc>
              <a:buNone/>
            </a:pPr>
            <a:r>
              <a:rPr lang="en-US" sz="950" dirty="0">
                <a:solidFill>
                  <a:srgbClr val="0F172A"/>
                </a:solidFill>
                <a:latin typeface="Segoe UI" pitchFamily="34" charset="0"/>
                <a:ea typeface="Segoe UI" pitchFamily="34" charset="-122"/>
                <a:cs typeface="Segoe UI" pitchFamily="34" charset="-120"/>
              </a:rPr>
              <a:t>Attackers inject malicious SQL fragments (e.g. ' OR 1=1; DROP TABLE users;--) into website form inputs, search bars, or URL parameters. Unprotected backend code concatenates this input directly into database queries, giving the hacker full administrative control.</a:t>
            </a:r>
            <a:endParaRPr lang="en-US" sz="950" dirty="0"/>
          </a:p>
        </p:txBody>
      </p:sp>
      <p:sp>
        <p:nvSpPr>
          <p:cNvPr id="11" name="Shape 9"/>
          <p:cNvSpPr/>
          <p:nvPr/>
        </p:nvSpPr>
        <p:spPr>
          <a:xfrm>
            <a:off x="1005840" y="4160520"/>
            <a:ext cx="4693615" cy="1828800"/>
          </a:xfrm>
          <a:prstGeom prst="roundRect">
            <a:avLst>
              <a:gd name="adj" fmla="val 4000"/>
            </a:avLst>
          </a:prstGeom>
          <a:solidFill>
            <a:srgbClr val="FEF2F2"/>
          </a:solidFill>
          <a:ln w="12700">
            <a:solidFill>
              <a:srgbClr val="FECACA"/>
            </a:solidFill>
            <a:prstDash val="solid"/>
          </a:ln>
        </p:spPr>
      </p:sp>
      <p:sp>
        <p:nvSpPr>
          <p:cNvPr id="12" name="Text 10"/>
          <p:cNvSpPr/>
          <p:nvPr/>
        </p:nvSpPr>
        <p:spPr>
          <a:xfrm>
            <a:off x="1188720" y="4251960"/>
            <a:ext cx="4327855" cy="1645920"/>
          </a:xfrm>
          <a:prstGeom prst="rect">
            <a:avLst/>
          </a:prstGeom>
          <a:noFill/>
          <a:ln/>
        </p:spPr>
        <p:txBody>
          <a:bodyPr wrap="square" rtlCol="0" anchor="ctr"/>
          <a:lstStyle/>
          <a:p>
            <a:pPr indent="0" marL="0">
              <a:lnSpc>
                <a:spcPct val="120000"/>
              </a:lnSpc>
              <a:buNone/>
            </a:pPr>
            <a:r>
              <a:rPr lang="en-US" sz="950" dirty="0">
                <a:solidFill>
                  <a:srgbClr val="991B1B"/>
                </a:solidFill>
                <a:latin typeface="Segoe UI" pitchFamily="34" charset="0"/>
                <a:ea typeface="Segoe UI" pitchFamily="34" charset="-122"/>
                <a:cs typeface="Segoe UI" pitchFamily="34" charset="-120"/>
              </a:rPr>
              <a:t>POTENTIAL DAMAGE:</a:t>
            </a:r>
            <a:endParaRPr lang="en-US" sz="950" dirty="0"/>
          </a:p>
          <a:p>
            <a:pPr indent="0" marL="0">
              <a:lnSpc>
                <a:spcPct val="120000"/>
              </a:lnSpc>
              <a:buNone/>
            </a:pPr>
            <a:r>
              <a:rPr lang="en-US" sz="950" dirty="0">
                <a:solidFill>
                  <a:srgbClr val="991B1B"/>
                </a:solidFill>
                <a:latin typeface="Segoe UI" pitchFamily="34" charset="0"/>
                <a:ea typeface="Segoe UI" pitchFamily="34" charset="-122"/>
                <a:cs typeface="Segoe UI" pitchFamily="34" charset="-120"/>
              </a:rPr>
              <a:t>• Total exfiltration of customer database tables, passwords, and PII.</a:t>
            </a:r>
            <a:endParaRPr lang="en-US" sz="950" dirty="0"/>
          </a:p>
          <a:p>
            <a:pPr indent="0" marL="0">
              <a:lnSpc>
                <a:spcPct val="120000"/>
              </a:lnSpc>
              <a:buNone/>
            </a:pPr>
            <a:r>
              <a:rPr lang="en-US" sz="950" dirty="0">
                <a:solidFill>
                  <a:srgbClr val="991B1B"/>
                </a:solidFill>
                <a:latin typeface="Segoe UI" pitchFamily="34" charset="0"/>
                <a:ea typeface="Segoe UI" pitchFamily="34" charset="-122"/>
                <a:cs typeface="Segoe UI" pitchFamily="34" charset="-120"/>
              </a:rPr>
              <a:t>• Malicious deletion or corruption of financial transaction histories.</a:t>
            </a:r>
            <a:endParaRPr lang="en-US" sz="950" dirty="0"/>
          </a:p>
          <a:p>
            <a:pPr indent="0" marL="0">
              <a:lnSpc>
                <a:spcPct val="120000"/>
              </a:lnSpc>
              <a:buNone/>
            </a:pPr>
            <a:r>
              <a:rPr lang="en-US" sz="950" dirty="0">
                <a:solidFill>
                  <a:srgbClr val="991B1B"/>
                </a:solidFill>
                <a:latin typeface="Segoe UI" pitchFamily="34" charset="0"/>
                <a:ea typeface="Segoe UI" pitchFamily="34" charset="-122"/>
                <a:cs typeface="Segoe UI" pitchFamily="34" charset="-120"/>
              </a:rPr>
              <a:t>• Regulatory fines (GDPR/HIPAA) exceeding $1M+.</a:t>
            </a:r>
            <a:endParaRPr lang="en-US" sz="950" dirty="0"/>
          </a:p>
        </p:txBody>
      </p:sp>
      <p:sp>
        <p:nvSpPr>
          <p:cNvPr id="13" name="Shape 11"/>
          <p:cNvSpPr/>
          <p:nvPr/>
        </p:nvSpPr>
        <p:spPr>
          <a:xfrm>
            <a:off x="6217920" y="1325880"/>
            <a:ext cx="5242255" cy="4846320"/>
          </a:xfrm>
          <a:prstGeom prst="roundRect">
            <a:avLst>
              <a:gd name="adj" fmla="val 2264"/>
            </a:avLst>
          </a:prstGeom>
          <a:solidFill>
            <a:srgbClr val="FFFFFF"/>
          </a:solidFill>
          <a:ln w="19050">
            <a:solidFill>
              <a:srgbClr val="FECACA"/>
            </a:solidFill>
            <a:prstDash val="solid"/>
          </a:ln>
        </p:spPr>
      </p:sp>
      <p:sp>
        <p:nvSpPr>
          <p:cNvPr id="14" name="Shape 12"/>
          <p:cNvSpPr/>
          <p:nvPr/>
        </p:nvSpPr>
        <p:spPr>
          <a:xfrm>
            <a:off x="6217920" y="1325880"/>
            <a:ext cx="5242255" cy="640080"/>
          </a:xfrm>
          <a:prstGeom prst="roundRect">
            <a:avLst>
              <a:gd name="adj" fmla="val 17143"/>
            </a:avLst>
          </a:prstGeom>
          <a:solidFill>
            <a:srgbClr val="DC2626"/>
          </a:solidFill>
          <a:ln w="12700">
            <a:solidFill>
              <a:srgbClr val="DC2626"/>
            </a:solidFill>
            <a:prstDash val="solid"/>
          </a:ln>
        </p:spPr>
      </p:sp>
      <p:sp>
        <p:nvSpPr>
          <p:cNvPr id="15" name="Text 13"/>
          <p:cNvSpPr/>
          <p:nvPr/>
        </p:nvSpPr>
        <p:spPr>
          <a:xfrm>
            <a:off x="6492240" y="1325880"/>
            <a:ext cx="4693615" cy="640080"/>
          </a:xfrm>
          <a:prstGeom prst="rect">
            <a:avLst/>
          </a:prstGeom>
          <a:noFill/>
          <a:ln/>
        </p:spPr>
        <p:txBody>
          <a:bodyPr wrap="square" rtlCol="0" anchor="ctr"/>
          <a:lstStyle/>
          <a:p>
            <a:pPr indent="0" marL="0">
              <a:buNone/>
            </a:pPr>
            <a:r>
              <a:rPr lang="en-US" sz="1200" b="1" dirty="0">
                <a:solidFill>
                  <a:srgbClr val="FFFFFF"/>
                </a:solidFill>
                <a:latin typeface="Segoe UI" pitchFamily="34" charset="0"/>
                <a:ea typeface="Segoe UI" pitchFamily="34" charset="-122"/>
                <a:cs typeface="Segoe UI" pitchFamily="34" charset="-120"/>
              </a:rPr>
              <a:t>THREAT 2: PUBLIC PORT SCANNING &amp; RANSOMWARE</a:t>
            </a:r>
            <a:endParaRPr lang="en-US" sz="1200" dirty="0"/>
          </a:p>
        </p:txBody>
      </p:sp>
      <p:sp>
        <p:nvSpPr>
          <p:cNvPr id="16" name="Shape 14"/>
          <p:cNvSpPr/>
          <p:nvPr/>
        </p:nvSpPr>
        <p:spPr>
          <a:xfrm>
            <a:off x="6492240" y="2148840"/>
            <a:ext cx="4693615" cy="1828800"/>
          </a:xfrm>
          <a:prstGeom prst="roundRect">
            <a:avLst>
              <a:gd name="adj" fmla="val 4000"/>
            </a:avLst>
          </a:prstGeom>
          <a:solidFill>
            <a:srgbClr val="F8FAFC"/>
          </a:solidFill>
          <a:ln w="12700">
            <a:solidFill>
              <a:srgbClr val="E2E8F0"/>
            </a:solidFill>
            <a:prstDash val="solid"/>
          </a:ln>
        </p:spPr>
      </p:sp>
      <p:sp>
        <p:nvSpPr>
          <p:cNvPr id="17" name="Text 15"/>
          <p:cNvSpPr/>
          <p:nvPr/>
        </p:nvSpPr>
        <p:spPr>
          <a:xfrm>
            <a:off x="6675120" y="2240280"/>
            <a:ext cx="4327855" cy="1645920"/>
          </a:xfrm>
          <a:prstGeom prst="rect">
            <a:avLst/>
          </a:prstGeom>
          <a:noFill/>
          <a:ln/>
        </p:spPr>
        <p:txBody>
          <a:bodyPr wrap="square" rtlCol="0" anchor="ctr"/>
          <a:lstStyle/>
          <a:p>
            <a:pPr indent="0" marL="0">
              <a:lnSpc>
                <a:spcPct val="120000"/>
              </a:lnSpc>
              <a:buNone/>
            </a:pPr>
            <a:r>
              <a:rPr lang="en-US" sz="950" dirty="0">
                <a:solidFill>
                  <a:srgbClr val="0F172A"/>
                </a:solidFill>
                <a:latin typeface="Segoe UI" pitchFamily="34" charset="0"/>
                <a:ea typeface="Segoe UI" pitchFamily="34" charset="-122"/>
                <a:cs typeface="Segoe UI" pitchFamily="34" charset="-120"/>
              </a:rPr>
              <a:t>HOW THE ATTACK WORKS:</a:t>
            </a:r>
            <a:endParaRPr lang="en-US" sz="950" dirty="0"/>
          </a:p>
          <a:p>
            <a:pPr indent="0" marL="0">
              <a:lnSpc>
                <a:spcPct val="120000"/>
              </a:lnSpc>
              <a:buNone/>
            </a:pPr>
            <a:r>
              <a:rPr lang="en-US" sz="950" dirty="0">
                <a:solidFill>
                  <a:srgbClr val="0F172A"/>
                </a:solidFill>
                <a:latin typeface="Segoe UI" pitchFamily="34" charset="0"/>
                <a:ea typeface="Segoe UI" pitchFamily="34" charset="-122"/>
                <a:cs typeface="Segoe UI" pitchFamily="34" charset="-120"/>
              </a:rPr>
              <a:t>Automated hacker botnets scan millions of public IP addresses on standard database ports: Port 5432 (PostgreSQL), Port 3306 (MySQL), and Port 27017 (MongoDB). Databases left accessible to '0.0.0.0/0' (all IPs) are probed for weak or default passwords.</a:t>
            </a:r>
            <a:endParaRPr lang="en-US" sz="950" dirty="0"/>
          </a:p>
        </p:txBody>
      </p:sp>
      <p:sp>
        <p:nvSpPr>
          <p:cNvPr id="18" name="Shape 16"/>
          <p:cNvSpPr/>
          <p:nvPr/>
        </p:nvSpPr>
        <p:spPr>
          <a:xfrm>
            <a:off x="6492240" y="4160520"/>
            <a:ext cx="4693615" cy="1828800"/>
          </a:xfrm>
          <a:prstGeom prst="roundRect">
            <a:avLst>
              <a:gd name="adj" fmla="val 4000"/>
            </a:avLst>
          </a:prstGeom>
          <a:solidFill>
            <a:srgbClr val="FEF2F2"/>
          </a:solidFill>
          <a:ln w="12700">
            <a:solidFill>
              <a:srgbClr val="FECACA"/>
            </a:solidFill>
            <a:prstDash val="solid"/>
          </a:ln>
        </p:spPr>
      </p:sp>
      <p:sp>
        <p:nvSpPr>
          <p:cNvPr id="19" name="Text 17"/>
          <p:cNvSpPr/>
          <p:nvPr/>
        </p:nvSpPr>
        <p:spPr>
          <a:xfrm>
            <a:off x="6675120" y="4251960"/>
            <a:ext cx="4327855" cy="1645920"/>
          </a:xfrm>
          <a:prstGeom prst="rect">
            <a:avLst/>
          </a:prstGeom>
          <a:noFill/>
          <a:ln/>
        </p:spPr>
        <p:txBody>
          <a:bodyPr wrap="square" rtlCol="0" anchor="ctr"/>
          <a:lstStyle/>
          <a:p>
            <a:pPr indent="0" marL="0">
              <a:lnSpc>
                <a:spcPct val="120000"/>
              </a:lnSpc>
              <a:buNone/>
            </a:pPr>
            <a:r>
              <a:rPr lang="en-US" sz="950" dirty="0">
                <a:solidFill>
                  <a:srgbClr val="991B1B"/>
                </a:solidFill>
                <a:latin typeface="Segoe UI" pitchFamily="34" charset="0"/>
                <a:ea typeface="Segoe UI" pitchFamily="34" charset="-122"/>
                <a:cs typeface="Segoe UI" pitchFamily="34" charset="-120"/>
              </a:rPr>
              <a:t>POTENTIAL DAMAGE:</a:t>
            </a:r>
            <a:endParaRPr lang="en-US" sz="950" dirty="0"/>
          </a:p>
          <a:p>
            <a:pPr indent="0" marL="0">
              <a:lnSpc>
                <a:spcPct val="120000"/>
              </a:lnSpc>
              <a:buNone/>
            </a:pPr>
            <a:r>
              <a:rPr lang="en-US" sz="950" dirty="0">
                <a:solidFill>
                  <a:srgbClr val="991B1B"/>
                </a:solidFill>
                <a:latin typeface="Segoe UI" pitchFamily="34" charset="0"/>
                <a:ea typeface="Segoe UI" pitchFamily="34" charset="-122"/>
                <a:cs typeface="Segoe UI" pitchFamily="34" charset="-120"/>
              </a:rPr>
              <a:t>• Automated scripts wipe the database and leave a ransom note in under 15 minutes.</a:t>
            </a:r>
            <a:endParaRPr lang="en-US" sz="950" dirty="0"/>
          </a:p>
          <a:p>
            <a:pPr indent="0" marL="0">
              <a:lnSpc>
                <a:spcPct val="120000"/>
              </a:lnSpc>
              <a:buNone/>
            </a:pPr>
            <a:r>
              <a:rPr lang="en-US" sz="950" dirty="0">
                <a:solidFill>
                  <a:srgbClr val="991B1B"/>
                </a:solidFill>
                <a:latin typeface="Segoe UI" pitchFamily="34" charset="0"/>
                <a:ea typeface="Segoe UI" pitchFamily="34" charset="-122"/>
                <a:cs typeface="Segoe UI" pitchFamily="34" charset="-120"/>
              </a:rPr>
              <a:t>• Stolen credentials sold on dark web forums.</a:t>
            </a:r>
            <a:endParaRPr lang="en-US" sz="950" dirty="0"/>
          </a:p>
          <a:p>
            <a:pPr indent="0" marL="0">
              <a:lnSpc>
                <a:spcPct val="120000"/>
              </a:lnSpc>
              <a:buNone/>
            </a:pPr>
            <a:r>
              <a:rPr lang="en-US" sz="950" dirty="0">
                <a:solidFill>
                  <a:srgbClr val="991B1B"/>
                </a:solidFill>
                <a:latin typeface="Segoe UI" pitchFamily="34" charset="0"/>
                <a:ea typeface="Segoe UI" pitchFamily="34" charset="-122"/>
                <a:cs typeface="Segoe UI" pitchFamily="34" charset="-120"/>
              </a:rPr>
              <a:t>• Total loss of business continuity and client trust.</a:t>
            </a:r>
            <a:endParaRPr lang="en-US" sz="950" dirty="0"/>
          </a:p>
        </p:txBody>
      </p:sp>
      <p:sp>
        <p:nvSpPr>
          <p:cNvPr id="20" name="Shape 18"/>
          <p:cNvSpPr/>
          <p:nvPr/>
        </p:nvSpPr>
        <p:spPr>
          <a:xfrm>
            <a:off x="731520" y="6355080"/>
            <a:ext cx="10728655" cy="18288"/>
          </a:xfrm>
          <a:prstGeom prst="rect">
            <a:avLst/>
          </a:prstGeom>
          <a:solidFill>
            <a:srgbClr val="E2E8F0"/>
          </a:solidFill>
          <a:ln/>
        </p:spPr>
      </p:sp>
      <p:sp>
        <p:nvSpPr>
          <p:cNvPr id="21" name="Text 19"/>
          <p:cNvSpPr/>
          <p:nvPr/>
        </p:nvSpPr>
        <p:spPr>
          <a:xfrm>
            <a:off x="731520" y="6419088"/>
            <a:ext cx="7772400" cy="27432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CONFIDENTIAL &amp; PROPRIETARY | Enterprise Cloud Database Evaluation &amp; Advisory</a:t>
            </a:r>
            <a:endParaRPr lang="en-US" sz="850" dirty="0"/>
          </a:p>
        </p:txBody>
      </p:sp>
      <p:sp>
        <p:nvSpPr>
          <p:cNvPr id="22" name="Text 20"/>
          <p:cNvSpPr/>
          <p:nvPr/>
        </p:nvSpPr>
        <p:spPr>
          <a:xfrm>
            <a:off x="9631375" y="6419088"/>
            <a:ext cx="1828800" cy="274320"/>
          </a:xfrm>
          <a:prstGeom prst="rect">
            <a:avLst/>
          </a:prstGeom>
          <a:noFill/>
          <a:ln/>
        </p:spPr>
        <p:txBody>
          <a:bodyPr wrap="square" rtlCol="0" anchor="ctr"/>
          <a:lstStyle/>
          <a:p>
            <a:pPr algn="r" indent="0" marL="0">
              <a:buNone/>
            </a:pPr>
            <a:r>
              <a:rPr lang="en-US" sz="850" dirty="0">
                <a:solidFill>
                  <a:srgbClr val="94A3B8"/>
                </a:solidFill>
                <a:latin typeface="Segoe UI" pitchFamily="34" charset="0"/>
                <a:ea typeface="Segoe UI" pitchFamily="34" charset="-122"/>
                <a:cs typeface="Segoe UI" pitchFamily="34" charset="-120"/>
              </a:rPr>
              <a:t>Slide 6 of 17</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p:spPr>
      </p:sp>
      <p:sp>
        <p:nvSpPr>
          <p:cNvPr id="3" name="Shape 1"/>
          <p:cNvSpPr/>
          <p:nvPr/>
        </p:nvSpPr>
        <p:spPr>
          <a:xfrm>
            <a:off x="731520" y="320040"/>
            <a:ext cx="2286000" cy="274320"/>
          </a:xfrm>
          <a:prstGeom prst="roundRect">
            <a:avLst>
              <a:gd name="adj" fmla="val 26667"/>
            </a:avLst>
          </a:prstGeom>
          <a:solidFill>
            <a:srgbClr val="EFF6FF"/>
          </a:solidFill>
          <a:ln w="12700">
            <a:solidFill>
              <a:srgbClr val="BFDBFE"/>
            </a:solidFill>
            <a:prstDash val="solid"/>
          </a:ln>
        </p:spPr>
      </p:sp>
      <p:sp>
        <p:nvSpPr>
          <p:cNvPr id="4" name="Text 2"/>
          <p:cNvSpPr/>
          <p:nvPr/>
        </p:nvSpPr>
        <p:spPr>
          <a:xfrm>
            <a:off x="731520" y="320040"/>
            <a:ext cx="2286000" cy="274320"/>
          </a:xfrm>
          <a:prstGeom prst="rect">
            <a:avLst/>
          </a:prstGeom>
          <a:noFill/>
          <a:ln/>
        </p:spPr>
        <p:txBody>
          <a:bodyPr wrap="square" rtlCol="0" anchor="ctr"/>
          <a:lstStyle/>
          <a:p>
            <a:pPr algn="ctr" indent="0" marL="0">
              <a:buNone/>
            </a:pPr>
            <a:r>
              <a:rPr lang="en-US" sz="900" b="1" dirty="0">
                <a:solidFill>
                  <a:srgbClr val="1D4ED8"/>
                </a:solidFill>
                <a:latin typeface="Segoe UI" pitchFamily="34" charset="0"/>
                <a:ea typeface="Segoe UI" pitchFamily="34" charset="-122"/>
                <a:cs typeface="Segoe UI" pitchFamily="34" charset="-120"/>
              </a:rPr>
              <a:t>HACKER THREAT LANDSCAPE (2/2)</a:t>
            </a:r>
            <a:endParaRPr lang="en-US" sz="900" dirty="0"/>
          </a:p>
        </p:txBody>
      </p:sp>
      <p:sp>
        <p:nvSpPr>
          <p:cNvPr id="5" name="Text 3"/>
          <p:cNvSpPr/>
          <p:nvPr/>
        </p:nvSpPr>
        <p:spPr>
          <a:xfrm>
            <a:off x="731520" y="658368"/>
            <a:ext cx="10728655" cy="502920"/>
          </a:xfrm>
          <a:prstGeom prst="rect">
            <a:avLst/>
          </a:prstGeom>
          <a:noFill/>
          <a:ln/>
        </p:spPr>
        <p:txBody>
          <a:bodyPr wrap="square" rtlCol="0" anchor="ctr"/>
          <a:lstStyle/>
          <a:p>
            <a:pPr indent="0" marL="0">
              <a:buNone/>
            </a:pPr>
            <a:r>
              <a:rPr lang="en-US" sz="2100" b="1" dirty="0">
                <a:solidFill>
                  <a:srgbClr val="0A0F1D"/>
                </a:solidFill>
                <a:latin typeface="Segoe UI" pitchFamily="34" charset="0"/>
                <a:ea typeface="Segoe UI" pitchFamily="34" charset="-122"/>
                <a:cs typeface="Segoe UI" pitchFamily="34" charset="-120"/>
              </a:rPr>
              <a:t>Data Security in Hacker's Eye: Leaked Keys &amp; Eavesdropping</a:t>
            </a:r>
            <a:endParaRPr lang="en-US" sz="2100" dirty="0"/>
          </a:p>
        </p:txBody>
      </p:sp>
      <p:sp>
        <p:nvSpPr>
          <p:cNvPr id="6" name="Shape 4"/>
          <p:cNvSpPr/>
          <p:nvPr/>
        </p:nvSpPr>
        <p:spPr>
          <a:xfrm>
            <a:off x="731520" y="1325880"/>
            <a:ext cx="5242255" cy="4846320"/>
          </a:xfrm>
          <a:prstGeom prst="roundRect">
            <a:avLst>
              <a:gd name="adj" fmla="val 2264"/>
            </a:avLst>
          </a:prstGeom>
          <a:solidFill>
            <a:srgbClr val="FFFFFF"/>
          </a:solidFill>
          <a:ln w="19050">
            <a:solidFill>
              <a:srgbClr val="FECACA"/>
            </a:solidFill>
            <a:prstDash val="solid"/>
          </a:ln>
        </p:spPr>
      </p:sp>
      <p:sp>
        <p:nvSpPr>
          <p:cNvPr id="7" name="Shape 5"/>
          <p:cNvSpPr/>
          <p:nvPr/>
        </p:nvSpPr>
        <p:spPr>
          <a:xfrm>
            <a:off x="731520" y="1325880"/>
            <a:ext cx="5242255" cy="640080"/>
          </a:xfrm>
          <a:prstGeom prst="roundRect">
            <a:avLst>
              <a:gd name="adj" fmla="val 17143"/>
            </a:avLst>
          </a:prstGeom>
          <a:solidFill>
            <a:srgbClr val="DC2626"/>
          </a:solidFill>
          <a:ln w="12700">
            <a:solidFill>
              <a:srgbClr val="DC2626"/>
            </a:solidFill>
            <a:prstDash val="solid"/>
          </a:ln>
        </p:spPr>
      </p:sp>
      <p:sp>
        <p:nvSpPr>
          <p:cNvPr id="8" name="Text 6"/>
          <p:cNvSpPr/>
          <p:nvPr/>
        </p:nvSpPr>
        <p:spPr>
          <a:xfrm>
            <a:off x="1005840" y="1325880"/>
            <a:ext cx="4693615" cy="640080"/>
          </a:xfrm>
          <a:prstGeom prst="rect">
            <a:avLst/>
          </a:prstGeom>
          <a:noFill/>
          <a:ln/>
        </p:spPr>
        <p:txBody>
          <a:bodyPr wrap="square" rtlCol="0" anchor="ctr"/>
          <a:lstStyle/>
          <a:p>
            <a:pPr indent="0" marL="0">
              <a:buNone/>
            </a:pPr>
            <a:r>
              <a:rPr lang="en-US" sz="1200" b="1" dirty="0">
                <a:solidFill>
                  <a:srgbClr val="FFFFFF"/>
                </a:solidFill>
                <a:latin typeface="Segoe UI" pitchFamily="34" charset="0"/>
                <a:ea typeface="Segoe UI" pitchFamily="34" charset="-122"/>
                <a:cs typeface="Segoe UI" pitchFamily="34" charset="-120"/>
              </a:rPr>
              <a:t>THREAT 3: BROKEN AUTHORIZATION &amp; LEAKED KEYS</a:t>
            </a:r>
            <a:endParaRPr lang="en-US" sz="1200" dirty="0"/>
          </a:p>
        </p:txBody>
      </p:sp>
      <p:sp>
        <p:nvSpPr>
          <p:cNvPr id="9" name="Shape 7"/>
          <p:cNvSpPr/>
          <p:nvPr/>
        </p:nvSpPr>
        <p:spPr>
          <a:xfrm>
            <a:off x="1005840" y="2148840"/>
            <a:ext cx="4693615" cy="1828800"/>
          </a:xfrm>
          <a:prstGeom prst="roundRect">
            <a:avLst>
              <a:gd name="adj" fmla="val 4000"/>
            </a:avLst>
          </a:prstGeom>
          <a:solidFill>
            <a:srgbClr val="F8FAFC"/>
          </a:solidFill>
          <a:ln w="12700">
            <a:solidFill>
              <a:srgbClr val="E2E8F0"/>
            </a:solidFill>
            <a:prstDash val="solid"/>
          </a:ln>
        </p:spPr>
      </p:sp>
      <p:sp>
        <p:nvSpPr>
          <p:cNvPr id="10" name="Text 8"/>
          <p:cNvSpPr/>
          <p:nvPr/>
        </p:nvSpPr>
        <p:spPr>
          <a:xfrm>
            <a:off x="1188720" y="2240280"/>
            <a:ext cx="4327855" cy="1645920"/>
          </a:xfrm>
          <a:prstGeom prst="rect">
            <a:avLst/>
          </a:prstGeom>
          <a:noFill/>
          <a:ln/>
        </p:spPr>
        <p:txBody>
          <a:bodyPr wrap="square" rtlCol="0" anchor="ctr"/>
          <a:lstStyle/>
          <a:p>
            <a:pPr indent="0" marL="0">
              <a:lnSpc>
                <a:spcPct val="120000"/>
              </a:lnSpc>
              <a:buNone/>
            </a:pPr>
            <a:r>
              <a:rPr lang="en-US" sz="950" dirty="0">
                <a:solidFill>
                  <a:srgbClr val="0F172A"/>
                </a:solidFill>
                <a:latin typeface="Segoe UI" pitchFamily="34" charset="0"/>
                <a:ea typeface="Segoe UI" pitchFamily="34" charset="-122"/>
                <a:cs typeface="Segoe UI" pitchFamily="34" charset="-120"/>
              </a:rPr>
              <a:t>HOW THE ATTACK WORKS:</a:t>
            </a:r>
            <a:endParaRPr lang="en-US" sz="950" dirty="0"/>
          </a:p>
          <a:p>
            <a:pPr indent="0" marL="0">
              <a:lnSpc>
                <a:spcPct val="120000"/>
              </a:lnSpc>
              <a:buNone/>
            </a:pPr>
            <a:r>
              <a:rPr lang="en-US" sz="950" dirty="0">
                <a:solidFill>
                  <a:srgbClr val="0F172A"/>
                </a:solidFill>
                <a:latin typeface="Segoe UI" pitchFamily="34" charset="0"/>
                <a:ea typeface="Segoe UI" pitchFamily="34" charset="-122"/>
                <a:cs typeface="Segoe UI" pitchFamily="34" charset="-120"/>
              </a:rPr>
              <a:t>Developers frequently make the mistake of hardcoding database passwords, service role keys, or connection strings into mobile apps or frontend JavaScript files. Attackers inspect the page source code or decompile APKs to extract raw database credentials.</a:t>
            </a:r>
            <a:endParaRPr lang="en-US" sz="950" dirty="0"/>
          </a:p>
        </p:txBody>
      </p:sp>
      <p:sp>
        <p:nvSpPr>
          <p:cNvPr id="11" name="Shape 9"/>
          <p:cNvSpPr/>
          <p:nvPr/>
        </p:nvSpPr>
        <p:spPr>
          <a:xfrm>
            <a:off x="1005840" y="4160520"/>
            <a:ext cx="4693615" cy="1828800"/>
          </a:xfrm>
          <a:prstGeom prst="roundRect">
            <a:avLst>
              <a:gd name="adj" fmla="val 4000"/>
            </a:avLst>
          </a:prstGeom>
          <a:solidFill>
            <a:srgbClr val="FEF2F2"/>
          </a:solidFill>
          <a:ln w="12700">
            <a:solidFill>
              <a:srgbClr val="FECACA"/>
            </a:solidFill>
            <a:prstDash val="solid"/>
          </a:ln>
        </p:spPr>
      </p:sp>
      <p:sp>
        <p:nvSpPr>
          <p:cNvPr id="12" name="Text 10"/>
          <p:cNvSpPr/>
          <p:nvPr/>
        </p:nvSpPr>
        <p:spPr>
          <a:xfrm>
            <a:off x="1188720" y="4251960"/>
            <a:ext cx="4327855" cy="1645920"/>
          </a:xfrm>
          <a:prstGeom prst="rect">
            <a:avLst/>
          </a:prstGeom>
          <a:noFill/>
          <a:ln/>
        </p:spPr>
        <p:txBody>
          <a:bodyPr wrap="square" rtlCol="0" anchor="ctr"/>
          <a:lstStyle/>
          <a:p>
            <a:pPr indent="0" marL="0">
              <a:lnSpc>
                <a:spcPct val="120000"/>
              </a:lnSpc>
              <a:buNone/>
            </a:pPr>
            <a:r>
              <a:rPr lang="en-US" sz="950" dirty="0">
                <a:solidFill>
                  <a:srgbClr val="991B1B"/>
                </a:solidFill>
                <a:latin typeface="Segoe UI" pitchFamily="34" charset="0"/>
                <a:ea typeface="Segoe UI" pitchFamily="34" charset="-122"/>
                <a:cs typeface="Segoe UI" pitchFamily="34" charset="-120"/>
              </a:rPr>
              <a:t>POTENTIAL DAMAGE:</a:t>
            </a:r>
            <a:endParaRPr lang="en-US" sz="950" dirty="0"/>
          </a:p>
          <a:p>
            <a:pPr indent="0" marL="0">
              <a:lnSpc>
                <a:spcPct val="120000"/>
              </a:lnSpc>
              <a:buNone/>
            </a:pPr>
            <a:r>
              <a:rPr lang="en-US" sz="950" dirty="0">
                <a:solidFill>
                  <a:srgbClr val="991B1B"/>
                </a:solidFill>
                <a:latin typeface="Segoe UI" pitchFamily="34" charset="0"/>
                <a:ea typeface="Segoe UI" pitchFamily="34" charset="-122"/>
                <a:cs typeface="Segoe UI" pitchFamily="34" charset="-120"/>
              </a:rPr>
              <a:t>• Attackers bypass all frontend login screens and query database tables directly.</a:t>
            </a:r>
            <a:endParaRPr lang="en-US" sz="950" dirty="0"/>
          </a:p>
          <a:p>
            <a:pPr indent="0" marL="0">
              <a:lnSpc>
                <a:spcPct val="120000"/>
              </a:lnSpc>
              <a:buNone/>
            </a:pPr>
            <a:r>
              <a:rPr lang="en-US" sz="950" dirty="0">
                <a:solidFill>
                  <a:srgbClr val="991B1B"/>
                </a:solidFill>
                <a:latin typeface="Segoe UI" pitchFamily="34" charset="0"/>
                <a:ea typeface="Segoe UI" pitchFamily="34" charset="-122"/>
                <a:cs typeface="Segoe UI" pitchFamily="34" charset="-120"/>
              </a:rPr>
              <a:t>• Users can modify other users' profiles, balances, or private documents.</a:t>
            </a:r>
            <a:endParaRPr lang="en-US" sz="950" dirty="0"/>
          </a:p>
          <a:p>
            <a:pPr indent="0" marL="0">
              <a:lnSpc>
                <a:spcPct val="120000"/>
              </a:lnSpc>
              <a:buNone/>
            </a:pPr>
            <a:r>
              <a:rPr lang="en-US" sz="950" dirty="0">
                <a:solidFill>
                  <a:srgbClr val="991B1B"/>
                </a:solidFill>
                <a:latin typeface="Segoe UI" pitchFamily="34" charset="0"/>
                <a:ea typeface="Segoe UI" pitchFamily="34" charset="-122"/>
                <a:cs typeface="Segoe UI" pitchFamily="34" charset="-120"/>
              </a:rPr>
              <a:t>• Mass breach without triggering standard login alerts.</a:t>
            </a:r>
            <a:endParaRPr lang="en-US" sz="950" dirty="0"/>
          </a:p>
        </p:txBody>
      </p:sp>
      <p:sp>
        <p:nvSpPr>
          <p:cNvPr id="13" name="Shape 11"/>
          <p:cNvSpPr/>
          <p:nvPr/>
        </p:nvSpPr>
        <p:spPr>
          <a:xfrm>
            <a:off x="6217920" y="1325880"/>
            <a:ext cx="5242255" cy="4846320"/>
          </a:xfrm>
          <a:prstGeom prst="roundRect">
            <a:avLst>
              <a:gd name="adj" fmla="val 2264"/>
            </a:avLst>
          </a:prstGeom>
          <a:solidFill>
            <a:srgbClr val="FFFFFF"/>
          </a:solidFill>
          <a:ln w="19050">
            <a:solidFill>
              <a:srgbClr val="FECACA"/>
            </a:solidFill>
            <a:prstDash val="solid"/>
          </a:ln>
        </p:spPr>
      </p:sp>
      <p:sp>
        <p:nvSpPr>
          <p:cNvPr id="14" name="Shape 12"/>
          <p:cNvSpPr/>
          <p:nvPr/>
        </p:nvSpPr>
        <p:spPr>
          <a:xfrm>
            <a:off x="6217920" y="1325880"/>
            <a:ext cx="5242255" cy="640080"/>
          </a:xfrm>
          <a:prstGeom prst="roundRect">
            <a:avLst>
              <a:gd name="adj" fmla="val 17143"/>
            </a:avLst>
          </a:prstGeom>
          <a:solidFill>
            <a:srgbClr val="DC2626"/>
          </a:solidFill>
          <a:ln w="12700">
            <a:solidFill>
              <a:srgbClr val="DC2626"/>
            </a:solidFill>
            <a:prstDash val="solid"/>
          </a:ln>
        </p:spPr>
      </p:sp>
      <p:sp>
        <p:nvSpPr>
          <p:cNvPr id="15" name="Text 13"/>
          <p:cNvSpPr/>
          <p:nvPr/>
        </p:nvSpPr>
        <p:spPr>
          <a:xfrm>
            <a:off x="6492240" y="1325880"/>
            <a:ext cx="4693615" cy="640080"/>
          </a:xfrm>
          <a:prstGeom prst="rect">
            <a:avLst/>
          </a:prstGeom>
          <a:noFill/>
          <a:ln/>
        </p:spPr>
        <p:txBody>
          <a:bodyPr wrap="square" rtlCol="0" anchor="ctr"/>
          <a:lstStyle/>
          <a:p>
            <a:pPr indent="0" marL="0">
              <a:buNone/>
            </a:pPr>
            <a:r>
              <a:rPr lang="en-US" sz="1200" b="1" dirty="0">
                <a:solidFill>
                  <a:srgbClr val="FFFFFF"/>
                </a:solidFill>
                <a:latin typeface="Segoe UI" pitchFamily="34" charset="0"/>
                <a:ea typeface="Segoe UI" pitchFamily="34" charset="-122"/>
                <a:cs typeface="Segoe UI" pitchFamily="34" charset="-120"/>
              </a:rPr>
              <a:t>THREAT 4: NETWORK MAN-IN-THE-MIDDLE (EAVESDROPPING)</a:t>
            </a:r>
            <a:endParaRPr lang="en-US" sz="1200" dirty="0"/>
          </a:p>
        </p:txBody>
      </p:sp>
      <p:sp>
        <p:nvSpPr>
          <p:cNvPr id="16" name="Shape 14"/>
          <p:cNvSpPr/>
          <p:nvPr/>
        </p:nvSpPr>
        <p:spPr>
          <a:xfrm>
            <a:off x="6492240" y="2148840"/>
            <a:ext cx="4693615" cy="1828800"/>
          </a:xfrm>
          <a:prstGeom prst="roundRect">
            <a:avLst>
              <a:gd name="adj" fmla="val 4000"/>
            </a:avLst>
          </a:prstGeom>
          <a:solidFill>
            <a:srgbClr val="F8FAFC"/>
          </a:solidFill>
          <a:ln w="12700">
            <a:solidFill>
              <a:srgbClr val="E2E8F0"/>
            </a:solidFill>
            <a:prstDash val="solid"/>
          </a:ln>
        </p:spPr>
      </p:sp>
      <p:sp>
        <p:nvSpPr>
          <p:cNvPr id="17" name="Text 15"/>
          <p:cNvSpPr/>
          <p:nvPr/>
        </p:nvSpPr>
        <p:spPr>
          <a:xfrm>
            <a:off x="6675120" y="2240280"/>
            <a:ext cx="4327855" cy="1645920"/>
          </a:xfrm>
          <a:prstGeom prst="rect">
            <a:avLst/>
          </a:prstGeom>
          <a:noFill/>
          <a:ln/>
        </p:spPr>
        <p:txBody>
          <a:bodyPr wrap="square" rtlCol="0" anchor="ctr"/>
          <a:lstStyle/>
          <a:p>
            <a:pPr indent="0" marL="0">
              <a:lnSpc>
                <a:spcPct val="120000"/>
              </a:lnSpc>
              <a:buNone/>
            </a:pPr>
            <a:r>
              <a:rPr lang="en-US" sz="950" dirty="0">
                <a:solidFill>
                  <a:srgbClr val="0F172A"/>
                </a:solidFill>
                <a:latin typeface="Segoe UI" pitchFamily="34" charset="0"/>
                <a:ea typeface="Segoe UI" pitchFamily="34" charset="-122"/>
                <a:cs typeface="Segoe UI" pitchFamily="34" charset="-120"/>
              </a:rPr>
              <a:t>HOW THE ATTACK WORKS:</a:t>
            </a:r>
            <a:endParaRPr lang="en-US" sz="950" dirty="0"/>
          </a:p>
          <a:p>
            <a:pPr indent="0" marL="0">
              <a:lnSpc>
                <a:spcPct val="120000"/>
              </a:lnSpc>
              <a:buNone/>
            </a:pPr>
            <a:r>
              <a:rPr lang="en-US" sz="950" dirty="0">
                <a:solidFill>
                  <a:srgbClr val="0F172A"/>
                </a:solidFill>
                <a:latin typeface="Segoe UI" pitchFamily="34" charset="0"/>
                <a:ea typeface="Segoe UI" pitchFamily="34" charset="-122"/>
                <a:cs typeface="Segoe UI" pitchFamily="34" charset="-120"/>
              </a:rPr>
              <a:t>When traffic between the application and database travels without strict SSL/TLS encryption, hackers sitting on public Wi-Fi networks, ISP routers, or compromised proxies capture unencrypted data packets using network packet sniffers (Wireshark).</a:t>
            </a:r>
            <a:endParaRPr lang="en-US" sz="950" dirty="0"/>
          </a:p>
        </p:txBody>
      </p:sp>
      <p:sp>
        <p:nvSpPr>
          <p:cNvPr id="18" name="Shape 16"/>
          <p:cNvSpPr/>
          <p:nvPr/>
        </p:nvSpPr>
        <p:spPr>
          <a:xfrm>
            <a:off x="6492240" y="4160520"/>
            <a:ext cx="4693615" cy="1828800"/>
          </a:xfrm>
          <a:prstGeom prst="roundRect">
            <a:avLst>
              <a:gd name="adj" fmla="val 4000"/>
            </a:avLst>
          </a:prstGeom>
          <a:solidFill>
            <a:srgbClr val="FEF2F2"/>
          </a:solidFill>
          <a:ln w="12700">
            <a:solidFill>
              <a:srgbClr val="FECACA"/>
            </a:solidFill>
            <a:prstDash val="solid"/>
          </a:ln>
        </p:spPr>
      </p:sp>
      <p:sp>
        <p:nvSpPr>
          <p:cNvPr id="19" name="Text 17"/>
          <p:cNvSpPr/>
          <p:nvPr/>
        </p:nvSpPr>
        <p:spPr>
          <a:xfrm>
            <a:off x="6675120" y="4251960"/>
            <a:ext cx="4327855" cy="1645920"/>
          </a:xfrm>
          <a:prstGeom prst="rect">
            <a:avLst/>
          </a:prstGeom>
          <a:noFill/>
          <a:ln/>
        </p:spPr>
        <p:txBody>
          <a:bodyPr wrap="square" rtlCol="0" anchor="ctr"/>
          <a:lstStyle/>
          <a:p>
            <a:pPr indent="0" marL="0">
              <a:lnSpc>
                <a:spcPct val="120000"/>
              </a:lnSpc>
              <a:buNone/>
            </a:pPr>
            <a:r>
              <a:rPr lang="en-US" sz="950" dirty="0">
                <a:solidFill>
                  <a:srgbClr val="991B1B"/>
                </a:solidFill>
                <a:latin typeface="Segoe UI" pitchFamily="34" charset="0"/>
                <a:ea typeface="Segoe UI" pitchFamily="34" charset="-122"/>
                <a:cs typeface="Segoe UI" pitchFamily="34" charset="-120"/>
              </a:rPr>
              <a:t>POTENTIAL DAMAGE:</a:t>
            </a:r>
            <a:endParaRPr lang="en-US" sz="950" dirty="0"/>
          </a:p>
          <a:p>
            <a:pPr indent="0" marL="0">
              <a:lnSpc>
                <a:spcPct val="120000"/>
              </a:lnSpc>
              <a:buNone/>
            </a:pPr>
            <a:r>
              <a:rPr lang="en-US" sz="950" dirty="0">
                <a:solidFill>
                  <a:srgbClr val="991B1B"/>
                </a:solidFill>
                <a:latin typeface="Segoe UI" pitchFamily="34" charset="0"/>
                <a:ea typeface="Segoe UI" pitchFamily="34" charset="-122"/>
                <a:cs typeface="Segoe UI" pitchFamily="34" charset="-120"/>
              </a:rPr>
              <a:t>• Plaintext passwords, credit card numbers, and session tokens stolen in transit.</a:t>
            </a:r>
            <a:endParaRPr lang="en-US" sz="950" dirty="0"/>
          </a:p>
          <a:p>
            <a:pPr indent="0" marL="0">
              <a:lnSpc>
                <a:spcPct val="120000"/>
              </a:lnSpc>
              <a:buNone/>
            </a:pPr>
            <a:r>
              <a:rPr lang="en-US" sz="950" dirty="0">
                <a:solidFill>
                  <a:srgbClr val="991B1B"/>
                </a:solidFill>
                <a:latin typeface="Segoe UI" pitchFamily="34" charset="0"/>
                <a:ea typeface="Segoe UI" pitchFamily="34" charset="-122"/>
                <a:cs typeface="Segoe UI" pitchFamily="34" charset="-120"/>
              </a:rPr>
              <a:t>• Attackers hijack live database sessions and inject fake data.</a:t>
            </a:r>
            <a:endParaRPr lang="en-US" sz="950" dirty="0"/>
          </a:p>
          <a:p>
            <a:pPr indent="0" marL="0">
              <a:lnSpc>
                <a:spcPct val="120000"/>
              </a:lnSpc>
              <a:buNone/>
            </a:pPr>
            <a:r>
              <a:rPr lang="en-US" sz="950" dirty="0">
                <a:solidFill>
                  <a:srgbClr val="991B1B"/>
                </a:solidFill>
                <a:latin typeface="Segoe UI" pitchFamily="34" charset="0"/>
                <a:ea typeface="Segoe UI" pitchFamily="34" charset="-122"/>
                <a:cs typeface="Segoe UI" pitchFamily="34" charset="-120"/>
              </a:rPr>
              <a:t>• Silent ongoing surveillance of client data flows.</a:t>
            </a:r>
            <a:endParaRPr lang="en-US" sz="950" dirty="0"/>
          </a:p>
        </p:txBody>
      </p:sp>
      <p:sp>
        <p:nvSpPr>
          <p:cNvPr id="20" name="Shape 18"/>
          <p:cNvSpPr/>
          <p:nvPr/>
        </p:nvSpPr>
        <p:spPr>
          <a:xfrm>
            <a:off x="731520" y="6355080"/>
            <a:ext cx="10728655" cy="18288"/>
          </a:xfrm>
          <a:prstGeom prst="rect">
            <a:avLst/>
          </a:prstGeom>
          <a:solidFill>
            <a:srgbClr val="E2E8F0"/>
          </a:solidFill>
          <a:ln/>
        </p:spPr>
      </p:sp>
      <p:sp>
        <p:nvSpPr>
          <p:cNvPr id="21" name="Text 19"/>
          <p:cNvSpPr/>
          <p:nvPr/>
        </p:nvSpPr>
        <p:spPr>
          <a:xfrm>
            <a:off x="731520" y="6419088"/>
            <a:ext cx="7772400" cy="27432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CONFIDENTIAL &amp; PROPRIETARY | Enterprise Cloud Database Evaluation &amp; Advisory</a:t>
            </a:r>
            <a:endParaRPr lang="en-US" sz="850" dirty="0"/>
          </a:p>
        </p:txBody>
      </p:sp>
      <p:sp>
        <p:nvSpPr>
          <p:cNvPr id="22" name="Text 20"/>
          <p:cNvSpPr/>
          <p:nvPr/>
        </p:nvSpPr>
        <p:spPr>
          <a:xfrm>
            <a:off x="9631375" y="6419088"/>
            <a:ext cx="1828800" cy="274320"/>
          </a:xfrm>
          <a:prstGeom prst="rect">
            <a:avLst/>
          </a:prstGeom>
          <a:noFill/>
          <a:ln/>
        </p:spPr>
        <p:txBody>
          <a:bodyPr wrap="square" rtlCol="0" anchor="ctr"/>
          <a:lstStyle/>
          <a:p>
            <a:pPr algn="r" indent="0" marL="0">
              <a:buNone/>
            </a:pPr>
            <a:r>
              <a:rPr lang="en-US" sz="850" dirty="0">
                <a:solidFill>
                  <a:srgbClr val="94A3B8"/>
                </a:solidFill>
                <a:latin typeface="Segoe UI" pitchFamily="34" charset="0"/>
                <a:ea typeface="Segoe UI" pitchFamily="34" charset="-122"/>
                <a:cs typeface="Segoe UI" pitchFamily="34" charset="-120"/>
              </a:rPr>
              <a:t>Slide 7 of 17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p:spPr>
      </p:sp>
      <p:sp>
        <p:nvSpPr>
          <p:cNvPr id="3" name="Shape 1"/>
          <p:cNvSpPr/>
          <p:nvPr/>
        </p:nvSpPr>
        <p:spPr>
          <a:xfrm>
            <a:off x="731520" y="320040"/>
            <a:ext cx="2286000" cy="274320"/>
          </a:xfrm>
          <a:prstGeom prst="roundRect">
            <a:avLst>
              <a:gd name="adj" fmla="val 26667"/>
            </a:avLst>
          </a:prstGeom>
          <a:solidFill>
            <a:srgbClr val="EFF6FF"/>
          </a:solidFill>
          <a:ln w="12700">
            <a:solidFill>
              <a:srgbClr val="BFDBFE"/>
            </a:solidFill>
            <a:prstDash val="solid"/>
          </a:ln>
        </p:spPr>
      </p:sp>
      <p:sp>
        <p:nvSpPr>
          <p:cNvPr id="4" name="Text 2"/>
          <p:cNvSpPr/>
          <p:nvPr/>
        </p:nvSpPr>
        <p:spPr>
          <a:xfrm>
            <a:off x="731520" y="320040"/>
            <a:ext cx="2286000" cy="274320"/>
          </a:xfrm>
          <a:prstGeom prst="rect">
            <a:avLst/>
          </a:prstGeom>
          <a:noFill/>
          <a:ln/>
        </p:spPr>
        <p:txBody>
          <a:bodyPr wrap="square" rtlCol="0" anchor="ctr"/>
          <a:lstStyle/>
          <a:p>
            <a:pPr algn="ctr" indent="0" marL="0">
              <a:buNone/>
            </a:pPr>
            <a:r>
              <a:rPr lang="en-US" sz="900" b="1" dirty="0">
                <a:solidFill>
                  <a:srgbClr val="1D4ED8"/>
                </a:solidFill>
                <a:latin typeface="Segoe UI" pitchFamily="34" charset="0"/>
                <a:ea typeface="Segoe UI" pitchFamily="34" charset="-122"/>
                <a:cs typeface="Segoe UI" pitchFamily="34" charset="-120"/>
              </a:rPr>
              <a:t>CYBER DEFENSE (1/2)</a:t>
            </a:r>
            <a:endParaRPr lang="en-US" sz="900" dirty="0"/>
          </a:p>
        </p:txBody>
      </p:sp>
      <p:sp>
        <p:nvSpPr>
          <p:cNvPr id="5" name="Text 3"/>
          <p:cNvSpPr/>
          <p:nvPr/>
        </p:nvSpPr>
        <p:spPr>
          <a:xfrm>
            <a:off x="731520" y="658368"/>
            <a:ext cx="10728655" cy="502920"/>
          </a:xfrm>
          <a:prstGeom prst="rect">
            <a:avLst/>
          </a:prstGeom>
          <a:noFill/>
          <a:ln/>
        </p:spPr>
        <p:txBody>
          <a:bodyPr wrap="square" rtlCol="0" anchor="ctr"/>
          <a:lstStyle/>
          <a:p>
            <a:pPr indent="0" marL="0">
              <a:buNone/>
            </a:pPr>
            <a:r>
              <a:rPr lang="en-US" sz="2100" b="1" dirty="0">
                <a:solidFill>
                  <a:srgbClr val="0A0F1D"/>
                </a:solidFill>
                <a:latin typeface="Segoe UI" pitchFamily="34" charset="0"/>
                <a:ea typeface="Segoe UI" pitchFamily="34" charset="-122"/>
                <a:cs typeface="Segoe UI" pitchFamily="34" charset="-120"/>
              </a:rPr>
              <a:t>Anti-Hacking Defenses: Supabase &amp; MongoDB Atlas</a:t>
            </a:r>
            <a:endParaRPr lang="en-US" sz="2100" dirty="0"/>
          </a:p>
        </p:txBody>
      </p:sp>
      <p:sp>
        <p:nvSpPr>
          <p:cNvPr id="6" name="Shape 4"/>
          <p:cNvSpPr/>
          <p:nvPr/>
        </p:nvSpPr>
        <p:spPr>
          <a:xfrm>
            <a:off x="731520" y="1325880"/>
            <a:ext cx="5242255" cy="4846320"/>
          </a:xfrm>
          <a:prstGeom prst="roundRect">
            <a:avLst>
              <a:gd name="adj" fmla="val 2264"/>
            </a:avLst>
          </a:prstGeom>
          <a:solidFill>
            <a:srgbClr val="FFFFFF"/>
          </a:solidFill>
          <a:ln w="15240">
            <a:solidFill>
              <a:srgbClr val="E2E8F0"/>
            </a:solidFill>
            <a:prstDash val="solid"/>
          </a:ln>
        </p:spPr>
      </p:sp>
      <p:sp>
        <p:nvSpPr>
          <p:cNvPr id="7" name="Shape 5"/>
          <p:cNvSpPr/>
          <p:nvPr/>
        </p:nvSpPr>
        <p:spPr>
          <a:xfrm>
            <a:off x="731520" y="1325880"/>
            <a:ext cx="5242255" cy="640080"/>
          </a:xfrm>
          <a:prstGeom prst="roundRect">
            <a:avLst>
              <a:gd name="adj" fmla="val 17143"/>
            </a:avLst>
          </a:prstGeom>
          <a:solidFill>
            <a:srgbClr val="059669"/>
          </a:solidFill>
          <a:ln w="12700">
            <a:solidFill>
              <a:srgbClr val="059669"/>
            </a:solidFill>
            <a:prstDash val="solid"/>
          </a:ln>
        </p:spPr>
      </p:sp>
      <p:sp>
        <p:nvSpPr>
          <p:cNvPr id="8" name="Text 6"/>
          <p:cNvSpPr/>
          <p:nvPr/>
        </p:nvSpPr>
        <p:spPr>
          <a:xfrm>
            <a:off x="1005840" y="1325880"/>
            <a:ext cx="4693615" cy="640080"/>
          </a:xfrm>
          <a:prstGeom prst="rect">
            <a:avLst/>
          </a:prstGeom>
          <a:noFill/>
          <a:ln/>
        </p:spPr>
        <p:txBody>
          <a:bodyPr wrap="square" rtlCol="0" anchor="ctr"/>
          <a:lstStyle/>
          <a:p>
            <a:pPr indent="0" marL="0">
              <a:buNone/>
            </a:pPr>
            <a:r>
              <a:rPr lang="en-US" sz="1200" b="1" dirty="0">
                <a:solidFill>
                  <a:srgbClr val="FFFFFF"/>
                </a:solidFill>
                <a:latin typeface="Segoe UI" pitchFamily="34" charset="0"/>
                <a:ea typeface="Segoe UI" pitchFamily="34" charset="-122"/>
                <a:cs typeface="Segoe UI" pitchFamily="34" charset="-120"/>
              </a:rPr>
              <a:t>1. SUPABASE ANTI-HACKING STACK</a:t>
            </a:r>
            <a:endParaRPr lang="en-US" sz="1200" dirty="0"/>
          </a:p>
        </p:txBody>
      </p:sp>
      <p:sp>
        <p:nvSpPr>
          <p:cNvPr id="9" name="Shape 7"/>
          <p:cNvSpPr/>
          <p:nvPr/>
        </p:nvSpPr>
        <p:spPr>
          <a:xfrm>
            <a:off x="960120" y="2103120"/>
            <a:ext cx="4785055" cy="914400"/>
          </a:xfrm>
          <a:prstGeom prst="roundRect">
            <a:avLst>
              <a:gd name="adj" fmla="val 8000"/>
            </a:avLst>
          </a:prstGeom>
          <a:solidFill>
            <a:srgbClr val="F8FAFC"/>
          </a:solidFill>
          <a:ln w="12700">
            <a:solidFill>
              <a:srgbClr val="E2E8F0"/>
            </a:solidFill>
            <a:prstDash val="solid"/>
          </a:ln>
        </p:spPr>
      </p:sp>
      <p:sp>
        <p:nvSpPr>
          <p:cNvPr id="10" name="Text 8"/>
          <p:cNvSpPr/>
          <p:nvPr/>
        </p:nvSpPr>
        <p:spPr>
          <a:xfrm>
            <a:off x="1097280" y="2176272"/>
            <a:ext cx="4510735" cy="768096"/>
          </a:xfrm>
          <a:prstGeom prst="rect">
            <a:avLst/>
          </a:prstGeom>
          <a:noFill/>
          <a:ln/>
        </p:spPr>
        <p:txBody>
          <a:bodyPr wrap="square" rtlCol="0" anchor="t"/>
          <a:lstStyle/>
          <a:p>
            <a:pPr indent="0" marL="0">
              <a:lnSpc>
                <a:spcPct val="115000"/>
              </a:lnSpc>
              <a:buNone/>
            </a:pPr>
            <a:r>
              <a:rPr lang="en-US" sz="950" b="1" dirty="0">
                <a:solidFill>
                  <a:srgbClr val="059669"/>
                </a:solidFill>
                <a:latin typeface="Segoe UI" pitchFamily="34" charset="0"/>
                <a:ea typeface="Segoe UI" pitchFamily="34" charset="-122"/>
                <a:cs typeface="Segoe UI" pitchFamily="34" charset="-120"/>
              </a:rPr>
              <a:t>✔  Row-Level Security (RLS)
</a:t>
            </a:r>
            <a:pPr indent="0" marL="0">
              <a:lnSpc>
                <a:spcPct val="115000"/>
              </a:lnSpc>
              <a:buNone/>
            </a:pPr>
            <a:r>
              <a:rPr lang="en-US" sz="850" dirty="0">
                <a:solidFill>
                  <a:srgbClr val="0F172A"/>
                </a:solidFill>
                <a:latin typeface="Segoe UI" pitchFamily="34" charset="0"/>
                <a:ea typeface="Segoe UI" pitchFamily="34" charset="-122"/>
                <a:cs typeface="Segoe UI" pitchFamily="34" charset="-120"/>
              </a:rPr>
              <a:t>Database-level policy engine. Even if a hacker breaches an API endpoint, the Postgres engine enforces that User A can ONLY see their own rows. Cross-tenant leakage is mathematically impossible.</a:t>
            </a:r>
            <a:endParaRPr lang="en-US" sz="950" dirty="0"/>
          </a:p>
        </p:txBody>
      </p:sp>
      <p:sp>
        <p:nvSpPr>
          <p:cNvPr id="11" name="Shape 9"/>
          <p:cNvSpPr/>
          <p:nvPr/>
        </p:nvSpPr>
        <p:spPr>
          <a:xfrm>
            <a:off x="960120" y="3127248"/>
            <a:ext cx="4785055" cy="914400"/>
          </a:xfrm>
          <a:prstGeom prst="roundRect">
            <a:avLst>
              <a:gd name="adj" fmla="val 8000"/>
            </a:avLst>
          </a:prstGeom>
          <a:solidFill>
            <a:srgbClr val="F8FAFC"/>
          </a:solidFill>
          <a:ln w="12700">
            <a:solidFill>
              <a:srgbClr val="E2E8F0"/>
            </a:solidFill>
            <a:prstDash val="solid"/>
          </a:ln>
        </p:spPr>
      </p:sp>
      <p:sp>
        <p:nvSpPr>
          <p:cNvPr id="12" name="Text 10"/>
          <p:cNvSpPr/>
          <p:nvPr/>
        </p:nvSpPr>
        <p:spPr>
          <a:xfrm>
            <a:off x="1097280" y="3200400"/>
            <a:ext cx="4510735" cy="768096"/>
          </a:xfrm>
          <a:prstGeom prst="rect">
            <a:avLst/>
          </a:prstGeom>
          <a:noFill/>
          <a:ln/>
        </p:spPr>
        <p:txBody>
          <a:bodyPr wrap="square" rtlCol="0" anchor="t"/>
          <a:lstStyle/>
          <a:p>
            <a:pPr indent="0" marL="0">
              <a:lnSpc>
                <a:spcPct val="115000"/>
              </a:lnSpc>
              <a:buNone/>
            </a:pPr>
            <a:r>
              <a:rPr lang="en-US" sz="950" b="1" dirty="0">
                <a:solidFill>
                  <a:srgbClr val="059669"/>
                </a:solidFill>
                <a:latin typeface="Segoe UI" pitchFamily="34" charset="0"/>
                <a:ea typeface="Segoe UI" pitchFamily="34" charset="-122"/>
                <a:cs typeface="Segoe UI" pitchFamily="34" charset="-120"/>
              </a:rPr>
              <a:t>✔  Cryptographic JWT Verification
</a:t>
            </a:r>
            <a:pPr indent="0" marL="0">
              <a:lnSpc>
                <a:spcPct val="115000"/>
              </a:lnSpc>
              <a:buNone/>
            </a:pPr>
            <a:r>
              <a:rPr lang="en-US" sz="850" dirty="0">
                <a:solidFill>
                  <a:srgbClr val="0F172A"/>
                </a:solidFill>
                <a:latin typeface="Segoe UI" pitchFamily="34" charset="0"/>
                <a:ea typeface="Segoe UI" pitchFamily="34" charset="-122"/>
                <a:cs typeface="Segoe UI" pitchFamily="34" charset="-120"/>
              </a:rPr>
              <a:t>Every database query requires a cryptographically signed JSON Web Token from the auth server. Anonymous and forged requests are dropped instantly at the gateway.</a:t>
            </a:r>
            <a:endParaRPr lang="en-US" sz="950" dirty="0"/>
          </a:p>
        </p:txBody>
      </p:sp>
      <p:sp>
        <p:nvSpPr>
          <p:cNvPr id="13" name="Shape 11"/>
          <p:cNvSpPr/>
          <p:nvPr/>
        </p:nvSpPr>
        <p:spPr>
          <a:xfrm>
            <a:off x="960120" y="4151376"/>
            <a:ext cx="4785055" cy="914400"/>
          </a:xfrm>
          <a:prstGeom prst="roundRect">
            <a:avLst>
              <a:gd name="adj" fmla="val 8000"/>
            </a:avLst>
          </a:prstGeom>
          <a:solidFill>
            <a:srgbClr val="F8FAFC"/>
          </a:solidFill>
          <a:ln w="12700">
            <a:solidFill>
              <a:srgbClr val="E2E8F0"/>
            </a:solidFill>
            <a:prstDash val="solid"/>
          </a:ln>
        </p:spPr>
      </p:sp>
      <p:sp>
        <p:nvSpPr>
          <p:cNvPr id="14" name="Text 12"/>
          <p:cNvSpPr/>
          <p:nvPr/>
        </p:nvSpPr>
        <p:spPr>
          <a:xfrm>
            <a:off x="1097280" y="4224528"/>
            <a:ext cx="4510735" cy="768096"/>
          </a:xfrm>
          <a:prstGeom prst="rect">
            <a:avLst/>
          </a:prstGeom>
          <a:noFill/>
          <a:ln/>
        </p:spPr>
        <p:txBody>
          <a:bodyPr wrap="square" rtlCol="0" anchor="t"/>
          <a:lstStyle/>
          <a:p>
            <a:pPr indent="0" marL="0">
              <a:lnSpc>
                <a:spcPct val="115000"/>
              </a:lnSpc>
              <a:buNone/>
            </a:pPr>
            <a:r>
              <a:rPr lang="en-US" sz="950" b="1" dirty="0">
                <a:solidFill>
                  <a:srgbClr val="059669"/>
                </a:solidFill>
                <a:latin typeface="Segoe UI" pitchFamily="34" charset="0"/>
                <a:ea typeface="Segoe UI" pitchFamily="34" charset="-122"/>
                <a:cs typeface="Segoe UI" pitchFamily="34" charset="-120"/>
              </a:rPr>
              <a:t>✔  Zero Direct Port Exposure
</a:t>
            </a:r>
            <a:pPr indent="0" marL="0">
              <a:lnSpc>
                <a:spcPct val="115000"/>
              </a:lnSpc>
              <a:buNone/>
            </a:pPr>
            <a:r>
              <a:rPr lang="en-US" sz="850" dirty="0">
                <a:solidFill>
                  <a:srgbClr val="0F172A"/>
                </a:solidFill>
                <a:latin typeface="Segoe UI" pitchFamily="34" charset="0"/>
                <a:ea typeface="Segoe UI" pitchFamily="34" charset="-122"/>
                <a:cs typeface="Segoe UI" pitchFamily="34" charset="-120"/>
              </a:rPr>
              <a:t>Standard Postgres port 5432 is shielded from the public internet. All communication travels over encrypted HTTPS through the Kong API Gateway.</a:t>
            </a:r>
            <a:endParaRPr lang="en-US" sz="950" dirty="0"/>
          </a:p>
        </p:txBody>
      </p:sp>
      <p:sp>
        <p:nvSpPr>
          <p:cNvPr id="15" name="Shape 13"/>
          <p:cNvSpPr/>
          <p:nvPr/>
        </p:nvSpPr>
        <p:spPr>
          <a:xfrm>
            <a:off x="960120" y="5175504"/>
            <a:ext cx="4785055" cy="914400"/>
          </a:xfrm>
          <a:prstGeom prst="roundRect">
            <a:avLst>
              <a:gd name="adj" fmla="val 8000"/>
            </a:avLst>
          </a:prstGeom>
          <a:solidFill>
            <a:srgbClr val="F8FAFC"/>
          </a:solidFill>
          <a:ln w="12700">
            <a:solidFill>
              <a:srgbClr val="E2E8F0"/>
            </a:solidFill>
            <a:prstDash val="solid"/>
          </a:ln>
        </p:spPr>
      </p:sp>
      <p:sp>
        <p:nvSpPr>
          <p:cNvPr id="16" name="Text 14"/>
          <p:cNvSpPr/>
          <p:nvPr/>
        </p:nvSpPr>
        <p:spPr>
          <a:xfrm>
            <a:off x="1097280" y="5248656"/>
            <a:ext cx="4510735" cy="768096"/>
          </a:xfrm>
          <a:prstGeom prst="rect">
            <a:avLst/>
          </a:prstGeom>
          <a:noFill/>
          <a:ln/>
        </p:spPr>
        <p:txBody>
          <a:bodyPr wrap="square" rtlCol="0" anchor="t"/>
          <a:lstStyle/>
          <a:p>
            <a:pPr indent="0" marL="0">
              <a:lnSpc>
                <a:spcPct val="115000"/>
              </a:lnSpc>
              <a:buNone/>
            </a:pPr>
            <a:r>
              <a:rPr lang="en-US" sz="950" b="1" dirty="0">
                <a:solidFill>
                  <a:srgbClr val="059669"/>
                </a:solidFill>
                <a:latin typeface="Segoe UI" pitchFamily="34" charset="0"/>
                <a:ea typeface="Segoe UI" pitchFamily="34" charset="-122"/>
                <a:cs typeface="Segoe UI" pitchFamily="34" charset="-120"/>
              </a:rPr>
              <a:t>✔  AES-256 Storage &amp; Backup Encryption
</a:t>
            </a:r>
            <a:pPr indent="0" marL="0">
              <a:lnSpc>
                <a:spcPct val="115000"/>
              </a:lnSpc>
              <a:buNone/>
            </a:pPr>
            <a:r>
              <a:rPr lang="en-US" sz="850" dirty="0">
                <a:solidFill>
                  <a:srgbClr val="0F172A"/>
                </a:solidFill>
                <a:latin typeface="Segoe UI" pitchFamily="34" charset="0"/>
                <a:ea typeface="Segoe UI" pitchFamily="34" charset="-122"/>
                <a:cs typeface="Segoe UI" pitchFamily="34" charset="-120"/>
              </a:rPr>
              <a:t>Database files, WAL logs, and S3-compatible file storage buckets are fully encrypted at rest using AES-256 hardware encryption.</a:t>
            </a:r>
            <a:endParaRPr lang="en-US" sz="950" dirty="0"/>
          </a:p>
        </p:txBody>
      </p:sp>
      <p:sp>
        <p:nvSpPr>
          <p:cNvPr id="17" name="Shape 15"/>
          <p:cNvSpPr/>
          <p:nvPr/>
        </p:nvSpPr>
        <p:spPr>
          <a:xfrm>
            <a:off x="6217920" y="1325880"/>
            <a:ext cx="5242255" cy="4846320"/>
          </a:xfrm>
          <a:prstGeom prst="roundRect">
            <a:avLst>
              <a:gd name="adj" fmla="val 2264"/>
            </a:avLst>
          </a:prstGeom>
          <a:solidFill>
            <a:srgbClr val="FFFFFF"/>
          </a:solidFill>
          <a:ln w="15240">
            <a:solidFill>
              <a:srgbClr val="E2E8F0"/>
            </a:solidFill>
            <a:prstDash val="solid"/>
          </a:ln>
        </p:spPr>
      </p:sp>
      <p:sp>
        <p:nvSpPr>
          <p:cNvPr id="18" name="Shape 16"/>
          <p:cNvSpPr/>
          <p:nvPr/>
        </p:nvSpPr>
        <p:spPr>
          <a:xfrm>
            <a:off x="6217920" y="1325880"/>
            <a:ext cx="5242255" cy="640080"/>
          </a:xfrm>
          <a:prstGeom prst="roundRect">
            <a:avLst>
              <a:gd name="adj" fmla="val 17143"/>
            </a:avLst>
          </a:prstGeom>
          <a:solidFill>
            <a:srgbClr val="16A34A"/>
          </a:solidFill>
          <a:ln w="12700">
            <a:solidFill>
              <a:srgbClr val="16A34A"/>
            </a:solidFill>
            <a:prstDash val="solid"/>
          </a:ln>
        </p:spPr>
      </p:sp>
      <p:sp>
        <p:nvSpPr>
          <p:cNvPr id="19" name="Text 17"/>
          <p:cNvSpPr/>
          <p:nvPr/>
        </p:nvSpPr>
        <p:spPr>
          <a:xfrm>
            <a:off x="6492240" y="1325880"/>
            <a:ext cx="4693615" cy="640080"/>
          </a:xfrm>
          <a:prstGeom prst="rect">
            <a:avLst/>
          </a:prstGeom>
          <a:noFill/>
          <a:ln/>
        </p:spPr>
        <p:txBody>
          <a:bodyPr wrap="square" rtlCol="0" anchor="ctr"/>
          <a:lstStyle/>
          <a:p>
            <a:pPr indent="0" marL="0">
              <a:buNone/>
            </a:pPr>
            <a:r>
              <a:rPr lang="en-US" sz="1200" b="1" dirty="0">
                <a:solidFill>
                  <a:srgbClr val="FFFFFF"/>
                </a:solidFill>
                <a:latin typeface="Segoe UI" pitchFamily="34" charset="0"/>
                <a:ea typeface="Segoe UI" pitchFamily="34" charset="-122"/>
                <a:cs typeface="Segoe UI" pitchFamily="34" charset="-120"/>
              </a:rPr>
              <a:t>2. MONGODB ATLAS ANTI-HACKING STACK</a:t>
            </a:r>
            <a:endParaRPr lang="en-US" sz="1200" dirty="0"/>
          </a:p>
        </p:txBody>
      </p:sp>
      <p:sp>
        <p:nvSpPr>
          <p:cNvPr id="20" name="Shape 18"/>
          <p:cNvSpPr/>
          <p:nvPr/>
        </p:nvSpPr>
        <p:spPr>
          <a:xfrm>
            <a:off x="6446520" y="2103120"/>
            <a:ext cx="4785055" cy="914400"/>
          </a:xfrm>
          <a:prstGeom prst="roundRect">
            <a:avLst>
              <a:gd name="adj" fmla="val 8000"/>
            </a:avLst>
          </a:prstGeom>
          <a:solidFill>
            <a:srgbClr val="F8FAFC"/>
          </a:solidFill>
          <a:ln w="12700">
            <a:solidFill>
              <a:srgbClr val="E2E8F0"/>
            </a:solidFill>
            <a:prstDash val="solid"/>
          </a:ln>
        </p:spPr>
      </p:sp>
      <p:sp>
        <p:nvSpPr>
          <p:cNvPr id="21" name="Text 19"/>
          <p:cNvSpPr/>
          <p:nvPr/>
        </p:nvSpPr>
        <p:spPr>
          <a:xfrm>
            <a:off x="6583680" y="2176272"/>
            <a:ext cx="4510735" cy="768096"/>
          </a:xfrm>
          <a:prstGeom prst="rect">
            <a:avLst/>
          </a:prstGeom>
          <a:noFill/>
          <a:ln/>
        </p:spPr>
        <p:txBody>
          <a:bodyPr wrap="square" rtlCol="0" anchor="t"/>
          <a:lstStyle/>
          <a:p>
            <a:pPr indent="0" marL="0">
              <a:lnSpc>
                <a:spcPct val="115000"/>
              </a:lnSpc>
              <a:buNone/>
            </a:pPr>
            <a:r>
              <a:rPr lang="en-US" sz="950" b="1" dirty="0">
                <a:solidFill>
                  <a:srgbClr val="16A34A"/>
                </a:solidFill>
                <a:latin typeface="Segoe UI" pitchFamily="34" charset="0"/>
                <a:ea typeface="Segoe UI" pitchFamily="34" charset="-122"/>
                <a:cs typeface="Segoe UI" pitchFamily="34" charset="-120"/>
              </a:rPr>
              <a:t>✔  Client-Side Field Level Encryption (CSFLE)
</a:t>
            </a:r>
            <a:pPr indent="0" marL="0">
              <a:lnSpc>
                <a:spcPct val="115000"/>
              </a:lnSpc>
              <a:buNone/>
            </a:pPr>
            <a:r>
              <a:rPr lang="en-US" sz="850" dirty="0">
                <a:solidFill>
                  <a:srgbClr val="0F172A"/>
                </a:solidFill>
                <a:latin typeface="Segoe UI" pitchFamily="34" charset="0"/>
                <a:ea typeface="Segoe UI" pitchFamily="34" charset="-122"/>
                <a:cs typeface="Segoe UI" pitchFamily="34" charset="-120"/>
              </a:rPr>
              <a:t>Sensitive data (credit cards, SSNs) is encrypted in client memory BEFORE transmission. Data arrives at the database encrypted; even MongoDB database administrators cannot view plaintext.</a:t>
            </a:r>
            <a:endParaRPr lang="en-US" sz="950" dirty="0"/>
          </a:p>
        </p:txBody>
      </p:sp>
      <p:sp>
        <p:nvSpPr>
          <p:cNvPr id="22" name="Shape 20"/>
          <p:cNvSpPr/>
          <p:nvPr/>
        </p:nvSpPr>
        <p:spPr>
          <a:xfrm>
            <a:off x="6446520" y="3127248"/>
            <a:ext cx="4785055" cy="914400"/>
          </a:xfrm>
          <a:prstGeom prst="roundRect">
            <a:avLst>
              <a:gd name="adj" fmla="val 8000"/>
            </a:avLst>
          </a:prstGeom>
          <a:solidFill>
            <a:srgbClr val="F8FAFC"/>
          </a:solidFill>
          <a:ln w="12700">
            <a:solidFill>
              <a:srgbClr val="E2E8F0"/>
            </a:solidFill>
            <a:prstDash val="solid"/>
          </a:ln>
        </p:spPr>
      </p:sp>
      <p:sp>
        <p:nvSpPr>
          <p:cNvPr id="23" name="Text 21"/>
          <p:cNvSpPr/>
          <p:nvPr/>
        </p:nvSpPr>
        <p:spPr>
          <a:xfrm>
            <a:off x="6583680" y="3200400"/>
            <a:ext cx="4510735" cy="768096"/>
          </a:xfrm>
          <a:prstGeom prst="rect">
            <a:avLst/>
          </a:prstGeom>
          <a:noFill/>
          <a:ln/>
        </p:spPr>
        <p:txBody>
          <a:bodyPr wrap="square" rtlCol="0" anchor="t"/>
          <a:lstStyle/>
          <a:p>
            <a:pPr indent="0" marL="0">
              <a:lnSpc>
                <a:spcPct val="115000"/>
              </a:lnSpc>
              <a:buNone/>
            </a:pPr>
            <a:r>
              <a:rPr lang="en-US" sz="950" b="1" dirty="0">
                <a:solidFill>
                  <a:srgbClr val="16A34A"/>
                </a:solidFill>
                <a:latin typeface="Segoe UI" pitchFamily="34" charset="0"/>
                <a:ea typeface="Segoe UI" pitchFamily="34" charset="-122"/>
                <a:cs typeface="Segoe UI" pitchFamily="34" charset="-120"/>
              </a:rPr>
              <a:t>✔  Default IP Whitelisting
</a:t>
            </a:r>
            <a:pPr indent="0" marL="0">
              <a:lnSpc>
                <a:spcPct val="115000"/>
              </a:lnSpc>
              <a:buNone/>
            </a:pPr>
            <a:r>
              <a:rPr lang="en-US" sz="850" dirty="0">
                <a:solidFill>
                  <a:srgbClr val="0F172A"/>
                </a:solidFill>
                <a:latin typeface="Segoe UI" pitchFamily="34" charset="0"/>
                <a:ea typeface="Segoe UI" pitchFamily="34" charset="-122"/>
                <a:cs typeface="Segoe UI" pitchFamily="34" charset="-120"/>
              </a:rPr>
              <a:t>Atlas rejects 100% of external connection requests by default. The database cannot be reached unless the client's static IP is explicitly registered in the firewall.</a:t>
            </a:r>
            <a:endParaRPr lang="en-US" sz="950" dirty="0"/>
          </a:p>
        </p:txBody>
      </p:sp>
      <p:sp>
        <p:nvSpPr>
          <p:cNvPr id="24" name="Shape 22"/>
          <p:cNvSpPr/>
          <p:nvPr/>
        </p:nvSpPr>
        <p:spPr>
          <a:xfrm>
            <a:off x="6446520" y="4151376"/>
            <a:ext cx="4785055" cy="914400"/>
          </a:xfrm>
          <a:prstGeom prst="roundRect">
            <a:avLst>
              <a:gd name="adj" fmla="val 8000"/>
            </a:avLst>
          </a:prstGeom>
          <a:solidFill>
            <a:srgbClr val="F8FAFC"/>
          </a:solidFill>
          <a:ln w="12700">
            <a:solidFill>
              <a:srgbClr val="E2E8F0"/>
            </a:solidFill>
            <a:prstDash val="solid"/>
          </a:ln>
        </p:spPr>
      </p:sp>
      <p:sp>
        <p:nvSpPr>
          <p:cNvPr id="25" name="Text 23"/>
          <p:cNvSpPr/>
          <p:nvPr/>
        </p:nvSpPr>
        <p:spPr>
          <a:xfrm>
            <a:off x="6583680" y="4224528"/>
            <a:ext cx="4510735" cy="768096"/>
          </a:xfrm>
          <a:prstGeom prst="rect">
            <a:avLst/>
          </a:prstGeom>
          <a:noFill/>
          <a:ln/>
        </p:spPr>
        <p:txBody>
          <a:bodyPr wrap="square" rtlCol="0" anchor="t"/>
          <a:lstStyle/>
          <a:p>
            <a:pPr indent="0" marL="0">
              <a:lnSpc>
                <a:spcPct val="115000"/>
              </a:lnSpc>
              <a:buNone/>
            </a:pPr>
            <a:r>
              <a:rPr lang="en-US" sz="950" b="1" dirty="0">
                <a:solidFill>
                  <a:srgbClr val="16A34A"/>
                </a:solidFill>
                <a:latin typeface="Segoe UI" pitchFamily="34" charset="0"/>
                <a:ea typeface="Segoe UI" pitchFamily="34" charset="-122"/>
                <a:cs typeface="Segoe UI" pitchFamily="34" charset="-120"/>
              </a:rPr>
              <a:t>✔  Enforced TLS 1.3 Encryption
</a:t>
            </a:r>
            <a:pPr indent="0" marL="0">
              <a:lnSpc>
                <a:spcPct val="115000"/>
              </a:lnSpc>
              <a:buNone/>
            </a:pPr>
            <a:r>
              <a:rPr lang="en-US" sz="850" dirty="0">
                <a:solidFill>
                  <a:srgbClr val="0F172A"/>
                </a:solidFill>
                <a:latin typeface="Segoe UI" pitchFamily="34" charset="0"/>
                <a:ea typeface="Segoe UI" pitchFamily="34" charset="-122"/>
                <a:cs typeface="Segoe UI" pitchFamily="34" charset="-120"/>
              </a:rPr>
              <a:t>All connections must negotiate TLS 1.3 with modern ciphers. Plaintext connections or older deprecated SSL protocols are rejected.</a:t>
            </a:r>
            <a:endParaRPr lang="en-US" sz="950" dirty="0"/>
          </a:p>
        </p:txBody>
      </p:sp>
      <p:sp>
        <p:nvSpPr>
          <p:cNvPr id="26" name="Shape 24"/>
          <p:cNvSpPr/>
          <p:nvPr/>
        </p:nvSpPr>
        <p:spPr>
          <a:xfrm>
            <a:off x="6446520" y="5175504"/>
            <a:ext cx="4785055" cy="914400"/>
          </a:xfrm>
          <a:prstGeom prst="roundRect">
            <a:avLst>
              <a:gd name="adj" fmla="val 8000"/>
            </a:avLst>
          </a:prstGeom>
          <a:solidFill>
            <a:srgbClr val="F8FAFC"/>
          </a:solidFill>
          <a:ln w="12700">
            <a:solidFill>
              <a:srgbClr val="E2E8F0"/>
            </a:solidFill>
            <a:prstDash val="solid"/>
          </a:ln>
        </p:spPr>
      </p:sp>
      <p:sp>
        <p:nvSpPr>
          <p:cNvPr id="27" name="Text 25"/>
          <p:cNvSpPr/>
          <p:nvPr/>
        </p:nvSpPr>
        <p:spPr>
          <a:xfrm>
            <a:off x="6583680" y="5248656"/>
            <a:ext cx="4510735" cy="768096"/>
          </a:xfrm>
          <a:prstGeom prst="rect">
            <a:avLst/>
          </a:prstGeom>
          <a:noFill/>
          <a:ln/>
        </p:spPr>
        <p:txBody>
          <a:bodyPr wrap="square" rtlCol="0" anchor="t"/>
          <a:lstStyle/>
          <a:p>
            <a:pPr indent="0" marL="0">
              <a:lnSpc>
                <a:spcPct val="115000"/>
              </a:lnSpc>
              <a:buNone/>
            </a:pPr>
            <a:r>
              <a:rPr lang="en-US" sz="950" b="1" dirty="0">
                <a:solidFill>
                  <a:srgbClr val="16A34A"/>
                </a:solidFill>
                <a:latin typeface="Segoe UI" pitchFamily="34" charset="0"/>
                <a:ea typeface="Segoe UI" pitchFamily="34" charset="-122"/>
                <a:cs typeface="Segoe UI" pitchFamily="34" charset="-120"/>
              </a:rPr>
              <a:t>✔  Granular Role-Based Access (RBAC)
</a:t>
            </a:r>
            <a:pPr indent="0" marL="0">
              <a:lnSpc>
                <a:spcPct val="115000"/>
              </a:lnSpc>
              <a:buNone/>
            </a:pPr>
            <a:r>
              <a:rPr lang="en-US" sz="850" dirty="0">
                <a:solidFill>
                  <a:srgbClr val="0F172A"/>
                </a:solidFill>
                <a:latin typeface="Segoe UI" pitchFamily="34" charset="0"/>
                <a:ea typeface="Segoe UI" pitchFamily="34" charset="-122"/>
                <a:cs typeface="Segoe UI" pitchFamily="34" charset="-120"/>
              </a:rPr>
              <a:t>Database users receive fine-grained permissions (read-only, write-specific collections) rather than broad administrative access.</a:t>
            </a:r>
            <a:endParaRPr lang="en-US" sz="950" dirty="0"/>
          </a:p>
        </p:txBody>
      </p:sp>
      <p:sp>
        <p:nvSpPr>
          <p:cNvPr id="28" name="Shape 26"/>
          <p:cNvSpPr/>
          <p:nvPr/>
        </p:nvSpPr>
        <p:spPr>
          <a:xfrm>
            <a:off x="731520" y="6355080"/>
            <a:ext cx="10728655" cy="18288"/>
          </a:xfrm>
          <a:prstGeom prst="rect">
            <a:avLst/>
          </a:prstGeom>
          <a:solidFill>
            <a:srgbClr val="E2E8F0"/>
          </a:solidFill>
          <a:ln/>
        </p:spPr>
      </p:sp>
      <p:sp>
        <p:nvSpPr>
          <p:cNvPr id="29" name="Text 27"/>
          <p:cNvSpPr/>
          <p:nvPr/>
        </p:nvSpPr>
        <p:spPr>
          <a:xfrm>
            <a:off x="731520" y="6419088"/>
            <a:ext cx="7772400" cy="27432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CONFIDENTIAL &amp; PROPRIETARY | Enterprise Cloud Database Evaluation &amp; Advisory</a:t>
            </a:r>
            <a:endParaRPr lang="en-US" sz="850" dirty="0"/>
          </a:p>
        </p:txBody>
      </p:sp>
      <p:sp>
        <p:nvSpPr>
          <p:cNvPr id="30" name="Text 28"/>
          <p:cNvSpPr/>
          <p:nvPr/>
        </p:nvSpPr>
        <p:spPr>
          <a:xfrm>
            <a:off x="9631375" y="6419088"/>
            <a:ext cx="1828800" cy="274320"/>
          </a:xfrm>
          <a:prstGeom prst="rect">
            <a:avLst/>
          </a:prstGeom>
          <a:noFill/>
          <a:ln/>
        </p:spPr>
        <p:txBody>
          <a:bodyPr wrap="square" rtlCol="0" anchor="ctr"/>
          <a:lstStyle/>
          <a:p>
            <a:pPr algn="r" indent="0" marL="0">
              <a:buNone/>
            </a:pPr>
            <a:r>
              <a:rPr lang="en-US" sz="850" dirty="0">
                <a:solidFill>
                  <a:srgbClr val="94A3B8"/>
                </a:solidFill>
                <a:latin typeface="Segoe UI" pitchFamily="34" charset="0"/>
                <a:ea typeface="Segoe UI" pitchFamily="34" charset="-122"/>
                <a:cs typeface="Segoe UI" pitchFamily="34" charset="-120"/>
              </a:rPr>
              <a:t>Slide 8 of 17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p:spPr>
      </p:sp>
      <p:sp>
        <p:nvSpPr>
          <p:cNvPr id="3" name="Shape 1"/>
          <p:cNvSpPr/>
          <p:nvPr/>
        </p:nvSpPr>
        <p:spPr>
          <a:xfrm>
            <a:off x="731520" y="320040"/>
            <a:ext cx="2286000" cy="274320"/>
          </a:xfrm>
          <a:prstGeom prst="roundRect">
            <a:avLst>
              <a:gd name="adj" fmla="val 26667"/>
            </a:avLst>
          </a:prstGeom>
          <a:solidFill>
            <a:srgbClr val="EFF6FF"/>
          </a:solidFill>
          <a:ln w="12700">
            <a:solidFill>
              <a:srgbClr val="BFDBFE"/>
            </a:solidFill>
            <a:prstDash val="solid"/>
          </a:ln>
        </p:spPr>
      </p:sp>
      <p:sp>
        <p:nvSpPr>
          <p:cNvPr id="4" name="Text 2"/>
          <p:cNvSpPr/>
          <p:nvPr/>
        </p:nvSpPr>
        <p:spPr>
          <a:xfrm>
            <a:off x="731520" y="320040"/>
            <a:ext cx="2286000" cy="274320"/>
          </a:xfrm>
          <a:prstGeom prst="rect">
            <a:avLst/>
          </a:prstGeom>
          <a:noFill/>
          <a:ln/>
        </p:spPr>
        <p:txBody>
          <a:bodyPr wrap="square" rtlCol="0" anchor="ctr"/>
          <a:lstStyle/>
          <a:p>
            <a:pPr algn="ctr" indent="0" marL="0">
              <a:buNone/>
            </a:pPr>
            <a:r>
              <a:rPr lang="en-US" sz="900" b="1" dirty="0">
                <a:solidFill>
                  <a:srgbClr val="1D4ED8"/>
                </a:solidFill>
                <a:latin typeface="Segoe UI" pitchFamily="34" charset="0"/>
                <a:ea typeface="Segoe UI" pitchFamily="34" charset="-122"/>
                <a:cs typeface="Segoe UI" pitchFamily="34" charset="-120"/>
              </a:rPr>
              <a:t>CYBER DEFENSE (2/2)</a:t>
            </a:r>
            <a:endParaRPr lang="en-US" sz="900" dirty="0"/>
          </a:p>
        </p:txBody>
      </p:sp>
      <p:sp>
        <p:nvSpPr>
          <p:cNvPr id="5" name="Text 3"/>
          <p:cNvSpPr/>
          <p:nvPr/>
        </p:nvSpPr>
        <p:spPr>
          <a:xfrm>
            <a:off x="731520" y="658368"/>
            <a:ext cx="10728655" cy="502920"/>
          </a:xfrm>
          <a:prstGeom prst="rect">
            <a:avLst/>
          </a:prstGeom>
          <a:noFill/>
          <a:ln/>
        </p:spPr>
        <p:txBody>
          <a:bodyPr wrap="square" rtlCol="0" anchor="ctr"/>
          <a:lstStyle/>
          <a:p>
            <a:pPr indent="0" marL="0">
              <a:buNone/>
            </a:pPr>
            <a:r>
              <a:rPr lang="en-US" sz="2100" b="1" dirty="0">
                <a:solidFill>
                  <a:srgbClr val="0A0F1D"/>
                </a:solidFill>
                <a:latin typeface="Segoe UI" pitchFamily="34" charset="0"/>
                <a:ea typeface="Segoe UI" pitchFamily="34" charset="-122"/>
                <a:cs typeface="Segoe UI" pitchFamily="34" charset="-120"/>
              </a:rPr>
              <a:t>Anti-Hacking Defenses: Microsoft Azure &amp; Amazon AWS</a:t>
            </a:r>
            <a:endParaRPr lang="en-US" sz="2100" dirty="0"/>
          </a:p>
        </p:txBody>
      </p:sp>
      <p:sp>
        <p:nvSpPr>
          <p:cNvPr id="6" name="Shape 4"/>
          <p:cNvSpPr/>
          <p:nvPr/>
        </p:nvSpPr>
        <p:spPr>
          <a:xfrm>
            <a:off x="731520" y="1325880"/>
            <a:ext cx="5242255" cy="4846320"/>
          </a:xfrm>
          <a:prstGeom prst="roundRect">
            <a:avLst>
              <a:gd name="adj" fmla="val 2264"/>
            </a:avLst>
          </a:prstGeom>
          <a:solidFill>
            <a:srgbClr val="FFFFFF"/>
          </a:solidFill>
          <a:ln w="15240">
            <a:solidFill>
              <a:srgbClr val="E2E8F0"/>
            </a:solidFill>
            <a:prstDash val="solid"/>
          </a:ln>
        </p:spPr>
      </p:sp>
      <p:sp>
        <p:nvSpPr>
          <p:cNvPr id="7" name="Shape 5"/>
          <p:cNvSpPr/>
          <p:nvPr/>
        </p:nvSpPr>
        <p:spPr>
          <a:xfrm>
            <a:off x="731520" y="1325880"/>
            <a:ext cx="5242255" cy="640080"/>
          </a:xfrm>
          <a:prstGeom prst="roundRect">
            <a:avLst>
              <a:gd name="adj" fmla="val 17143"/>
            </a:avLst>
          </a:prstGeom>
          <a:solidFill>
            <a:srgbClr val="0284C7"/>
          </a:solidFill>
          <a:ln w="12700">
            <a:solidFill>
              <a:srgbClr val="0284C7"/>
            </a:solidFill>
            <a:prstDash val="solid"/>
          </a:ln>
        </p:spPr>
      </p:sp>
      <p:sp>
        <p:nvSpPr>
          <p:cNvPr id="8" name="Text 6"/>
          <p:cNvSpPr/>
          <p:nvPr/>
        </p:nvSpPr>
        <p:spPr>
          <a:xfrm>
            <a:off x="1005840" y="1325880"/>
            <a:ext cx="4693615" cy="640080"/>
          </a:xfrm>
          <a:prstGeom prst="rect">
            <a:avLst/>
          </a:prstGeom>
          <a:noFill/>
          <a:ln/>
        </p:spPr>
        <p:txBody>
          <a:bodyPr wrap="square" rtlCol="0" anchor="ctr"/>
          <a:lstStyle/>
          <a:p>
            <a:pPr indent="0" marL="0">
              <a:buNone/>
            </a:pPr>
            <a:r>
              <a:rPr lang="en-US" sz="1200" b="1" dirty="0">
                <a:solidFill>
                  <a:srgbClr val="FFFFFF"/>
                </a:solidFill>
                <a:latin typeface="Segoe UI" pitchFamily="34" charset="0"/>
                <a:ea typeface="Segoe UI" pitchFamily="34" charset="-122"/>
                <a:cs typeface="Segoe UI" pitchFamily="34" charset="-120"/>
              </a:rPr>
              <a:t>3. MICROSOFT AZURE ANTI-HACKING STACK</a:t>
            </a:r>
            <a:endParaRPr lang="en-US" sz="1200" dirty="0"/>
          </a:p>
        </p:txBody>
      </p:sp>
      <p:sp>
        <p:nvSpPr>
          <p:cNvPr id="9" name="Shape 7"/>
          <p:cNvSpPr/>
          <p:nvPr/>
        </p:nvSpPr>
        <p:spPr>
          <a:xfrm>
            <a:off x="960120" y="2103120"/>
            <a:ext cx="4785055" cy="914400"/>
          </a:xfrm>
          <a:prstGeom prst="roundRect">
            <a:avLst>
              <a:gd name="adj" fmla="val 8000"/>
            </a:avLst>
          </a:prstGeom>
          <a:solidFill>
            <a:srgbClr val="F8FAFC"/>
          </a:solidFill>
          <a:ln w="12700">
            <a:solidFill>
              <a:srgbClr val="E2E8F0"/>
            </a:solidFill>
            <a:prstDash val="solid"/>
          </a:ln>
        </p:spPr>
      </p:sp>
      <p:sp>
        <p:nvSpPr>
          <p:cNvPr id="10" name="Text 8"/>
          <p:cNvSpPr/>
          <p:nvPr/>
        </p:nvSpPr>
        <p:spPr>
          <a:xfrm>
            <a:off x="1097280" y="2176272"/>
            <a:ext cx="4510735" cy="768096"/>
          </a:xfrm>
          <a:prstGeom prst="rect">
            <a:avLst/>
          </a:prstGeom>
          <a:noFill/>
          <a:ln/>
        </p:spPr>
        <p:txBody>
          <a:bodyPr wrap="square" rtlCol="0" anchor="t"/>
          <a:lstStyle/>
          <a:p>
            <a:pPr indent="0" marL="0">
              <a:lnSpc>
                <a:spcPct val="115000"/>
              </a:lnSpc>
              <a:buNone/>
            </a:pPr>
            <a:r>
              <a:rPr lang="en-US" sz="950" b="1" dirty="0">
                <a:solidFill>
                  <a:srgbClr val="0284C7"/>
                </a:solidFill>
                <a:latin typeface="Segoe UI" pitchFamily="34" charset="0"/>
                <a:ea typeface="Segoe UI" pitchFamily="34" charset="-122"/>
                <a:cs typeface="Segoe UI" pitchFamily="34" charset="-120"/>
              </a:rPr>
              <a:t>✔  Microsoft Defender for Cloud AI
</a:t>
            </a:r>
            <a:pPr indent="0" marL="0">
              <a:lnSpc>
                <a:spcPct val="115000"/>
              </a:lnSpc>
              <a:buNone/>
            </a:pPr>
            <a:r>
              <a:rPr lang="en-US" sz="850" dirty="0">
                <a:solidFill>
                  <a:srgbClr val="0F172A"/>
                </a:solidFill>
                <a:latin typeface="Segoe UI" pitchFamily="34" charset="0"/>
                <a:ea typeface="Segoe UI" pitchFamily="34" charset="-122"/>
                <a:cs typeface="Segoe UI" pitchFamily="34" charset="-120"/>
              </a:rPr>
              <a:t>Machine-learning behavioral engine constantly monitors database queries. Flags abnormal query volumes, brute-force attempts, and SQL injection probes in real-time.</a:t>
            </a:r>
            <a:endParaRPr lang="en-US" sz="950" dirty="0"/>
          </a:p>
        </p:txBody>
      </p:sp>
      <p:sp>
        <p:nvSpPr>
          <p:cNvPr id="11" name="Shape 9"/>
          <p:cNvSpPr/>
          <p:nvPr/>
        </p:nvSpPr>
        <p:spPr>
          <a:xfrm>
            <a:off x="960120" y="3127248"/>
            <a:ext cx="4785055" cy="914400"/>
          </a:xfrm>
          <a:prstGeom prst="roundRect">
            <a:avLst>
              <a:gd name="adj" fmla="val 8000"/>
            </a:avLst>
          </a:prstGeom>
          <a:solidFill>
            <a:srgbClr val="F8FAFC"/>
          </a:solidFill>
          <a:ln w="12700">
            <a:solidFill>
              <a:srgbClr val="E2E8F0"/>
            </a:solidFill>
            <a:prstDash val="solid"/>
          </a:ln>
        </p:spPr>
      </p:sp>
      <p:sp>
        <p:nvSpPr>
          <p:cNvPr id="12" name="Text 10"/>
          <p:cNvSpPr/>
          <p:nvPr/>
        </p:nvSpPr>
        <p:spPr>
          <a:xfrm>
            <a:off x="1097280" y="3200400"/>
            <a:ext cx="4510735" cy="768096"/>
          </a:xfrm>
          <a:prstGeom prst="rect">
            <a:avLst/>
          </a:prstGeom>
          <a:noFill/>
          <a:ln/>
        </p:spPr>
        <p:txBody>
          <a:bodyPr wrap="square" rtlCol="0" anchor="t"/>
          <a:lstStyle/>
          <a:p>
            <a:pPr indent="0" marL="0">
              <a:lnSpc>
                <a:spcPct val="115000"/>
              </a:lnSpc>
              <a:buNone/>
            </a:pPr>
            <a:r>
              <a:rPr lang="en-US" sz="950" b="1" dirty="0">
                <a:solidFill>
                  <a:srgbClr val="0284C7"/>
                </a:solidFill>
                <a:latin typeface="Segoe UI" pitchFamily="34" charset="0"/>
                <a:ea typeface="Segoe UI" pitchFamily="34" charset="-122"/>
                <a:cs typeface="Segoe UI" pitchFamily="34" charset="-120"/>
              </a:rPr>
              <a:t>✔  Entra ID (Active Directory) MFA
</a:t>
            </a:r>
            <a:pPr indent="0" marL="0">
              <a:lnSpc>
                <a:spcPct val="115000"/>
              </a:lnSpc>
              <a:buNone/>
            </a:pPr>
            <a:r>
              <a:rPr lang="en-US" sz="850" dirty="0">
                <a:solidFill>
                  <a:srgbClr val="0F172A"/>
                </a:solidFill>
                <a:latin typeface="Segoe UI" pitchFamily="34" charset="0"/>
                <a:ea typeface="Segoe UI" pitchFamily="34" charset="-122"/>
                <a:cs typeface="Segoe UI" pitchFamily="34" charset="-120"/>
              </a:rPr>
              <a:t>Eliminates database passwords entirely. Engineers and services authenticate using short-lived Azure tokens backed by Multi-Factor Authentication.</a:t>
            </a:r>
            <a:endParaRPr lang="en-US" sz="950" dirty="0"/>
          </a:p>
        </p:txBody>
      </p:sp>
      <p:sp>
        <p:nvSpPr>
          <p:cNvPr id="13" name="Shape 11"/>
          <p:cNvSpPr/>
          <p:nvPr/>
        </p:nvSpPr>
        <p:spPr>
          <a:xfrm>
            <a:off x="960120" y="4151376"/>
            <a:ext cx="4785055" cy="914400"/>
          </a:xfrm>
          <a:prstGeom prst="roundRect">
            <a:avLst>
              <a:gd name="adj" fmla="val 8000"/>
            </a:avLst>
          </a:prstGeom>
          <a:solidFill>
            <a:srgbClr val="F8FAFC"/>
          </a:solidFill>
          <a:ln w="12700">
            <a:solidFill>
              <a:srgbClr val="E2E8F0"/>
            </a:solidFill>
            <a:prstDash val="solid"/>
          </a:ln>
        </p:spPr>
      </p:sp>
      <p:sp>
        <p:nvSpPr>
          <p:cNvPr id="14" name="Text 12"/>
          <p:cNvSpPr/>
          <p:nvPr/>
        </p:nvSpPr>
        <p:spPr>
          <a:xfrm>
            <a:off x="1097280" y="4224528"/>
            <a:ext cx="4510735" cy="768096"/>
          </a:xfrm>
          <a:prstGeom prst="rect">
            <a:avLst/>
          </a:prstGeom>
          <a:noFill/>
          <a:ln/>
        </p:spPr>
        <p:txBody>
          <a:bodyPr wrap="square" rtlCol="0" anchor="t"/>
          <a:lstStyle/>
          <a:p>
            <a:pPr indent="0" marL="0">
              <a:lnSpc>
                <a:spcPct val="115000"/>
              </a:lnSpc>
              <a:buNone/>
            </a:pPr>
            <a:r>
              <a:rPr lang="en-US" sz="950" b="1" dirty="0">
                <a:solidFill>
                  <a:srgbClr val="0284C7"/>
                </a:solidFill>
                <a:latin typeface="Segoe UI" pitchFamily="34" charset="0"/>
                <a:ea typeface="Segoe UI" pitchFamily="34" charset="-122"/>
                <a:cs typeface="Segoe UI" pitchFamily="34" charset="-120"/>
              </a:rPr>
              <a:t>✔  Always Encrypted Technology
</a:t>
            </a:r>
            <a:pPr indent="0" marL="0">
              <a:lnSpc>
                <a:spcPct val="115000"/>
              </a:lnSpc>
              <a:buNone/>
            </a:pPr>
            <a:r>
              <a:rPr lang="en-US" sz="850" dirty="0">
                <a:solidFill>
                  <a:srgbClr val="0F172A"/>
                </a:solidFill>
                <a:latin typeface="Segoe UI" pitchFamily="34" charset="0"/>
                <a:ea typeface="Segoe UI" pitchFamily="34" charset="-122"/>
                <a:cs typeface="Segoe UI" pitchFamily="34" charset="-120"/>
              </a:rPr>
              <a:t>Protects sensitive data at rest, during network transit, and even while active inside server RAM chips from virtualization or memory-dump attacks.</a:t>
            </a:r>
            <a:endParaRPr lang="en-US" sz="950" dirty="0"/>
          </a:p>
        </p:txBody>
      </p:sp>
      <p:sp>
        <p:nvSpPr>
          <p:cNvPr id="15" name="Shape 13"/>
          <p:cNvSpPr/>
          <p:nvPr/>
        </p:nvSpPr>
        <p:spPr>
          <a:xfrm>
            <a:off x="960120" y="5175504"/>
            <a:ext cx="4785055" cy="914400"/>
          </a:xfrm>
          <a:prstGeom prst="roundRect">
            <a:avLst>
              <a:gd name="adj" fmla="val 8000"/>
            </a:avLst>
          </a:prstGeom>
          <a:solidFill>
            <a:srgbClr val="F8FAFC"/>
          </a:solidFill>
          <a:ln w="12700">
            <a:solidFill>
              <a:srgbClr val="E2E8F0"/>
            </a:solidFill>
            <a:prstDash val="solid"/>
          </a:ln>
        </p:spPr>
      </p:sp>
      <p:sp>
        <p:nvSpPr>
          <p:cNvPr id="16" name="Text 14"/>
          <p:cNvSpPr/>
          <p:nvPr/>
        </p:nvSpPr>
        <p:spPr>
          <a:xfrm>
            <a:off x="1097280" y="5248656"/>
            <a:ext cx="4510735" cy="768096"/>
          </a:xfrm>
          <a:prstGeom prst="rect">
            <a:avLst/>
          </a:prstGeom>
          <a:noFill/>
          <a:ln/>
        </p:spPr>
        <p:txBody>
          <a:bodyPr wrap="square" rtlCol="0" anchor="t"/>
          <a:lstStyle/>
          <a:p>
            <a:pPr indent="0" marL="0">
              <a:lnSpc>
                <a:spcPct val="115000"/>
              </a:lnSpc>
              <a:buNone/>
            </a:pPr>
            <a:r>
              <a:rPr lang="en-US" sz="950" b="1" dirty="0">
                <a:solidFill>
                  <a:srgbClr val="0284C7"/>
                </a:solidFill>
                <a:latin typeface="Segoe UI" pitchFamily="34" charset="0"/>
                <a:ea typeface="Segoe UI" pitchFamily="34" charset="-122"/>
                <a:cs typeface="Segoe UI" pitchFamily="34" charset="-120"/>
              </a:rPr>
              <a:t>✔  Azure Private Link
</a:t>
            </a:r>
            <a:pPr indent="0" marL="0">
              <a:lnSpc>
                <a:spcPct val="115000"/>
              </a:lnSpc>
              <a:buNone/>
            </a:pPr>
            <a:r>
              <a:rPr lang="en-US" sz="850" dirty="0">
                <a:solidFill>
                  <a:srgbClr val="0F172A"/>
                </a:solidFill>
                <a:latin typeface="Segoe UI" pitchFamily="34" charset="0"/>
                <a:ea typeface="Segoe UI" pitchFamily="34" charset="-122"/>
                <a:cs typeface="Segoe UI" pitchFamily="34" charset="-120"/>
              </a:rPr>
              <a:t>Connects client apps to the database via private endpoints, completely bypassing the public internet across Microsoft's global fiber backbone.</a:t>
            </a:r>
            <a:endParaRPr lang="en-US" sz="950" dirty="0"/>
          </a:p>
        </p:txBody>
      </p:sp>
      <p:sp>
        <p:nvSpPr>
          <p:cNvPr id="17" name="Shape 15"/>
          <p:cNvSpPr/>
          <p:nvPr/>
        </p:nvSpPr>
        <p:spPr>
          <a:xfrm>
            <a:off x="6217920" y="1325880"/>
            <a:ext cx="5242255" cy="4846320"/>
          </a:xfrm>
          <a:prstGeom prst="roundRect">
            <a:avLst>
              <a:gd name="adj" fmla="val 2264"/>
            </a:avLst>
          </a:prstGeom>
          <a:solidFill>
            <a:srgbClr val="FFFFFF"/>
          </a:solidFill>
          <a:ln w="15240">
            <a:solidFill>
              <a:srgbClr val="E2E8F0"/>
            </a:solidFill>
            <a:prstDash val="solid"/>
          </a:ln>
        </p:spPr>
      </p:sp>
      <p:sp>
        <p:nvSpPr>
          <p:cNvPr id="18" name="Shape 16"/>
          <p:cNvSpPr/>
          <p:nvPr/>
        </p:nvSpPr>
        <p:spPr>
          <a:xfrm>
            <a:off x="6217920" y="1325880"/>
            <a:ext cx="5242255" cy="640080"/>
          </a:xfrm>
          <a:prstGeom prst="roundRect">
            <a:avLst>
              <a:gd name="adj" fmla="val 17143"/>
            </a:avLst>
          </a:prstGeom>
          <a:solidFill>
            <a:srgbClr val="D97706"/>
          </a:solidFill>
          <a:ln w="12700">
            <a:solidFill>
              <a:srgbClr val="D97706"/>
            </a:solidFill>
            <a:prstDash val="solid"/>
          </a:ln>
        </p:spPr>
      </p:sp>
      <p:sp>
        <p:nvSpPr>
          <p:cNvPr id="19" name="Text 17"/>
          <p:cNvSpPr/>
          <p:nvPr/>
        </p:nvSpPr>
        <p:spPr>
          <a:xfrm>
            <a:off x="6492240" y="1325880"/>
            <a:ext cx="4693615" cy="640080"/>
          </a:xfrm>
          <a:prstGeom prst="rect">
            <a:avLst/>
          </a:prstGeom>
          <a:noFill/>
          <a:ln/>
        </p:spPr>
        <p:txBody>
          <a:bodyPr wrap="square" rtlCol="0" anchor="ctr"/>
          <a:lstStyle/>
          <a:p>
            <a:pPr indent="0" marL="0">
              <a:buNone/>
            </a:pPr>
            <a:r>
              <a:rPr lang="en-US" sz="1200" b="1" dirty="0">
                <a:solidFill>
                  <a:srgbClr val="FFFFFF"/>
                </a:solidFill>
                <a:latin typeface="Segoe UI" pitchFamily="34" charset="0"/>
                <a:ea typeface="Segoe UI" pitchFamily="34" charset="-122"/>
                <a:cs typeface="Segoe UI" pitchFamily="34" charset="-120"/>
              </a:rPr>
              <a:t>4. AMAZON AWS ANTI-HACKING STACK</a:t>
            </a:r>
            <a:endParaRPr lang="en-US" sz="1200" dirty="0"/>
          </a:p>
        </p:txBody>
      </p:sp>
      <p:sp>
        <p:nvSpPr>
          <p:cNvPr id="20" name="Shape 18"/>
          <p:cNvSpPr/>
          <p:nvPr/>
        </p:nvSpPr>
        <p:spPr>
          <a:xfrm>
            <a:off x="6446520" y="2103120"/>
            <a:ext cx="4785055" cy="914400"/>
          </a:xfrm>
          <a:prstGeom prst="roundRect">
            <a:avLst>
              <a:gd name="adj" fmla="val 8000"/>
            </a:avLst>
          </a:prstGeom>
          <a:solidFill>
            <a:srgbClr val="F8FAFC"/>
          </a:solidFill>
          <a:ln w="12700">
            <a:solidFill>
              <a:srgbClr val="E2E8F0"/>
            </a:solidFill>
            <a:prstDash val="solid"/>
          </a:ln>
        </p:spPr>
      </p:sp>
      <p:sp>
        <p:nvSpPr>
          <p:cNvPr id="21" name="Text 19"/>
          <p:cNvSpPr/>
          <p:nvPr/>
        </p:nvSpPr>
        <p:spPr>
          <a:xfrm>
            <a:off x="6583680" y="2176272"/>
            <a:ext cx="4510735" cy="768096"/>
          </a:xfrm>
          <a:prstGeom prst="rect">
            <a:avLst/>
          </a:prstGeom>
          <a:noFill/>
          <a:ln/>
        </p:spPr>
        <p:txBody>
          <a:bodyPr wrap="square" rtlCol="0" anchor="t"/>
          <a:lstStyle/>
          <a:p>
            <a:pPr indent="0" marL="0">
              <a:lnSpc>
                <a:spcPct val="115000"/>
              </a:lnSpc>
              <a:buNone/>
            </a:pPr>
            <a:r>
              <a:rPr lang="en-US" sz="950" b="1" dirty="0">
                <a:solidFill>
                  <a:srgbClr val="D97706"/>
                </a:solidFill>
                <a:latin typeface="Segoe UI" pitchFamily="34" charset="0"/>
                <a:ea typeface="Segoe UI" pitchFamily="34" charset="-122"/>
                <a:cs typeface="Segoe UI" pitchFamily="34" charset="-120"/>
              </a:rPr>
              <a:t>✔  VPC Private Subnet Isolation
</a:t>
            </a:r>
            <a:pPr indent="0" marL="0">
              <a:lnSpc>
                <a:spcPct val="115000"/>
              </a:lnSpc>
              <a:buNone/>
            </a:pPr>
            <a:r>
              <a:rPr lang="en-US" sz="850" dirty="0">
                <a:solidFill>
                  <a:srgbClr val="0F172A"/>
                </a:solidFill>
                <a:latin typeface="Segoe UI" pitchFamily="34" charset="0"/>
                <a:ea typeface="Segoe UI" pitchFamily="34" charset="-122"/>
                <a:cs typeface="Segoe UI" pitchFamily="34" charset="-120"/>
              </a:rPr>
              <a:t>Database has NO public IP address. It resides in a mathematically isolated private subnet reachable ONLY by verified internal application servers.</a:t>
            </a:r>
            <a:endParaRPr lang="en-US" sz="950" dirty="0"/>
          </a:p>
        </p:txBody>
      </p:sp>
      <p:sp>
        <p:nvSpPr>
          <p:cNvPr id="22" name="Shape 20"/>
          <p:cNvSpPr/>
          <p:nvPr/>
        </p:nvSpPr>
        <p:spPr>
          <a:xfrm>
            <a:off x="6446520" y="3127248"/>
            <a:ext cx="4785055" cy="914400"/>
          </a:xfrm>
          <a:prstGeom prst="roundRect">
            <a:avLst>
              <a:gd name="adj" fmla="val 8000"/>
            </a:avLst>
          </a:prstGeom>
          <a:solidFill>
            <a:srgbClr val="F8FAFC"/>
          </a:solidFill>
          <a:ln w="12700">
            <a:solidFill>
              <a:srgbClr val="E2E8F0"/>
            </a:solidFill>
            <a:prstDash val="solid"/>
          </a:ln>
        </p:spPr>
      </p:sp>
      <p:sp>
        <p:nvSpPr>
          <p:cNvPr id="23" name="Text 21"/>
          <p:cNvSpPr/>
          <p:nvPr/>
        </p:nvSpPr>
        <p:spPr>
          <a:xfrm>
            <a:off x="6583680" y="3200400"/>
            <a:ext cx="4510735" cy="768096"/>
          </a:xfrm>
          <a:prstGeom prst="rect">
            <a:avLst/>
          </a:prstGeom>
          <a:noFill/>
          <a:ln/>
        </p:spPr>
        <p:txBody>
          <a:bodyPr wrap="square" rtlCol="0" anchor="t"/>
          <a:lstStyle/>
          <a:p>
            <a:pPr indent="0" marL="0">
              <a:lnSpc>
                <a:spcPct val="115000"/>
              </a:lnSpc>
              <a:buNone/>
            </a:pPr>
            <a:r>
              <a:rPr lang="en-US" sz="950" b="1" dirty="0">
                <a:solidFill>
                  <a:srgbClr val="D97706"/>
                </a:solidFill>
                <a:latin typeface="Segoe UI" pitchFamily="34" charset="0"/>
                <a:ea typeface="Segoe UI" pitchFamily="34" charset="-122"/>
                <a:cs typeface="Segoe UI" pitchFamily="34" charset="-120"/>
              </a:rPr>
              <a:t>✔  IAM Database Authentication
</a:t>
            </a:r>
            <a:pPr indent="0" marL="0">
              <a:lnSpc>
                <a:spcPct val="115000"/>
              </a:lnSpc>
              <a:buNone/>
            </a:pPr>
            <a:r>
              <a:rPr lang="en-US" sz="850" dirty="0">
                <a:solidFill>
                  <a:srgbClr val="0F172A"/>
                </a:solidFill>
                <a:latin typeface="Segoe UI" pitchFamily="34" charset="0"/>
                <a:ea typeface="Segoe UI" pitchFamily="34" charset="-122"/>
                <a:cs typeface="Segoe UI" pitchFamily="34" charset="-120"/>
              </a:rPr>
              <a:t>Replaces database passwords with temporary 15-minute cryptographically signed tokens generated by AWS IAM, completely preventing credential theft.</a:t>
            </a:r>
            <a:endParaRPr lang="en-US" sz="950" dirty="0"/>
          </a:p>
        </p:txBody>
      </p:sp>
      <p:sp>
        <p:nvSpPr>
          <p:cNvPr id="24" name="Shape 22"/>
          <p:cNvSpPr/>
          <p:nvPr/>
        </p:nvSpPr>
        <p:spPr>
          <a:xfrm>
            <a:off x="6446520" y="4151376"/>
            <a:ext cx="4785055" cy="914400"/>
          </a:xfrm>
          <a:prstGeom prst="roundRect">
            <a:avLst>
              <a:gd name="adj" fmla="val 8000"/>
            </a:avLst>
          </a:prstGeom>
          <a:solidFill>
            <a:srgbClr val="F8FAFC"/>
          </a:solidFill>
          <a:ln w="12700">
            <a:solidFill>
              <a:srgbClr val="E2E8F0"/>
            </a:solidFill>
            <a:prstDash val="solid"/>
          </a:ln>
        </p:spPr>
      </p:sp>
      <p:sp>
        <p:nvSpPr>
          <p:cNvPr id="25" name="Text 23"/>
          <p:cNvSpPr/>
          <p:nvPr/>
        </p:nvSpPr>
        <p:spPr>
          <a:xfrm>
            <a:off x="6583680" y="4224528"/>
            <a:ext cx="4510735" cy="768096"/>
          </a:xfrm>
          <a:prstGeom prst="rect">
            <a:avLst/>
          </a:prstGeom>
          <a:noFill/>
          <a:ln/>
        </p:spPr>
        <p:txBody>
          <a:bodyPr wrap="square" rtlCol="0" anchor="t"/>
          <a:lstStyle/>
          <a:p>
            <a:pPr indent="0" marL="0">
              <a:lnSpc>
                <a:spcPct val="115000"/>
              </a:lnSpc>
              <a:buNone/>
            </a:pPr>
            <a:r>
              <a:rPr lang="en-US" sz="950" b="1" dirty="0">
                <a:solidFill>
                  <a:srgbClr val="D97706"/>
                </a:solidFill>
                <a:latin typeface="Segoe UI" pitchFamily="34" charset="0"/>
                <a:ea typeface="Segoe UI" pitchFamily="34" charset="-122"/>
                <a:cs typeface="Segoe UI" pitchFamily="34" charset="-120"/>
              </a:rPr>
              <a:t>✔  AWS KMS Hardware Security Modules
</a:t>
            </a:r>
            <a:pPr indent="0" marL="0">
              <a:lnSpc>
                <a:spcPct val="115000"/>
              </a:lnSpc>
              <a:buNone/>
            </a:pPr>
            <a:r>
              <a:rPr lang="en-US" sz="850" dirty="0">
                <a:solidFill>
                  <a:srgbClr val="0F172A"/>
                </a:solidFill>
                <a:latin typeface="Segoe UI" pitchFamily="34" charset="0"/>
                <a:ea typeface="Segoe UI" pitchFamily="34" charset="-122"/>
                <a:cs typeface="Segoe UI" pitchFamily="34" charset="-120"/>
              </a:rPr>
              <a:t>Encryption keys are managed by dedicated hardware (FIPS 140-2 Level 3). Keys automatically rotate; raw data is unreadable if physical drives are seized.</a:t>
            </a:r>
            <a:endParaRPr lang="en-US" sz="950" dirty="0"/>
          </a:p>
        </p:txBody>
      </p:sp>
      <p:sp>
        <p:nvSpPr>
          <p:cNvPr id="26" name="Shape 24"/>
          <p:cNvSpPr/>
          <p:nvPr/>
        </p:nvSpPr>
        <p:spPr>
          <a:xfrm>
            <a:off x="6446520" y="5175504"/>
            <a:ext cx="4785055" cy="914400"/>
          </a:xfrm>
          <a:prstGeom prst="roundRect">
            <a:avLst>
              <a:gd name="adj" fmla="val 8000"/>
            </a:avLst>
          </a:prstGeom>
          <a:solidFill>
            <a:srgbClr val="F8FAFC"/>
          </a:solidFill>
          <a:ln w="12700">
            <a:solidFill>
              <a:srgbClr val="E2E8F0"/>
            </a:solidFill>
            <a:prstDash val="solid"/>
          </a:ln>
        </p:spPr>
      </p:sp>
      <p:sp>
        <p:nvSpPr>
          <p:cNvPr id="27" name="Text 25"/>
          <p:cNvSpPr/>
          <p:nvPr/>
        </p:nvSpPr>
        <p:spPr>
          <a:xfrm>
            <a:off x="6583680" y="5248656"/>
            <a:ext cx="4510735" cy="768096"/>
          </a:xfrm>
          <a:prstGeom prst="rect">
            <a:avLst/>
          </a:prstGeom>
          <a:noFill/>
          <a:ln/>
        </p:spPr>
        <p:txBody>
          <a:bodyPr wrap="square" rtlCol="0" anchor="t"/>
          <a:lstStyle/>
          <a:p>
            <a:pPr indent="0" marL="0">
              <a:lnSpc>
                <a:spcPct val="115000"/>
              </a:lnSpc>
              <a:buNone/>
            </a:pPr>
            <a:r>
              <a:rPr lang="en-US" sz="950" b="1" dirty="0">
                <a:solidFill>
                  <a:srgbClr val="D97706"/>
                </a:solidFill>
                <a:latin typeface="Segoe UI" pitchFamily="34" charset="0"/>
                <a:ea typeface="Segoe UI" pitchFamily="34" charset="-122"/>
                <a:cs typeface="Segoe UI" pitchFamily="34" charset="-120"/>
              </a:rPr>
              <a:t>✔  GuardDuty &amp; CloudTrail Auditing
</a:t>
            </a:r>
            <a:pPr indent="0" marL="0">
              <a:lnSpc>
                <a:spcPct val="115000"/>
              </a:lnSpc>
              <a:buNone/>
            </a:pPr>
            <a:r>
              <a:rPr lang="en-US" sz="850" dirty="0">
                <a:solidFill>
                  <a:srgbClr val="0F172A"/>
                </a:solidFill>
                <a:latin typeface="Segoe UI" pitchFamily="34" charset="0"/>
                <a:ea typeface="Segoe UI" pitchFamily="34" charset="-122"/>
                <a:cs typeface="Segoe UI" pitchFamily="34" charset="-120"/>
              </a:rPr>
              <a:t>Immutable tamper-proof logs record every single connection and configuration change with automated alerts on suspicious activity.</a:t>
            </a:r>
            <a:endParaRPr lang="en-US" sz="950" dirty="0"/>
          </a:p>
        </p:txBody>
      </p:sp>
      <p:sp>
        <p:nvSpPr>
          <p:cNvPr id="28" name="Shape 26"/>
          <p:cNvSpPr/>
          <p:nvPr/>
        </p:nvSpPr>
        <p:spPr>
          <a:xfrm>
            <a:off x="731520" y="6355080"/>
            <a:ext cx="10728655" cy="18288"/>
          </a:xfrm>
          <a:prstGeom prst="rect">
            <a:avLst/>
          </a:prstGeom>
          <a:solidFill>
            <a:srgbClr val="E2E8F0"/>
          </a:solidFill>
          <a:ln/>
        </p:spPr>
      </p:sp>
      <p:sp>
        <p:nvSpPr>
          <p:cNvPr id="29" name="Text 27"/>
          <p:cNvSpPr/>
          <p:nvPr/>
        </p:nvSpPr>
        <p:spPr>
          <a:xfrm>
            <a:off x="731520" y="6419088"/>
            <a:ext cx="7772400" cy="27432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CONFIDENTIAL &amp; PROPRIETARY | Enterprise Cloud Database Evaluation &amp; Advisory</a:t>
            </a:r>
            <a:endParaRPr lang="en-US" sz="850" dirty="0"/>
          </a:p>
        </p:txBody>
      </p:sp>
      <p:sp>
        <p:nvSpPr>
          <p:cNvPr id="30" name="Text 28"/>
          <p:cNvSpPr/>
          <p:nvPr/>
        </p:nvSpPr>
        <p:spPr>
          <a:xfrm>
            <a:off x="9631375" y="6419088"/>
            <a:ext cx="1828800" cy="274320"/>
          </a:xfrm>
          <a:prstGeom prst="rect">
            <a:avLst/>
          </a:prstGeom>
          <a:noFill/>
          <a:ln/>
        </p:spPr>
        <p:txBody>
          <a:bodyPr wrap="square" rtlCol="0" anchor="ctr"/>
          <a:lstStyle/>
          <a:p>
            <a:pPr algn="r" indent="0" marL="0">
              <a:buNone/>
            </a:pPr>
            <a:r>
              <a:rPr lang="en-US" sz="850" dirty="0">
                <a:solidFill>
                  <a:srgbClr val="94A3B8"/>
                </a:solidFill>
                <a:latin typeface="Segoe UI" pitchFamily="34" charset="0"/>
                <a:ea typeface="Segoe UI" pitchFamily="34" charset="-122"/>
                <a:cs typeface="Segoe UI" pitchFamily="34" charset="-120"/>
              </a:rPr>
              <a:t>Slide 9 of 17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p:spPr>
      </p:sp>
      <p:sp>
        <p:nvSpPr>
          <p:cNvPr id="3" name="Shape 1"/>
          <p:cNvSpPr/>
          <p:nvPr/>
        </p:nvSpPr>
        <p:spPr>
          <a:xfrm>
            <a:off x="731520" y="320040"/>
            <a:ext cx="2286000" cy="274320"/>
          </a:xfrm>
          <a:prstGeom prst="roundRect">
            <a:avLst>
              <a:gd name="adj" fmla="val 26667"/>
            </a:avLst>
          </a:prstGeom>
          <a:solidFill>
            <a:srgbClr val="EFF6FF"/>
          </a:solidFill>
          <a:ln w="12700">
            <a:solidFill>
              <a:srgbClr val="BFDBFE"/>
            </a:solidFill>
            <a:prstDash val="solid"/>
          </a:ln>
        </p:spPr>
      </p:sp>
      <p:sp>
        <p:nvSpPr>
          <p:cNvPr id="4" name="Text 2"/>
          <p:cNvSpPr/>
          <p:nvPr/>
        </p:nvSpPr>
        <p:spPr>
          <a:xfrm>
            <a:off x="731520" y="320040"/>
            <a:ext cx="2286000" cy="274320"/>
          </a:xfrm>
          <a:prstGeom prst="rect">
            <a:avLst/>
          </a:prstGeom>
          <a:noFill/>
          <a:ln/>
        </p:spPr>
        <p:txBody>
          <a:bodyPr wrap="square" rtlCol="0" anchor="ctr"/>
          <a:lstStyle/>
          <a:p>
            <a:pPr algn="ctr" indent="0" marL="0">
              <a:buNone/>
            </a:pPr>
            <a:r>
              <a:rPr lang="en-US" sz="900" b="1" dirty="0">
                <a:solidFill>
                  <a:srgbClr val="1D4ED8"/>
                </a:solidFill>
                <a:latin typeface="Segoe UI" pitchFamily="34" charset="0"/>
                <a:ea typeface="Segoe UI" pitchFamily="34" charset="-122"/>
                <a:cs typeface="Segoe UI" pitchFamily="34" charset="-120"/>
              </a:rPr>
              <a:t>SECURITY IMPLEMENTATION</a:t>
            </a:r>
            <a:endParaRPr lang="en-US" sz="900" dirty="0"/>
          </a:p>
        </p:txBody>
      </p:sp>
      <p:sp>
        <p:nvSpPr>
          <p:cNvPr id="5" name="Text 3"/>
          <p:cNvSpPr/>
          <p:nvPr/>
        </p:nvSpPr>
        <p:spPr>
          <a:xfrm>
            <a:off x="731520" y="658368"/>
            <a:ext cx="10728655" cy="502920"/>
          </a:xfrm>
          <a:prstGeom prst="rect">
            <a:avLst/>
          </a:prstGeom>
          <a:noFill/>
          <a:ln/>
        </p:spPr>
        <p:txBody>
          <a:bodyPr wrap="square" rtlCol="0" anchor="ctr"/>
          <a:lstStyle/>
          <a:p>
            <a:pPr indent="0" marL="0">
              <a:buNone/>
            </a:pPr>
            <a:r>
              <a:rPr lang="en-US" sz="2100" b="1" dirty="0">
                <a:solidFill>
                  <a:srgbClr val="0A0F1D"/>
                </a:solidFill>
                <a:latin typeface="Segoe UI" pitchFamily="34" charset="0"/>
                <a:ea typeface="Segoe UI" pitchFamily="34" charset="-122"/>
                <a:cs typeface="Segoe UI" pitchFamily="34" charset="-120"/>
              </a:rPr>
              <a:t>Anti-Hacking Checklist: Mandatory Controls We Implement</a:t>
            </a:r>
            <a:endParaRPr lang="en-US" sz="2100" dirty="0"/>
          </a:p>
        </p:txBody>
      </p:sp>
      <p:sp>
        <p:nvSpPr>
          <p:cNvPr id="6" name="Shape 4"/>
          <p:cNvSpPr/>
          <p:nvPr/>
        </p:nvSpPr>
        <p:spPr>
          <a:xfrm>
            <a:off x="731520" y="1325880"/>
            <a:ext cx="3413455" cy="4206240"/>
          </a:xfrm>
          <a:prstGeom prst="roundRect">
            <a:avLst>
              <a:gd name="adj" fmla="val 3215"/>
            </a:avLst>
          </a:prstGeom>
          <a:solidFill>
            <a:srgbClr val="FFFFFF"/>
          </a:solidFill>
          <a:ln w="15240">
            <a:solidFill>
              <a:srgbClr val="E2E8F0"/>
            </a:solidFill>
            <a:prstDash val="solid"/>
          </a:ln>
        </p:spPr>
      </p:sp>
      <p:sp>
        <p:nvSpPr>
          <p:cNvPr id="7" name="Shape 5"/>
          <p:cNvSpPr/>
          <p:nvPr/>
        </p:nvSpPr>
        <p:spPr>
          <a:xfrm>
            <a:off x="731520" y="1325880"/>
            <a:ext cx="3413455" cy="457200"/>
          </a:xfrm>
          <a:prstGeom prst="roundRect">
            <a:avLst>
              <a:gd name="adj" fmla="val 24000"/>
            </a:avLst>
          </a:prstGeom>
          <a:solidFill>
            <a:srgbClr val="1D4ED8"/>
          </a:solidFill>
          <a:ln w="12700">
            <a:solidFill>
              <a:srgbClr val="1D4ED8"/>
            </a:solidFill>
            <a:prstDash val="solid"/>
          </a:ln>
        </p:spPr>
      </p:sp>
      <p:sp>
        <p:nvSpPr>
          <p:cNvPr id="8" name="Text 6"/>
          <p:cNvSpPr/>
          <p:nvPr/>
        </p:nvSpPr>
        <p:spPr>
          <a:xfrm>
            <a:off x="731520" y="1325880"/>
            <a:ext cx="3413455" cy="457200"/>
          </a:xfrm>
          <a:prstGeom prst="rect">
            <a:avLst/>
          </a:prstGeom>
          <a:noFill/>
          <a:ln/>
        </p:spPr>
        <p:txBody>
          <a:bodyPr wrap="square"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1. NETWORK DEFENSE</a:t>
            </a:r>
            <a:endParaRPr lang="en-US" sz="1000" dirty="0"/>
          </a:p>
        </p:txBody>
      </p:sp>
      <p:sp>
        <p:nvSpPr>
          <p:cNvPr id="9" name="Shape 7"/>
          <p:cNvSpPr/>
          <p:nvPr/>
        </p:nvSpPr>
        <p:spPr>
          <a:xfrm>
            <a:off x="914400" y="1965960"/>
            <a:ext cx="3047695" cy="1005840"/>
          </a:xfrm>
          <a:prstGeom prst="roundRect">
            <a:avLst>
              <a:gd name="adj" fmla="val 7273"/>
            </a:avLst>
          </a:prstGeom>
          <a:solidFill>
            <a:srgbClr val="F8FAFC"/>
          </a:solidFill>
          <a:ln w="12700">
            <a:solidFill>
              <a:srgbClr val="E2E8F0"/>
            </a:solidFill>
            <a:prstDash val="solid"/>
          </a:ln>
        </p:spPr>
      </p:sp>
      <p:sp>
        <p:nvSpPr>
          <p:cNvPr id="10" name="Text 8"/>
          <p:cNvSpPr/>
          <p:nvPr/>
        </p:nvSpPr>
        <p:spPr>
          <a:xfrm>
            <a:off x="1051560" y="2057400"/>
            <a:ext cx="2773375" cy="822960"/>
          </a:xfrm>
          <a:prstGeom prst="rect">
            <a:avLst/>
          </a:prstGeom>
          <a:noFill/>
          <a:ln/>
        </p:spPr>
        <p:txBody>
          <a:bodyPr wrap="square" rtlCol="0" anchor="t"/>
          <a:lstStyle/>
          <a:p>
            <a:pPr indent="0" marL="0">
              <a:lnSpc>
                <a:spcPct val="118000"/>
              </a:lnSpc>
              <a:buNone/>
            </a:pPr>
            <a:r>
              <a:rPr lang="en-US" sz="950" b="1" dirty="0">
                <a:solidFill>
                  <a:srgbClr val="0F172A"/>
                </a:solidFill>
                <a:latin typeface="Segoe UI" pitchFamily="34" charset="0"/>
                <a:ea typeface="Segoe UI" pitchFamily="34" charset="-122"/>
                <a:cs typeface="Segoe UI" pitchFamily="34" charset="-120"/>
              </a:rPr>
              <a:t>✔  Strict IP Whitelisting
</a:t>
            </a:r>
            <a:pPr indent="0" marL="0">
              <a:lnSpc>
                <a:spcPct val="118000"/>
              </a:lnSpc>
              <a:buNone/>
            </a:pPr>
            <a:r>
              <a:rPr lang="en-US" sz="850" dirty="0">
                <a:solidFill>
                  <a:srgbClr val="475569"/>
                </a:solidFill>
                <a:latin typeface="Segoe UI" pitchFamily="34" charset="0"/>
                <a:ea typeface="Segoe UI" pitchFamily="34" charset="-122"/>
                <a:cs typeface="Segoe UI" pitchFamily="34" charset="-120"/>
              </a:rPr>
              <a:t>Block 100% of public internet; permit only verified client application server IPs.</a:t>
            </a:r>
            <a:endParaRPr lang="en-US" sz="950" dirty="0"/>
          </a:p>
        </p:txBody>
      </p:sp>
      <p:sp>
        <p:nvSpPr>
          <p:cNvPr id="11" name="Shape 9"/>
          <p:cNvSpPr/>
          <p:nvPr/>
        </p:nvSpPr>
        <p:spPr>
          <a:xfrm>
            <a:off x="914400" y="3108960"/>
            <a:ext cx="3047695" cy="1005840"/>
          </a:xfrm>
          <a:prstGeom prst="roundRect">
            <a:avLst>
              <a:gd name="adj" fmla="val 7273"/>
            </a:avLst>
          </a:prstGeom>
          <a:solidFill>
            <a:srgbClr val="F8FAFC"/>
          </a:solidFill>
          <a:ln w="12700">
            <a:solidFill>
              <a:srgbClr val="E2E8F0"/>
            </a:solidFill>
            <a:prstDash val="solid"/>
          </a:ln>
        </p:spPr>
      </p:sp>
      <p:sp>
        <p:nvSpPr>
          <p:cNvPr id="12" name="Text 10"/>
          <p:cNvSpPr/>
          <p:nvPr/>
        </p:nvSpPr>
        <p:spPr>
          <a:xfrm>
            <a:off x="1051560" y="3200400"/>
            <a:ext cx="2773375" cy="822960"/>
          </a:xfrm>
          <a:prstGeom prst="rect">
            <a:avLst/>
          </a:prstGeom>
          <a:noFill/>
          <a:ln/>
        </p:spPr>
        <p:txBody>
          <a:bodyPr wrap="square" rtlCol="0" anchor="t"/>
          <a:lstStyle/>
          <a:p>
            <a:pPr indent="0" marL="0">
              <a:lnSpc>
                <a:spcPct val="118000"/>
              </a:lnSpc>
              <a:buNone/>
            </a:pPr>
            <a:r>
              <a:rPr lang="en-US" sz="950" b="1" dirty="0">
                <a:solidFill>
                  <a:srgbClr val="0F172A"/>
                </a:solidFill>
                <a:latin typeface="Segoe UI" pitchFamily="34" charset="0"/>
                <a:ea typeface="Segoe UI" pitchFamily="34" charset="-122"/>
                <a:cs typeface="Segoe UI" pitchFamily="34" charset="-120"/>
              </a:rPr>
              <a:t>✔  Enforced TLS 1.3 / SSL
</a:t>
            </a:r>
            <a:pPr indent="0" marL="0">
              <a:lnSpc>
                <a:spcPct val="118000"/>
              </a:lnSpc>
              <a:buNone/>
            </a:pPr>
            <a:r>
              <a:rPr lang="en-US" sz="850" dirty="0">
                <a:solidFill>
                  <a:srgbClr val="475569"/>
                </a:solidFill>
                <a:latin typeface="Segoe UI" pitchFamily="34" charset="0"/>
                <a:ea typeface="Segoe UI" pitchFamily="34" charset="-122"/>
                <a:cs typeface="Segoe UI" pitchFamily="34" charset="-120"/>
              </a:rPr>
              <a:t>Mandate end-to-end encrypted transit with modern ciphers; reject unencrypted connections.</a:t>
            </a:r>
            <a:endParaRPr lang="en-US" sz="950" dirty="0"/>
          </a:p>
        </p:txBody>
      </p:sp>
      <p:sp>
        <p:nvSpPr>
          <p:cNvPr id="13" name="Shape 11"/>
          <p:cNvSpPr/>
          <p:nvPr/>
        </p:nvSpPr>
        <p:spPr>
          <a:xfrm>
            <a:off x="914400" y="4251960"/>
            <a:ext cx="3047695" cy="1005840"/>
          </a:xfrm>
          <a:prstGeom prst="roundRect">
            <a:avLst>
              <a:gd name="adj" fmla="val 7273"/>
            </a:avLst>
          </a:prstGeom>
          <a:solidFill>
            <a:srgbClr val="F8FAFC"/>
          </a:solidFill>
          <a:ln w="12700">
            <a:solidFill>
              <a:srgbClr val="E2E8F0"/>
            </a:solidFill>
            <a:prstDash val="solid"/>
          </a:ln>
        </p:spPr>
      </p:sp>
      <p:sp>
        <p:nvSpPr>
          <p:cNvPr id="14" name="Text 12"/>
          <p:cNvSpPr/>
          <p:nvPr/>
        </p:nvSpPr>
        <p:spPr>
          <a:xfrm>
            <a:off x="1051560" y="4343400"/>
            <a:ext cx="2773375" cy="822960"/>
          </a:xfrm>
          <a:prstGeom prst="rect">
            <a:avLst/>
          </a:prstGeom>
          <a:noFill/>
          <a:ln/>
        </p:spPr>
        <p:txBody>
          <a:bodyPr wrap="square" rtlCol="0" anchor="t"/>
          <a:lstStyle/>
          <a:p>
            <a:pPr indent="0" marL="0">
              <a:lnSpc>
                <a:spcPct val="118000"/>
              </a:lnSpc>
              <a:buNone/>
            </a:pPr>
            <a:r>
              <a:rPr lang="en-US" sz="950" b="1" dirty="0">
                <a:solidFill>
                  <a:srgbClr val="0F172A"/>
                </a:solidFill>
                <a:latin typeface="Segoe UI" pitchFamily="34" charset="0"/>
                <a:ea typeface="Segoe UI" pitchFamily="34" charset="-122"/>
                <a:cs typeface="Segoe UI" pitchFamily="34" charset="-120"/>
              </a:rPr>
              <a:t>✔  Private VPC Peering
</a:t>
            </a:r>
            <a:pPr indent="0" marL="0">
              <a:lnSpc>
                <a:spcPct val="118000"/>
              </a:lnSpc>
              <a:buNone/>
            </a:pPr>
            <a:r>
              <a:rPr lang="en-US" sz="850" dirty="0">
                <a:solidFill>
                  <a:srgbClr val="475569"/>
                </a:solidFill>
                <a:latin typeface="Segoe UI" pitchFamily="34" charset="0"/>
                <a:ea typeface="Segoe UI" pitchFamily="34" charset="-122"/>
                <a:cs typeface="Segoe UI" pitchFamily="34" charset="-120"/>
              </a:rPr>
              <a:t>Route database traffic through dedicated private subnets with zero external exposure.</a:t>
            </a:r>
            <a:endParaRPr lang="en-US" sz="950" dirty="0"/>
          </a:p>
        </p:txBody>
      </p:sp>
      <p:sp>
        <p:nvSpPr>
          <p:cNvPr id="15" name="Shape 13"/>
          <p:cNvSpPr/>
          <p:nvPr/>
        </p:nvSpPr>
        <p:spPr>
          <a:xfrm>
            <a:off x="4389120" y="1325880"/>
            <a:ext cx="3413455" cy="4206240"/>
          </a:xfrm>
          <a:prstGeom prst="roundRect">
            <a:avLst>
              <a:gd name="adj" fmla="val 3215"/>
            </a:avLst>
          </a:prstGeom>
          <a:solidFill>
            <a:srgbClr val="FFFFFF"/>
          </a:solidFill>
          <a:ln w="15240">
            <a:solidFill>
              <a:srgbClr val="E2E8F0"/>
            </a:solidFill>
            <a:prstDash val="solid"/>
          </a:ln>
        </p:spPr>
      </p:sp>
      <p:sp>
        <p:nvSpPr>
          <p:cNvPr id="16" name="Shape 14"/>
          <p:cNvSpPr/>
          <p:nvPr/>
        </p:nvSpPr>
        <p:spPr>
          <a:xfrm>
            <a:off x="4389120" y="1325880"/>
            <a:ext cx="3413455" cy="457200"/>
          </a:xfrm>
          <a:prstGeom prst="roundRect">
            <a:avLst>
              <a:gd name="adj" fmla="val 24000"/>
            </a:avLst>
          </a:prstGeom>
          <a:solidFill>
            <a:srgbClr val="059669"/>
          </a:solidFill>
          <a:ln w="12700">
            <a:solidFill>
              <a:srgbClr val="059669"/>
            </a:solidFill>
            <a:prstDash val="solid"/>
          </a:ln>
        </p:spPr>
      </p:sp>
      <p:sp>
        <p:nvSpPr>
          <p:cNvPr id="17" name="Text 15"/>
          <p:cNvSpPr/>
          <p:nvPr/>
        </p:nvSpPr>
        <p:spPr>
          <a:xfrm>
            <a:off x="4389120" y="1325880"/>
            <a:ext cx="3413455" cy="457200"/>
          </a:xfrm>
          <a:prstGeom prst="rect">
            <a:avLst/>
          </a:prstGeom>
          <a:noFill/>
          <a:ln/>
        </p:spPr>
        <p:txBody>
          <a:bodyPr wrap="square"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2. DATA DEFENSE</a:t>
            </a:r>
            <a:endParaRPr lang="en-US" sz="1000" dirty="0"/>
          </a:p>
        </p:txBody>
      </p:sp>
      <p:sp>
        <p:nvSpPr>
          <p:cNvPr id="18" name="Shape 16"/>
          <p:cNvSpPr/>
          <p:nvPr/>
        </p:nvSpPr>
        <p:spPr>
          <a:xfrm>
            <a:off x="4572000" y="1965960"/>
            <a:ext cx="3047695" cy="1005840"/>
          </a:xfrm>
          <a:prstGeom prst="roundRect">
            <a:avLst>
              <a:gd name="adj" fmla="val 7273"/>
            </a:avLst>
          </a:prstGeom>
          <a:solidFill>
            <a:srgbClr val="F8FAFC"/>
          </a:solidFill>
          <a:ln w="12700">
            <a:solidFill>
              <a:srgbClr val="E2E8F0"/>
            </a:solidFill>
            <a:prstDash val="solid"/>
          </a:ln>
        </p:spPr>
      </p:sp>
      <p:sp>
        <p:nvSpPr>
          <p:cNvPr id="19" name="Text 17"/>
          <p:cNvSpPr/>
          <p:nvPr/>
        </p:nvSpPr>
        <p:spPr>
          <a:xfrm>
            <a:off x="4709160" y="2057400"/>
            <a:ext cx="2773375" cy="822960"/>
          </a:xfrm>
          <a:prstGeom prst="rect">
            <a:avLst/>
          </a:prstGeom>
          <a:noFill/>
          <a:ln/>
        </p:spPr>
        <p:txBody>
          <a:bodyPr wrap="square" rtlCol="0" anchor="t"/>
          <a:lstStyle/>
          <a:p>
            <a:pPr indent="0" marL="0">
              <a:lnSpc>
                <a:spcPct val="118000"/>
              </a:lnSpc>
              <a:buNone/>
            </a:pPr>
            <a:r>
              <a:rPr lang="en-US" sz="950" b="1" dirty="0">
                <a:solidFill>
                  <a:srgbClr val="0F172A"/>
                </a:solidFill>
                <a:latin typeface="Segoe UI" pitchFamily="34" charset="0"/>
                <a:ea typeface="Segoe UI" pitchFamily="34" charset="-122"/>
                <a:cs typeface="Segoe UI" pitchFamily="34" charset="-120"/>
              </a:rPr>
              <a:t>✔  Row-Level Security (RLS)
</a:t>
            </a:r>
            <a:pPr indent="0" marL="0">
              <a:lnSpc>
                <a:spcPct val="118000"/>
              </a:lnSpc>
              <a:buNone/>
            </a:pPr>
            <a:r>
              <a:rPr lang="en-US" sz="850" dirty="0">
                <a:solidFill>
                  <a:srgbClr val="475569"/>
                </a:solidFill>
                <a:latin typeface="Segoe UI" pitchFamily="34" charset="0"/>
                <a:ea typeface="Segoe UI" pitchFamily="34" charset="-122"/>
                <a:cs typeface="Segoe UI" pitchFamily="34" charset="-120"/>
              </a:rPr>
              <a:t>Enforce strict tenant data separation directly inside the database engine.</a:t>
            </a:r>
            <a:endParaRPr lang="en-US" sz="950" dirty="0"/>
          </a:p>
        </p:txBody>
      </p:sp>
      <p:sp>
        <p:nvSpPr>
          <p:cNvPr id="20" name="Shape 18"/>
          <p:cNvSpPr/>
          <p:nvPr/>
        </p:nvSpPr>
        <p:spPr>
          <a:xfrm>
            <a:off x="4572000" y="3108960"/>
            <a:ext cx="3047695" cy="1005840"/>
          </a:xfrm>
          <a:prstGeom prst="roundRect">
            <a:avLst>
              <a:gd name="adj" fmla="val 7273"/>
            </a:avLst>
          </a:prstGeom>
          <a:solidFill>
            <a:srgbClr val="F8FAFC"/>
          </a:solidFill>
          <a:ln w="12700">
            <a:solidFill>
              <a:srgbClr val="E2E8F0"/>
            </a:solidFill>
            <a:prstDash val="solid"/>
          </a:ln>
        </p:spPr>
      </p:sp>
      <p:sp>
        <p:nvSpPr>
          <p:cNvPr id="21" name="Text 19"/>
          <p:cNvSpPr/>
          <p:nvPr/>
        </p:nvSpPr>
        <p:spPr>
          <a:xfrm>
            <a:off x="4709160" y="3200400"/>
            <a:ext cx="2773375" cy="822960"/>
          </a:xfrm>
          <a:prstGeom prst="rect">
            <a:avLst/>
          </a:prstGeom>
          <a:noFill/>
          <a:ln/>
        </p:spPr>
        <p:txBody>
          <a:bodyPr wrap="square" rtlCol="0" anchor="t"/>
          <a:lstStyle/>
          <a:p>
            <a:pPr indent="0" marL="0">
              <a:lnSpc>
                <a:spcPct val="118000"/>
              </a:lnSpc>
              <a:buNone/>
            </a:pPr>
            <a:r>
              <a:rPr lang="en-US" sz="950" b="1" dirty="0">
                <a:solidFill>
                  <a:srgbClr val="0F172A"/>
                </a:solidFill>
                <a:latin typeface="Segoe UI" pitchFamily="34" charset="0"/>
                <a:ea typeface="Segoe UI" pitchFamily="34" charset="-122"/>
                <a:cs typeface="Segoe UI" pitchFamily="34" charset="-120"/>
              </a:rPr>
              <a:t>✔  Parameterized Queries
</a:t>
            </a:r>
            <a:pPr indent="0" marL="0">
              <a:lnSpc>
                <a:spcPct val="118000"/>
              </a:lnSpc>
              <a:buNone/>
            </a:pPr>
            <a:r>
              <a:rPr lang="en-US" sz="850" dirty="0">
                <a:solidFill>
                  <a:srgbClr val="475569"/>
                </a:solidFill>
                <a:latin typeface="Segoe UI" pitchFamily="34" charset="0"/>
                <a:ea typeface="Segoe UI" pitchFamily="34" charset="-122"/>
                <a:cs typeface="Segoe UI" pitchFamily="34" charset="-120"/>
              </a:rPr>
              <a:t>Zero dynamic SQL concatenation; completely eliminate SQL injection vulnerability.</a:t>
            </a:r>
            <a:endParaRPr lang="en-US" sz="950" dirty="0"/>
          </a:p>
        </p:txBody>
      </p:sp>
      <p:sp>
        <p:nvSpPr>
          <p:cNvPr id="22" name="Shape 20"/>
          <p:cNvSpPr/>
          <p:nvPr/>
        </p:nvSpPr>
        <p:spPr>
          <a:xfrm>
            <a:off x="4572000" y="4251960"/>
            <a:ext cx="3047695" cy="1005840"/>
          </a:xfrm>
          <a:prstGeom prst="roundRect">
            <a:avLst>
              <a:gd name="adj" fmla="val 7273"/>
            </a:avLst>
          </a:prstGeom>
          <a:solidFill>
            <a:srgbClr val="F8FAFC"/>
          </a:solidFill>
          <a:ln w="12700">
            <a:solidFill>
              <a:srgbClr val="E2E8F0"/>
            </a:solidFill>
            <a:prstDash val="solid"/>
          </a:ln>
        </p:spPr>
      </p:sp>
      <p:sp>
        <p:nvSpPr>
          <p:cNvPr id="23" name="Text 21"/>
          <p:cNvSpPr/>
          <p:nvPr/>
        </p:nvSpPr>
        <p:spPr>
          <a:xfrm>
            <a:off x="4709160" y="4343400"/>
            <a:ext cx="2773375" cy="822960"/>
          </a:xfrm>
          <a:prstGeom prst="rect">
            <a:avLst/>
          </a:prstGeom>
          <a:noFill/>
          <a:ln/>
        </p:spPr>
        <p:txBody>
          <a:bodyPr wrap="square" rtlCol="0" anchor="t"/>
          <a:lstStyle/>
          <a:p>
            <a:pPr indent="0" marL="0">
              <a:lnSpc>
                <a:spcPct val="118000"/>
              </a:lnSpc>
              <a:buNone/>
            </a:pPr>
            <a:r>
              <a:rPr lang="en-US" sz="950" b="1" dirty="0">
                <a:solidFill>
                  <a:srgbClr val="0F172A"/>
                </a:solidFill>
                <a:latin typeface="Segoe UI" pitchFamily="34" charset="0"/>
                <a:ea typeface="Segoe UI" pitchFamily="34" charset="-122"/>
                <a:cs typeface="Segoe UI" pitchFamily="34" charset="-120"/>
              </a:rPr>
              <a:t>✔  AES-256 Storage Encryption
</a:t>
            </a:r>
            <a:pPr indent="0" marL="0">
              <a:lnSpc>
                <a:spcPct val="118000"/>
              </a:lnSpc>
              <a:buNone/>
            </a:pPr>
            <a:r>
              <a:rPr lang="en-US" sz="850" dirty="0">
                <a:solidFill>
                  <a:srgbClr val="475569"/>
                </a:solidFill>
                <a:latin typeface="Segoe UI" pitchFamily="34" charset="0"/>
                <a:ea typeface="Segoe UI" pitchFamily="34" charset="-122"/>
                <a:cs typeface="Segoe UI" pitchFamily="34" charset="-120"/>
              </a:rPr>
              <a:t>Automate hardware-accelerated encryption for data at rest and all backups.</a:t>
            </a:r>
            <a:endParaRPr lang="en-US" sz="950" dirty="0"/>
          </a:p>
        </p:txBody>
      </p:sp>
      <p:sp>
        <p:nvSpPr>
          <p:cNvPr id="24" name="Shape 22"/>
          <p:cNvSpPr/>
          <p:nvPr/>
        </p:nvSpPr>
        <p:spPr>
          <a:xfrm>
            <a:off x="8046720" y="1325880"/>
            <a:ext cx="3413455" cy="4206240"/>
          </a:xfrm>
          <a:prstGeom prst="roundRect">
            <a:avLst>
              <a:gd name="adj" fmla="val 3215"/>
            </a:avLst>
          </a:prstGeom>
          <a:solidFill>
            <a:srgbClr val="FFFFFF"/>
          </a:solidFill>
          <a:ln w="15240">
            <a:solidFill>
              <a:srgbClr val="E2E8F0"/>
            </a:solidFill>
            <a:prstDash val="solid"/>
          </a:ln>
        </p:spPr>
      </p:sp>
      <p:sp>
        <p:nvSpPr>
          <p:cNvPr id="25" name="Shape 23"/>
          <p:cNvSpPr/>
          <p:nvPr/>
        </p:nvSpPr>
        <p:spPr>
          <a:xfrm>
            <a:off x="8046720" y="1325880"/>
            <a:ext cx="3413455" cy="457200"/>
          </a:xfrm>
          <a:prstGeom prst="roundRect">
            <a:avLst>
              <a:gd name="adj" fmla="val 24000"/>
            </a:avLst>
          </a:prstGeom>
          <a:solidFill>
            <a:srgbClr val="D97706"/>
          </a:solidFill>
          <a:ln w="12700">
            <a:solidFill>
              <a:srgbClr val="D97706"/>
            </a:solidFill>
            <a:prstDash val="solid"/>
          </a:ln>
        </p:spPr>
      </p:sp>
      <p:sp>
        <p:nvSpPr>
          <p:cNvPr id="26" name="Text 24"/>
          <p:cNvSpPr/>
          <p:nvPr/>
        </p:nvSpPr>
        <p:spPr>
          <a:xfrm>
            <a:off x="8046720" y="1325880"/>
            <a:ext cx="3413455" cy="457200"/>
          </a:xfrm>
          <a:prstGeom prst="rect">
            <a:avLst/>
          </a:prstGeom>
          <a:noFill/>
          <a:ln/>
        </p:spPr>
        <p:txBody>
          <a:bodyPr wrap="square"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3. ACCESS DEFENSE</a:t>
            </a:r>
            <a:endParaRPr lang="en-US" sz="1000" dirty="0"/>
          </a:p>
        </p:txBody>
      </p:sp>
      <p:sp>
        <p:nvSpPr>
          <p:cNvPr id="27" name="Shape 25"/>
          <p:cNvSpPr/>
          <p:nvPr/>
        </p:nvSpPr>
        <p:spPr>
          <a:xfrm>
            <a:off x="8229600" y="1965960"/>
            <a:ext cx="3047695" cy="1005840"/>
          </a:xfrm>
          <a:prstGeom prst="roundRect">
            <a:avLst>
              <a:gd name="adj" fmla="val 7273"/>
            </a:avLst>
          </a:prstGeom>
          <a:solidFill>
            <a:srgbClr val="F8FAFC"/>
          </a:solidFill>
          <a:ln w="12700">
            <a:solidFill>
              <a:srgbClr val="E2E8F0"/>
            </a:solidFill>
            <a:prstDash val="solid"/>
          </a:ln>
        </p:spPr>
      </p:sp>
      <p:sp>
        <p:nvSpPr>
          <p:cNvPr id="28" name="Text 26"/>
          <p:cNvSpPr/>
          <p:nvPr/>
        </p:nvSpPr>
        <p:spPr>
          <a:xfrm>
            <a:off x="8366760" y="2057400"/>
            <a:ext cx="2773375" cy="822960"/>
          </a:xfrm>
          <a:prstGeom prst="rect">
            <a:avLst/>
          </a:prstGeom>
          <a:noFill/>
          <a:ln/>
        </p:spPr>
        <p:txBody>
          <a:bodyPr wrap="square" rtlCol="0" anchor="t"/>
          <a:lstStyle/>
          <a:p>
            <a:pPr indent="0" marL="0">
              <a:lnSpc>
                <a:spcPct val="118000"/>
              </a:lnSpc>
              <a:buNone/>
            </a:pPr>
            <a:r>
              <a:rPr lang="en-US" sz="950" b="1" dirty="0">
                <a:solidFill>
                  <a:srgbClr val="0F172A"/>
                </a:solidFill>
                <a:latin typeface="Segoe UI" pitchFamily="34" charset="0"/>
                <a:ea typeface="Segoe UI" pitchFamily="34" charset="-122"/>
                <a:cs typeface="Segoe UI" pitchFamily="34" charset="-120"/>
              </a:rPr>
              <a:t>✔  Least Privilege Access
</a:t>
            </a:r>
            <a:pPr indent="0" marL="0">
              <a:lnSpc>
                <a:spcPct val="118000"/>
              </a:lnSpc>
              <a:buNone/>
            </a:pPr>
            <a:r>
              <a:rPr lang="en-US" sz="850" dirty="0">
                <a:solidFill>
                  <a:srgbClr val="475569"/>
                </a:solidFill>
                <a:latin typeface="Segoe UI" pitchFamily="34" charset="0"/>
                <a:ea typeface="Segoe UI" pitchFamily="34" charset="-122"/>
                <a:cs typeface="Segoe UI" pitchFamily="34" charset="-120"/>
              </a:rPr>
              <a:t>Apps use restricted accounts; master passwords are never stored in source code.</a:t>
            </a:r>
            <a:endParaRPr lang="en-US" sz="950" dirty="0"/>
          </a:p>
        </p:txBody>
      </p:sp>
      <p:sp>
        <p:nvSpPr>
          <p:cNvPr id="29" name="Shape 27"/>
          <p:cNvSpPr/>
          <p:nvPr/>
        </p:nvSpPr>
        <p:spPr>
          <a:xfrm>
            <a:off x="8229600" y="3108960"/>
            <a:ext cx="3047695" cy="1005840"/>
          </a:xfrm>
          <a:prstGeom prst="roundRect">
            <a:avLst>
              <a:gd name="adj" fmla="val 7273"/>
            </a:avLst>
          </a:prstGeom>
          <a:solidFill>
            <a:srgbClr val="F8FAFC"/>
          </a:solidFill>
          <a:ln w="12700">
            <a:solidFill>
              <a:srgbClr val="E2E8F0"/>
            </a:solidFill>
            <a:prstDash val="solid"/>
          </a:ln>
        </p:spPr>
      </p:sp>
      <p:sp>
        <p:nvSpPr>
          <p:cNvPr id="30" name="Text 28"/>
          <p:cNvSpPr/>
          <p:nvPr/>
        </p:nvSpPr>
        <p:spPr>
          <a:xfrm>
            <a:off x="8366760" y="3200400"/>
            <a:ext cx="2773375" cy="822960"/>
          </a:xfrm>
          <a:prstGeom prst="rect">
            <a:avLst/>
          </a:prstGeom>
          <a:noFill/>
          <a:ln/>
        </p:spPr>
        <p:txBody>
          <a:bodyPr wrap="square" rtlCol="0" anchor="t"/>
          <a:lstStyle/>
          <a:p>
            <a:pPr indent="0" marL="0">
              <a:lnSpc>
                <a:spcPct val="118000"/>
              </a:lnSpc>
              <a:buNone/>
            </a:pPr>
            <a:r>
              <a:rPr lang="en-US" sz="950" b="1" dirty="0">
                <a:solidFill>
                  <a:srgbClr val="0F172A"/>
                </a:solidFill>
                <a:latin typeface="Segoe UI" pitchFamily="34" charset="0"/>
                <a:ea typeface="Segoe UI" pitchFamily="34" charset="-122"/>
                <a:cs typeface="Segoe UI" pitchFamily="34" charset="-120"/>
              </a:rPr>
              <a:t>✔  Multi-Factor Auth (MFA)
</a:t>
            </a:r>
            <a:pPr indent="0" marL="0">
              <a:lnSpc>
                <a:spcPct val="118000"/>
              </a:lnSpc>
              <a:buNone/>
            </a:pPr>
            <a:r>
              <a:rPr lang="en-US" sz="850" dirty="0">
                <a:solidFill>
                  <a:srgbClr val="475569"/>
                </a:solidFill>
                <a:latin typeface="Segoe UI" pitchFamily="34" charset="0"/>
                <a:ea typeface="Segoe UI" pitchFamily="34" charset="-122"/>
                <a:cs typeface="Segoe UI" pitchFamily="34" charset="-120"/>
              </a:rPr>
              <a:t>Mandatory hardware key / authenticator MFA for all engineers accessing consoles.</a:t>
            </a:r>
            <a:endParaRPr lang="en-US" sz="950" dirty="0"/>
          </a:p>
        </p:txBody>
      </p:sp>
      <p:sp>
        <p:nvSpPr>
          <p:cNvPr id="31" name="Shape 29"/>
          <p:cNvSpPr/>
          <p:nvPr/>
        </p:nvSpPr>
        <p:spPr>
          <a:xfrm>
            <a:off x="8229600" y="4251960"/>
            <a:ext cx="3047695" cy="1005840"/>
          </a:xfrm>
          <a:prstGeom prst="roundRect">
            <a:avLst>
              <a:gd name="adj" fmla="val 7273"/>
            </a:avLst>
          </a:prstGeom>
          <a:solidFill>
            <a:srgbClr val="F8FAFC"/>
          </a:solidFill>
          <a:ln w="12700">
            <a:solidFill>
              <a:srgbClr val="E2E8F0"/>
            </a:solidFill>
            <a:prstDash val="solid"/>
          </a:ln>
        </p:spPr>
      </p:sp>
      <p:sp>
        <p:nvSpPr>
          <p:cNvPr id="32" name="Text 30"/>
          <p:cNvSpPr/>
          <p:nvPr/>
        </p:nvSpPr>
        <p:spPr>
          <a:xfrm>
            <a:off x="8366760" y="4343400"/>
            <a:ext cx="2773375" cy="822960"/>
          </a:xfrm>
          <a:prstGeom prst="rect">
            <a:avLst/>
          </a:prstGeom>
          <a:noFill/>
          <a:ln/>
        </p:spPr>
        <p:txBody>
          <a:bodyPr wrap="square" rtlCol="0" anchor="t"/>
          <a:lstStyle/>
          <a:p>
            <a:pPr indent="0" marL="0">
              <a:lnSpc>
                <a:spcPct val="118000"/>
              </a:lnSpc>
              <a:buNone/>
            </a:pPr>
            <a:r>
              <a:rPr lang="en-US" sz="950" b="1" dirty="0">
                <a:solidFill>
                  <a:srgbClr val="0F172A"/>
                </a:solidFill>
                <a:latin typeface="Segoe UI" pitchFamily="34" charset="0"/>
                <a:ea typeface="Segoe UI" pitchFamily="34" charset="-122"/>
                <a:cs typeface="Segoe UI" pitchFamily="34" charset="-120"/>
              </a:rPr>
              <a:t>✔  Automated Daily Backups
</a:t>
            </a:r>
            <a:pPr indent="0" marL="0">
              <a:lnSpc>
                <a:spcPct val="118000"/>
              </a:lnSpc>
              <a:buNone/>
            </a:pPr>
            <a:r>
              <a:rPr lang="en-US" sz="850" dirty="0">
                <a:solidFill>
                  <a:srgbClr val="475569"/>
                </a:solidFill>
                <a:latin typeface="Segoe UI" pitchFamily="34" charset="0"/>
                <a:ea typeface="Segoe UI" pitchFamily="34" charset="-122"/>
                <a:cs typeface="Segoe UI" pitchFamily="34" charset="-120"/>
              </a:rPr>
              <a:t>Encrypted point-in-time recovery copies stored across separate geographic zones.</a:t>
            </a:r>
            <a:endParaRPr lang="en-US" sz="950" dirty="0"/>
          </a:p>
        </p:txBody>
      </p:sp>
      <p:sp>
        <p:nvSpPr>
          <p:cNvPr id="33" name="Shape 31"/>
          <p:cNvSpPr/>
          <p:nvPr/>
        </p:nvSpPr>
        <p:spPr>
          <a:xfrm>
            <a:off x="731520" y="5669280"/>
            <a:ext cx="10728655" cy="502920"/>
          </a:xfrm>
          <a:prstGeom prst="roundRect">
            <a:avLst>
              <a:gd name="adj" fmla="val 14545"/>
            </a:avLst>
          </a:prstGeom>
          <a:solidFill>
            <a:srgbClr val="EFF6FF"/>
          </a:solidFill>
          <a:ln w="12700">
            <a:solidFill>
              <a:srgbClr val="BFDBFE"/>
            </a:solidFill>
            <a:prstDash val="solid"/>
          </a:ln>
        </p:spPr>
      </p:sp>
      <p:sp>
        <p:nvSpPr>
          <p:cNvPr id="34" name="Text 32"/>
          <p:cNvSpPr/>
          <p:nvPr/>
        </p:nvSpPr>
        <p:spPr>
          <a:xfrm>
            <a:off x="731520" y="5669280"/>
            <a:ext cx="10728655" cy="502920"/>
          </a:xfrm>
          <a:prstGeom prst="rect">
            <a:avLst/>
          </a:prstGeom>
          <a:noFill/>
          <a:ln/>
        </p:spPr>
        <p:txBody>
          <a:bodyPr wrap="square" rtlCol="0" anchor="ctr"/>
          <a:lstStyle/>
          <a:p>
            <a:pPr algn="ctr" indent="0" marL="0">
              <a:buNone/>
            </a:pPr>
            <a:r>
              <a:rPr lang="en-US" sz="950" b="1" dirty="0">
                <a:solidFill>
                  <a:srgbClr val="1E40AF"/>
                </a:solidFill>
                <a:latin typeface="Segoe UI" pitchFamily="34" charset="0"/>
                <a:ea typeface="Segoe UI" pitchFamily="34" charset="-122"/>
                <a:cs typeface="Segoe UI" pitchFamily="34" charset="-120"/>
              </a:rPr>
              <a:t>CLIENT SECURITY GUARANTEE: With these 9 controls configured, database assets fully satisfy SOC 2, HIPAA, and GDPR standards.</a:t>
            </a:r>
            <a:endParaRPr lang="en-US" sz="950" dirty="0"/>
          </a:p>
        </p:txBody>
      </p:sp>
      <p:sp>
        <p:nvSpPr>
          <p:cNvPr id="35" name="Shape 33"/>
          <p:cNvSpPr/>
          <p:nvPr/>
        </p:nvSpPr>
        <p:spPr>
          <a:xfrm>
            <a:off x="731520" y="6355080"/>
            <a:ext cx="10728655" cy="18288"/>
          </a:xfrm>
          <a:prstGeom prst="rect">
            <a:avLst/>
          </a:prstGeom>
          <a:solidFill>
            <a:srgbClr val="E2E8F0"/>
          </a:solidFill>
          <a:ln/>
        </p:spPr>
      </p:sp>
      <p:sp>
        <p:nvSpPr>
          <p:cNvPr id="36" name="Text 34"/>
          <p:cNvSpPr/>
          <p:nvPr/>
        </p:nvSpPr>
        <p:spPr>
          <a:xfrm>
            <a:off x="731520" y="6419088"/>
            <a:ext cx="7772400" cy="27432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CONFIDENTIAL &amp; PROPRIETARY | Enterprise Cloud Database Evaluation &amp; Advisory</a:t>
            </a:r>
            <a:endParaRPr lang="en-US" sz="850" dirty="0"/>
          </a:p>
        </p:txBody>
      </p:sp>
      <p:sp>
        <p:nvSpPr>
          <p:cNvPr id="37" name="Text 35"/>
          <p:cNvSpPr/>
          <p:nvPr/>
        </p:nvSpPr>
        <p:spPr>
          <a:xfrm>
            <a:off x="9631375" y="6419088"/>
            <a:ext cx="1828800" cy="274320"/>
          </a:xfrm>
          <a:prstGeom prst="rect">
            <a:avLst/>
          </a:prstGeom>
          <a:noFill/>
          <a:ln/>
        </p:spPr>
        <p:txBody>
          <a:bodyPr wrap="square" rtlCol="0" anchor="ctr"/>
          <a:lstStyle/>
          <a:p>
            <a:pPr algn="r" indent="0" marL="0">
              <a:buNone/>
            </a:pPr>
            <a:r>
              <a:rPr lang="en-US" sz="850" dirty="0">
                <a:solidFill>
                  <a:srgbClr val="94A3B8"/>
                </a:solidFill>
                <a:latin typeface="Segoe UI" pitchFamily="34" charset="0"/>
                <a:ea typeface="Segoe UI" pitchFamily="34" charset="-122"/>
                <a:cs typeface="Segoe UI" pitchFamily="34" charset="-120"/>
              </a:rPr>
              <a:t>Slide 10 of 17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p:spPr>
      </p:sp>
      <p:sp>
        <p:nvSpPr>
          <p:cNvPr id="3" name="Shape 1"/>
          <p:cNvSpPr/>
          <p:nvPr/>
        </p:nvSpPr>
        <p:spPr>
          <a:xfrm>
            <a:off x="731520" y="320040"/>
            <a:ext cx="2286000" cy="274320"/>
          </a:xfrm>
          <a:prstGeom prst="roundRect">
            <a:avLst>
              <a:gd name="adj" fmla="val 26667"/>
            </a:avLst>
          </a:prstGeom>
          <a:solidFill>
            <a:srgbClr val="EFF6FF"/>
          </a:solidFill>
          <a:ln w="12700">
            <a:solidFill>
              <a:srgbClr val="BFDBFE"/>
            </a:solidFill>
            <a:prstDash val="solid"/>
          </a:ln>
        </p:spPr>
      </p:sp>
      <p:sp>
        <p:nvSpPr>
          <p:cNvPr id="4" name="Text 2"/>
          <p:cNvSpPr/>
          <p:nvPr/>
        </p:nvSpPr>
        <p:spPr>
          <a:xfrm>
            <a:off x="731520" y="320040"/>
            <a:ext cx="2286000" cy="274320"/>
          </a:xfrm>
          <a:prstGeom prst="rect">
            <a:avLst/>
          </a:prstGeom>
          <a:noFill/>
          <a:ln/>
        </p:spPr>
        <p:txBody>
          <a:bodyPr wrap="square" rtlCol="0" anchor="ctr"/>
          <a:lstStyle/>
          <a:p>
            <a:pPr algn="ctr" indent="0" marL="0">
              <a:buNone/>
            </a:pPr>
            <a:r>
              <a:rPr lang="en-US" sz="900" b="1" dirty="0">
                <a:solidFill>
                  <a:srgbClr val="1D4ED8"/>
                </a:solidFill>
                <a:latin typeface="Segoe UI" pitchFamily="34" charset="0"/>
                <a:ea typeface="Segoe UI" pitchFamily="34" charset="-122"/>
                <a:cs typeface="Segoe UI" pitchFamily="34" charset="-120"/>
              </a:rPr>
              <a:t>PRICING &amp; STORAGE (1/2)</a:t>
            </a:r>
            <a:endParaRPr lang="en-US" sz="900" dirty="0"/>
          </a:p>
        </p:txBody>
      </p:sp>
      <p:sp>
        <p:nvSpPr>
          <p:cNvPr id="5" name="Text 3"/>
          <p:cNvSpPr/>
          <p:nvPr/>
        </p:nvSpPr>
        <p:spPr>
          <a:xfrm>
            <a:off x="731520" y="658368"/>
            <a:ext cx="10728655" cy="502920"/>
          </a:xfrm>
          <a:prstGeom prst="rect">
            <a:avLst/>
          </a:prstGeom>
          <a:noFill/>
          <a:ln/>
        </p:spPr>
        <p:txBody>
          <a:bodyPr wrap="square" rtlCol="0" anchor="ctr"/>
          <a:lstStyle/>
          <a:p>
            <a:pPr indent="0" marL="0">
              <a:buNone/>
            </a:pPr>
            <a:r>
              <a:rPr lang="en-US" sz="2100" b="1" dirty="0">
                <a:solidFill>
                  <a:srgbClr val="0A0F1D"/>
                </a:solidFill>
                <a:latin typeface="Segoe UI" pitchFamily="34" charset="0"/>
                <a:ea typeface="Segoe UI" pitchFamily="34" charset="-122"/>
                <a:cs typeface="Segoe UI" pitchFamily="34" charset="-120"/>
              </a:rPr>
              <a:t>Pricing &amp; Capacity: Supabase vs. MongoDB Atlas</a:t>
            </a:r>
            <a:endParaRPr lang="en-US" sz="2100" dirty="0"/>
          </a:p>
        </p:txBody>
      </p:sp>
      <p:sp>
        <p:nvSpPr>
          <p:cNvPr id="6" name="Shape 4"/>
          <p:cNvSpPr/>
          <p:nvPr/>
        </p:nvSpPr>
        <p:spPr>
          <a:xfrm>
            <a:off x="731520" y="1325880"/>
            <a:ext cx="5242255" cy="4846320"/>
          </a:xfrm>
          <a:prstGeom prst="roundRect">
            <a:avLst>
              <a:gd name="adj" fmla="val 2264"/>
            </a:avLst>
          </a:prstGeom>
          <a:solidFill>
            <a:srgbClr val="FFFFFF"/>
          </a:solidFill>
          <a:ln w="15240">
            <a:solidFill>
              <a:srgbClr val="E2E8F0"/>
            </a:solidFill>
            <a:prstDash val="solid"/>
          </a:ln>
        </p:spPr>
      </p:sp>
      <p:sp>
        <p:nvSpPr>
          <p:cNvPr id="7" name="Shape 5"/>
          <p:cNvSpPr/>
          <p:nvPr/>
        </p:nvSpPr>
        <p:spPr>
          <a:xfrm>
            <a:off x="731520" y="1325880"/>
            <a:ext cx="5242255" cy="640080"/>
          </a:xfrm>
          <a:prstGeom prst="roundRect">
            <a:avLst>
              <a:gd name="adj" fmla="val 17143"/>
            </a:avLst>
          </a:prstGeom>
          <a:solidFill>
            <a:srgbClr val="059669"/>
          </a:solidFill>
          <a:ln w="12700">
            <a:solidFill>
              <a:srgbClr val="059669"/>
            </a:solidFill>
            <a:prstDash val="solid"/>
          </a:ln>
        </p:spPr>
      </p:sp>
      <p:sp>
        <p:nvSpPr>
          <p:cNvPr id="8" name="Text 6"/>
          <p:cNvSpPr/>
          <p:nvPr/>
        </p:nvSpPr>
        <p:spPr>
          <a:xfrm>
            <a:off x="1005840" y="1325880"/>
            <a:ext cx="4693615" cy="640080"/>
          </a:xfrm>
          <a:prstGeom prst="rect">
            <a:avLst/>
          </a:prstGeom>
          <a:noFill/>
          <a:ln/>
        </p:spPr>
        <p:txBody>
          <a:bodyPr wrap="square" rtlCol="0" anchor="ctr"/>
          <a:lstStyle/>
          <a:p>
            <a:pPr indent="0" marL="0">
              <a:buNone/>
            </a:pPr>
            <a:r>
              <a:rPr lang="en-US" sz="1200" b="1" dirty="0">
                <a:solidFill>
                  <a:srgbClr val="FFFFFF"/>
                </a:solidFill>
                <a:latin typeface="Segoe UI" pitchFamily="34" charset="0"/>
                <a:ea typeface="Segoe UI" pitchFamily="34" charset="-122"/>
                <a:cs typeface="Segoe UI" pitchFamily="34" charset="-120"/>
              </a:rPr>
              <a:t>SUPABASE PRICING BREAKDOWN</a:t>
            </a:r>
            <a:endParaRPr lang="en-US" sz="1200" dirty="0"/>
          </a:p>
        </p:txBody>
      </p:sp>
      <p:sp>
        <p:nvSpPr>
          <p:cNvPr id="9" name="Shape 7"/>
          <p:cNvSpPr/>
          <p:nvPr/>
        </p:nvSpPr>
        <p:spPr>
          <a:xfrm>
            <a:off x="960120" y="2103120"/>
            <a:ext cx="4785055" cy="1234440"/>
          </a:xfrm>
          <a:prstGeom prst="roundRect">
            <a:avLst>
              <a:gd name="adj" fmla="val 5926"/>
            </a:avLst>
          </a:prstGeom>
          <a:solidFill>
            <a:srgbClr val="F8FAFC"/>
          </a:solidFill>
          <a:ln w="12700">
            <a:solidFill>
              <a:srgbClr val="E2E8F0"/>
            </a:solidFill>
            <a:prstDash val="solid"/>
          </a:ln>
        </p:spPr>
      </p:sp>
      <p:sp>
        <p:nvSpPr>
          <p:cNvPr id="10" name="Text 8"/>
          <p:cNvSpPr/>
          <p:nvPr/>
        </p:nvSpPr>
        <p:spPr>
          <a:xfrm>
            <a:off x="1097280" y="2194560"/>
            <a:ext cx="4510735" cy="1051560"/>
          </a:xfrm>
          <a:prstGeom prst="rect">
            <a:avLst/>
          </a:prstGeom>
          <a:noFill/>
          <a:ln/>
        </p:spPr>
        <p:txBody>
          <a:bodyPr wrap="square" rtlCol="0" anchor="t"/>
          <a:lstStyle/>
          <a:p>
            <a:pPr indent="0" marL="0">
              <a:lnSpc>
                <a:spcPct val="118000"/>
              </a:lnSpc>
              <a:buNone/>
            </a:pPr>
            <a:r>
              <a:rPr lang="en-US" sz="1000" b="1" dirty="0">
                <a:solidFill>
                  <a:srgbClr val="059669"/>
                </a:solidFill>
                <a:latin typeface="Segoe UI" pitchFamily="34" charset="0"/>
                <a:ea typeface="Segoe UI" pitchFamily="34" charset="-122"/>
                <a:cs typeface="Segoe UI" pitchFamily="34" charset="-120"/>
              </a:rPr>
              <a:t>FREE TIER ($0 / Month)
</a:t>
            </a:r>
            <a:pPr indent="0" marL="0">
              <a:lnSpc>
                <a:spcPct val="118000"/>
              </a:lnSpc>
              <a:buNone/>
            </a:pPr>
            <a:r>
              <a:rPr lang="en-US" sz="880" dirty="0">
                <a:solidFill>
                  <a:srgbClr val="0F172A"/>
                </a:solidFill>
                <a:latin typeface="Segoe UI" pitchFamily="34" charset="0"/>
                <a:ea typeface="Segoe UI" pitchFamily="34" charset="-122"/>
                <a:cs typeface="Segoe UI" pitchFamily="34" charset="-120"/>
              </a:rPr>
              <a:t>• 500 MB database storage included free forever.</a:t>
            </a:r>
            <a:endParaRPr lang="en-US" sz="1000" dirty="0"/>
          </a:p>
          <a:p>
            <a:pPr indent="0" marL="0">
              <a:lnSpc>
                <a:spcPct val="118000"/>
              </a:lnSpc>
              <a:buNone/>
            </a:pPr>
            <a:r>
              <a:rPr lang="en-US" sz="880" dirty="0">
                <a:solidFill>
                  <a:srgbClr val="0F172A"/>
                </a:solidFill>
                <a:latin typeface="Segoe UI" pitchFamily="34" charset="0"/>
                <a:ea typeface="Segoe UI" pitchFamily="34" charset="-122"/>
                <a:cs typeface="Segoe UI" pitchFamily="34" charset="-120"/>
              </a:rPr>
              <a:t>• Supports up to 50,000 Monthly Active Users (MAU).</a:t>
            </a:r>
            <a:endParaRPr lang="en-US" sz="1000" dirty="0"/>
          </a:p>
          <a:p>
            <a:pPr indent="0" marL="0">
              <a:lnSpc>
                <a:spcPct val="118000"/>
              </a:lnSpc>
              <a:buNone/>
            </a:pPr>
            <a:r>
              <a:rPr lang="en-US" sz="880" dirty="0">
                <a:solidFill>
                  <a:srgbClr val="0F172A"/>
                </a:solidFill>
                <a:latin typeface="Segoe UI" pitchFamily="34" charset="0"/>
                <a:ea typeface="Segoe UI" pitchFamily="34" charset="-122"/>
                <a:cs typeface="Segoe UI" pitchFamily="34" charset="-120"/>
              </a:rPr>
              <a:t>• 5 GB file storage &amp; 5 GB bandwidth included.</a:t>
            </a:r>
            <a:endParaRPr lang="en-US" sz="1000" dirty="0"/>
          </a:p>
          <a:p>
            <a:pPr indent="0" marL="0">
              <a:lnSpc>
                <a:spcPct val="118000"/>
              </a:lnSpc>
              <a:buNone/>
            </a:pPr>
            <a:r>
              <a:rPr lang="en-US" sz="880" dirty="0">
                <a:solidFill>
                  <a:srgbClr val="0F172A"/>
                </a:solidFill>
                <a:latin typeface="Segoe UI" pitchFamily="34" charset="0"/>
                <a:ea typeface="Segoe UI" pitchFamily="34" charset="-122"/>
                <a:cs typeface="Segoe UI" pitchFamily="34" charset="-120"/>
              </a:rPr>
              <a:t>• Zero credit card required to sign up.</a:t>
            </a:r>
            <a:endParaRPr lang="en-US" sz="1000" dirty="0"/>
          </a:p>
        </p:txBody>
      </p:sp>
      <p:sp>
        <p:nvSpPr>
          <p:cNvPr id="11" name="Shape 9"/>
          <p:cNvSpPr/>
          <p:nvPr/>
        </p:nvSpPr>
        <p:spPr>
          <a:xfrm>
            <a:off x="960120" y="3429000"/>
            <a:ext cx="4785055" cy="1234440"/>
          </a:xfrm>
          <a:prstGeom prst="roundRect">
            <a:avLst>
              <a:gd name="adj" fmla="val 5926"/>
            </a:avLst>
          </a:prstGeom>
          <a:solidFill>
            <a:srgbClr val="F8FAFC"/>
          </a:solidFill>
          <a:ln w="12700">
            <a:solidFill>
              <a:srgbClr val="E2E8F0"/>
            </a:solidFill>
            <a:prstDash val="solid"/>
          </a:ln>
        </p:spPr>
      </p:sp>
      <p:sp>
        <p:nvSpPr>
          <p:cNvPr id="12" name="Text 10"/>
          <p:cNvSpPr/>
          <p:nvPr/>
        </p:nvSpPr>
        <p:spPr>
          <a:xfrm>
            <a:off x="1097280" y="3520440"/>
            <a:ext cx="4510735" cy="1051560"/>
          </a:xfrm>
          <a:prstGeom prst="rect">
            <a:avLst/>
          </a:prstGeom>
          <a:noFill/>
          <a:ln/>
        </p:spPr>
        <p:txBody>
          <a:bodyPr wrap="square" rtlCol="0" anchor="t"/>
          <a:lstStyle/>
          <a:p>
            <a:pPr indent="0" marL="0">
              <a:lnSpc>
                <a:spcPct val="118000"/>
              </a:lnSpc>
              <a:buNone/>
            </a:pPr>
            <a:r>
              <a:rPr lang="en-US" sz="1000" b="1" dirty="0">
                <a:solidFill>
                  <a:srgbClr val="059669"/>
                </a:solidFill>
                <a:latin typeface="Segoe UI" pitchFamily="34" charset="0"/>
                <a:ea typeface="Segoe UI" pitchFamily="34" charset="-122"/>
                <a:cs typeface="Segoe UI" pitchFamily="34" charset="-120"/>
              </a:rPr>
              <a:t>PRO PLAN ($25 / Month)
</a:t>
            </a:r>
            <a:pPr indent="0" marL="0">
              <a:lnSpc>
                <a:spcPct val="118000"/>
              </a:lnSpc>
              <a:buNone/>
            </a:pPr>
            <a:r>
              <a:rPr lang="en-US" sz="880" dirty="0">
                <a:solidFill>
                  <a:srgbClr val="0F172A"/>
                </a:solidFill>
                <a:latin typeface="Segoe UI" pitchFamily="34" charset="0"/>
                <a:ea typeface="Segoe UI" pitchFamily="34" charset="-122"/>
                <a:cs typeface="Segoe UI" pitchFamily="34" charset="-120"/>
              </a:rPr>
              <a:t>• 8 GB database storage included (auto-expands at $0.125/GB).</a:t>
            </a:r>
            <a:endParaRPr lang="en-US" sz="1000" dirty="0"/>
          </a:p>
          <a:p>
            <a:pPr indent="0" marL="0">
              <a:lnSpc>
                <a:spcPct val="118000"/>
              </a:lnSpc>
              <a:buNone/>
            </a:pPr>
            <a:r>
              <a:rPr lang="en-US" sz="880" dirty="0">
                <a:solidFill>
                  <a:srgbClr val="0F172A"/>
                </a:solidFill>
                <a:latin typeface="Segoe UI" pitchFamily="34" charset="0"/>
                <a:ea typeface="Segoe UI" pitchFamily="34" charset="-122"/>
                <a:cs typeface="Segoe UI" pitchFamily="34" charset="-120"/>
              </a:rPr>
              <a:t>• Up to 100,000 Monthly Active Users included.</a:t>
            </a:r>
            <a:endParaRPr lang="en-US" sz="1000" dirty="0"/>
          </a:p>
          <a:p>
            <a:pPr indent="0" marL="0">
              <a:lnSpc>
                <a:spcPct val="118000"/>
              </a:lnSpc>
              <a:buNone/>
            </a:pPr>
            <a:r>
              <a:rPr lang="en-US" sz="880" dirty="0">
                <a:solidFill>
                  <a:srgbClr val="0F172A"/>
                </a:solidFill>
                <a:latin typeface="Segoe UI" pitchFamily="34" charset="0"/>
                <a:ea typeface="Segoe UI" pitchFamily="34" charset="-122"/>
                <a:cs typeface="Segoe UI" pitchFamily="34" charset="-120"/>
              </a:rPr>
              <a:t>• 100 GB file storage &amp; 250 GB bandwidth included.</a:t>
            </a:r>
            <a:endParaRPr lang="en-US" sz="1000" dirty="0"/>
          </a:p>
          <a:p>
            <a:pPr indent="0" marL="0">
              <a:lnSpc>
                <a:spcPct val="118000"/>
              </a:lnSpc>
              <a:buNone/>
            </a:pPr>
            <a:r>
              <a:rPr lang="en-US" sz="880" dirty="0">
                <a:solidFill>
                  <a:srgbClr val="0F172A"/>
                </a:solidFill>
                <a:latin typeface="Segoe UI" pitchFamily="34" charset="0"/>
                <a:ea typeface="Segoe UI" pitchFamily="34" charset="-122"/>
                <a:cs typeface="Segoe UI" pitchFamily="34" charset="-120"/>
              </a:rPr>
              <a:t>• Daily automated backups; compute never pauses.</a:t>
            </a:r>
            <a:endParaRPr lang="en-US" sz="1000" dirty="0"/>
          </a:p>
        </p:txBody>
      </p:sp>
      <p:sp>
        <p:nvSpPr>
          <p:cNvPr id="13" name="Shape 11"/>
          <p:cNvSpPr/>
          <p:nvPr/>
        </p:nvSpPr>
        <p:spPr>
          <a:xfrm>
            <a:off x="960120" y="4754880"/>
            <a:ext cx="4785055" cy="1234440"/>
          </a:xfrm>
          <a:prstGeom prst="roundRect">
            <a:avLst>
              <a:gd name="adj" fmla="val 5926"/>
            </a:avLst>
          </a:prstGeom>
          <a:solidFill>
            <a:srgbClr val="F8FAFC"/>
          </a:solidFill>
          <a:ln w="12700">
            <a:solidFill>
              <a:srgbClr val="E2E8F0"/>
            </a:solidFill>
            <a:prstDash val="solid"/>
          </a:ln>
        </p:spPr>
      </p:sp>
      <p:sp>
        <p:nvSpPr>
          <p:cNvPr id="14" name="Text 12"/>
          <p:cNvSpPr/>
          <p:nvPr/>
        </p:nvSpPr>
        <p:spPr>
          <a:xfrm>
            <a:off x="1097280" y="4846320"/>
            <a:ext cx="4510735" cy="1051560"/>
          </a:xfrm>
          <a:prstGeom prst="rect">
            <a:avLst/>
          </a:prstGeom>
          <a:noFill/>
          <a:ln/>
        </p:spPr>
        <p:txBody>
          <a:bodyPr wrap="square" rtlCol="0" anchor="t"/>
          <a:lstStyle/>
          <a:p>
            <a:pPr indent="0" marL="0">
              <a:lnSpc>
                <a:spcPct val="118000"/>
              </a:lnSpc>
              <a:buNone/>
            </a:pPr>
            <a:r>
              <a:rPr lang="en-US" sz="1000" b="1" dirty="0">
                <a:solidFill>
                  <a:srgbClr val="059669"/>
                </a:solidFill>
                <a:latin typeface="Segoe UI" pitchFamily="34" charset="0"/>
                <a:ea typeface="Segoe UI" pitchFamily="34" charset="-122"/>
                <a:cs typeface="Segoe UI" pitchFamily="34" charset="-120"/>
              </a:rPr>
              <a:t>TEAM TIER ($599 / Month)
</a:t>
            </a:r>
            <a:pPr indent="0" marL="0">
              <a:lnSpc>
                <a:spcPct val="118000"/>
              </a:lnSpc>
              <a:buNone/>
            </a:pPr>
            <a:r>
              <a:rPr lang="en-US" sz="880" dirty="0">
                <a:solidFill>
                  <a:srgbClr val="0F172A"/>
                </a:solidFill>
                <a:latin typeface="Segoe UI" pitchFamily="34" charset="0"/>
                <a:ea typeface="Segoe UI" pitchFamily="34" charset="-122"/>
                <a:cs typeface="Segoe UI" pitchFamily="34" charset="-120"/>
              </a:rPr>
              <a:t>• Priority support, SOC2 compliance, custom SLA, and team roles.</a:t>
            </a:r>
            <a:endParaRPr lang="en-US" sz="1000" dirty="0"/>
          </a:p>
        </p:txBody>
      </p:sp>
      <p:sp>
        <p:nvSpPr>
          <p:cNvPr id="15" name="Shape 13"/>
          <p:cNvSpPr/>
          <p:nvPr/>
        </p:nvSpPr>
        <p:spPr>
          <a:xfrm>
            <a:off x="6217920" y="1325880"/>
            <a:ext cx="5242255" cy="4846320"/>
          </a:xfrm>
          <a:prstGeom prst="roundRect">
            <a:avLst>
              <a:gd name="adj" fmla="val 2264"/>
            </a:avLst>
          </a:prstGeom>
          <a:solidFill>
            <a:srgbClr val="FFFFFF"/>
          </a:solidFill>
          <a:ln w="15240">
            <a:solidFill>
              <a:srgbClr val="E2E8F0"/>
            </a:solidFill>
            <a:prstDash val="solid"/>
          </a:ln>
        </p:spPr>
      </p:sp>
      <p:sp>
        <p:nvSpPr>
          <p:cNvPr id="16" name="Shape 14"/>
          <p:cNvSpPr/>
          <p:nvPr/>
        </p:nvSpPr>
        <p:spPr>
          <a:xfrm>
            <a:off x="6217920" y="1325880"/>
            <a:ext cx="5242255" cy="640080"/>
          </a:xfrm>
          <a:prstGeom prst="roundRect">
            <a:avLst>
              <a:gd name="adj" fmla="val 17143"/>
            </a:avLst>
          </a:prstGeom>
          <a:solidFill>
            <a:srgbClr val="16A34A"/>
          </a:solidFill>
          <a:ln w="12700">
            <a:solidFill>
              <a:srgbClr val="16A34A"/>
            </a:solidFill>
            <a:prstDash val="solid"/>
          </a:ln>
        </p:spPr>
      </p:sp>
      <p:sp>
        <p:nvSpPr>
          <p:cNvPr id="17" name="Text 15"/>
          <p:cNvSpPr/>
          <p:nvPr/>
        </p:nvSpPr>
        <p:spPr>
          <a:xfrm>
            <a:off x="6492240" y="1325880"/>
            <a:ext cx="4693615" cy="640080"/>
          </a:xfrm>
          <a:prstGeom prst="rect">
            <a:avLst/>
          </a:prstGeom>
          <a:noFill/>
          <a:ln/>
        </p:spPr>
        <p:txBody>
          <a:bodyPr wrap="square" rtlCol="0" anchor="ctr"/>
          <a:lstStyle/>
          <a:p>
            <a:pPr indent="0" marL="0">
              <a:buNone/>
            </a:pPr>
            <a:r>
              <a:rPr lang="en-US" sz="1200" b="1" dirty="0">
                <a:solidFill>
                  <a:srgbClr val="FFFFFF"/>
                </a:solidFill>
                <a:latin typeface="Segoe UI" pitchFamily="34" charset="0"/>
                <a:ea typeface="Segoe UI" pitchFamily="34" charset="-122"/>
                <a:cs typeface="Segoe UI" pitchFamily="34" charset="-120"/>
              </a:rPr>
              <a:t>MONGODB ATLAS PRICING BREAKDOWN</a:t>
            </a:r>
            <a:endParaRPr lang="en-US" sz="1200" dirty="0"/>
          </a:p>
        </p:txBody>
      </p:sp>
      <p:sp>
        <p:nvSpPr>
          <p:cNvPr id="18" name="Shape 16"/>
          <p:cNvSpPr/>
          <p:nvPr/>
        </p:nvSpPr>
        <p:spPr>
          <a:xfrm>
            <a:off x="6446520" y="2103120"/>
            <a:ext cx="4785055" cy="1234440"/>
          </a:xfrm>
          <a:prstGeom prst="roundRect">
            <a:avLst>
              <a:gd name="adj" fmla="val 5926"/>
            </a:avLst>
          </a:prstGeom>
          <a:solidFill>
            <a:srgbClr val="F8FAFC"/>
          </a:solidFill>
          <a:ln w="12700">
            <a:solidFill>
              <a:srgbClr val="E2E8F0"/>
            </a:solidFill>
            <a:prstDash val="solid"/>
          </a:ln>
        </p:spPr>
      </p:sp>
      <p:sp>
        <p:nvSpPr>
          <p:cNvPr id="19" name="Text 17"/>
          <p:cNvSpPr/>
          <p:nvPr/>
        </p:nvSpPr>
        <p:spPr>
          <a:xfrm>
            <a:off x="6583680" y="2194560"/>
            <a:ext cx="4510735" cy="1051560"/>
          </a:xfrm>
          <a:prstGeom prst="rect">
            <a:avLst/>
          </a:prstGeom>
          <a:noFill/>
          <a:ln/>
        </p:spPr>
        <p:txBody>
          <a:bodyPr wrap="square" rtlCol="0" anchor="t"/>
          <a:lstStyle/>
          <a:p>
            <a:pPr indent="0" marL="0">
              <a:lnSpc>
                <a:spcPct val="118000"/>
              </a:lnSpc>
              <a:buNone/>
            </a:pPr>
            <a:r>
              <a:rPr lang="en-US" sz="1000" b="1" dirty="0">
                <a:solidFill>
                  <a:srgbClr val="16A34A"/>
                </a:solidFill>
                <a:latin typeface="Segoe UI" pitchFamily="34" charset="0"/>
                <a:ea typeface="Segoe UI" pitchFamily="34" charset="-122"/>
                <a:cs typeface="Segoe UI" pitchFamily="34" charset="-120"/>
              </a:rPr>
              <a:t>FREE M0 SANDBOX ($0 / Month)
</a:t>
            </a:r>
            <a:pPr indent="0" marL="0">
              <a:lnSpc>
                <a:spcPct val="118000"/>
              </a:lnSpc>
              <a:buNone/>
            </a:pPr>
            <a:r>
              <a:rPr lang="en-US" sz="880" dirty="0">
                <a:solidFill>
                  <a:srgbClr val="0F172A"/>
                </a:solidFill>
                <a:latin typeface="Segoe UI" pitchFamily="34" charset="0"/>
                <a:ea typeface="Segoe UI" pitchFamily="34" charset="-122"/>
                <a:cs typeface="Segoe UI" pitchFamily="34" charset="-120"/>
              </a:rPr>
              <a:t>• 512 MB storage free forever (shared RAM/CPU).</a:t>
            </a:r>
            <a:endParaRPr lang="en-US" sz="1000" dirty="0"/>
          </a:p>
          <a:p>
            <a:pPr indent="0" marL="0">
              <a:lnSpc>
                <a:spcPct val="118000"/>
              </a:lnSpc>
              <a:buNone/>
            </a:pPr>
            <a:r>
              <a:rPr lang="en-US" sz="880" dirty="0">
                <a:solidFill>
                  <a:srgbClr val="0F172A"/>
                </a:solidFill>
                <a:latin typeface="Segoe UI" pitchFamily="34" charset="0"/>
                <a:ea typeface="Segoe UI" pitchFamily="34" charset="-122"/>
                <a:cs typeface="Segoe UI" pitchFamily="34" charset="-120"/>
              </a:rPr>
              <a:t>• Up to ~15,000 active users; 500 concurrent connections.</a:t>
            </a:r>
            <a:endParaRPr lang="en-US" sz="1000" dirty="0"/>
          </a:p>
          <a:p>
            <a:pPr indent="0" marL="0">
              <a:lnSpc>
                <a:spcPct val="118000"/>
              </a:lnSpc>
              <a:buNone/>
            </a:pPr>
            <a:r>
              <a:rPr lang="en-US" sz="880" dirty="0">
                <a:solidFill>
                  <a:srgbClr val="0F172A"/>
                </a:solidFill>
                <a:latin typeface="Segoe UI" pitchFamily="34" charset="0"/>
                <a:ea typeface="Segoe UI" pitchFamily="34" charset="-122"/>
                <a:cs typeface="Segoe UI" pitchFamily="34" charset="-120"/>
              </a:rPr>
              <a:t>• Includes built-in full-text search engine.</a:t>
            </a:r>
            <a:endParaRPr lang="en-US" sz="1000" dirty="0"/>
          </a:p>
          <a:p>
            <a:pPr indent="0" marL="0">
              <a:lnSpc>
                <a:spcPct val="118000"/>
              </a:lnSpc>
              <a:buNone/>
            </a:pPr>
            <a:r>
              <a:rPr lang="en-US" sz="880" dirty="0">
                <a:solidFill>
                  <a:srgbClr val="0F172A"/>
                </a:solidFill>
                <a:latin typeface="Segoe UI" pitchFamily="34" charset="0"/>
                <a:ea typeface="Segoe UI" pitchFamily="34" charset="-122"/>
                <a:cs typeface="Segoe UI" pitchFamily="34" charset="-120"/>
              </a:rPr>
              <a:t>• Zero credit card required to start.</a:t>
            </a:r>
            <a:endParaRPr lang="en-US" sz="1000" dirty="0"/>
          </a:p>
        </p:txBody>
      </p:sp>
      <p:sp>
        <p:nvSpPr>
          <p:cNvPr id="20" name="Shape 18"/>
          <p:cNvSpPr/>
          <p:nvPr/>
        </p:nvSpPr>
        <p:spPr>
          <a:xfrm>
            <a:off x="6446520" y="3429000"/>
            <a:ext cx="4785055" cy="1234440"/>
          </a:xfrm>
          <a:prstGeom prst="roundRect">
            <a:avLst>
              <a:gd name="adj" fmla="val 5926"/>
            </a:avLst>
          </a:prstGeom>
          <a:solidFill>
            <a:srgbClr val="F8FAFC"/>
          </a:solidFill>
          <a:ln w="12700">
            <a:solidFill>
              <a:srgbClr val="E2E8F0"/>
            </a:solidFill>
            <a:prstDash val="solid"/>
          </a:ln>
        </p:spPr>
      </p:sp>
      <p:sp>
        <p:nvSpPr>
          <p:cNvPr id="21" name="Text 19"/>
          <p:cNvSpPr/>
          <p:nvPr/>
        </p:nvSpPr>
        <p:spPr>
          <a:xfrm>
            <a:off x="6583680" y="3520440"/>
            <a:ext cx="4510735" cy="1051560"/>
          </a:xfrm>
          <a:prstGeom prst="rect">
            <a:avLst/>
          </a:prstGeom>
          <a:noFill/>
          <a:ln/>
        </p:spPr>
        <p:txBody>
          <a:bodyPr wrap="square" rtlCol="0" anchor="t"/>
          <a:lstStyle/>
          <a:p>
            <a:pPr indent="0" marL="0">
              <a:lnSpc>
                <a:spcPct val="118000"/>
              </a:lnSpc>
              <a:buNone/>
            </a:pPr>
            <a:r>
              <a:rPr lang="en-US" sz="1000" b="1" dirty="0">
                <a:solidFill>
                  <a:srgbClr val="16A34A"/>
                </a:solidFill>
                <a:latin typeface="Segoe UI" pitchFamily="34" charset="0"/>
                <a:ea typeface="Segoe UI" pitchFamily="34" charset="-122"/>
                <a:cs typeface="Segoe UI" pitchFamily="34" charset="-120"/>
              </a:rPr>
              <a:t>SHARED CLUSTER M2/M5 ($9 – $25 / Month)
</a:t>
            </a:r>
            <a:pPr indent="0" marL="0">
              <a:lnSpc>
                <a:spcPct val="118000"/>
              </a:lnSpc>
              <a:buNone/>
            </a:pPr>
            <a:r>
              <a:rPr lang="en-US" sz="880" dirty="0">
                <a:solidFill>
                  <a:srgbClr val="0F172A"/>
                </a:solidFill>
                <a:latin typeface="Segoe UI" pitchFamily="34" charset="0"/>
                <a:ea typeface="Segoe UI" pitchFamily="34" charset="-122"/>
                <a:cs typeface="Segoe UI" pitchFamily="34" charset="-120"/>
              </a:rPr>
              <a:t>• 2 GB to 5 GB storage with automated daily backups.</a:t>
            </a:r>
            <a:endParaRPr lang="en-US" sz="1000" dirty="0"/>
          </a:p>
          <a:p>
            <a:pPr indent="0" marL="0">
              <a:lnSpc>
                <a:spcPct val="118000"/>
              </a:lnSpc>
              <a:buNone/>
            </a:pPr>
            <a:r>
              <a:rPr lang="en-US" sz="880" dirty="0">
                <a:solidFill>
                  <a:srgbClr val="0F172A"/>
                </a:solidFill>
                <a:latin typeface="Segoe UI" pitchFamily="34" charset="0"/>
                <a:ea typeface="Segoe UI" pitchFamily="34" charset="-122"/>
                <a:cs typeface="Segoe UI" pitchFamily="34" charset="-120"/>
              </a:rPr>
              <a:t>• Up to ~100,000 active users; 1,500 connections.</a:t>
            </a:r>
            <a:endParaRPr lang="en-US" sz="1000" dirty="0"/>
          </a:p>
          <a:p>
            <a:pPr indent="0" marL="0">
              <a:lnSpc>
                <a:spcPct val="118000"/>
              </a:lnSpc>
              <a:buNone/>
            </a:pPr>
            <a:r>
              <a:rPr lang="en-US" sz="880" dirty="0">
                <a:solidFill>
                  <a:srgbClr val="0F172A"/>
                </a:solidFill>
                <a:latin typeface="Segoe UI" pitchFamily="34" charset="0"/>
                <a:ea typeface="Segoe UI" pitchFamily="34" charset="-122"/>
                <a:cs typeface="Segoe UI" pitchFamily="34" charset="-120"/>
              </a:rPr>
              <a:t>• Great for staging environments and growing stores.</a:t>
            </a:r>
            <a:endParaRPr lang="en-US" sz="1000" dirty="0"/>
          </a:p>
        </p:txBody>
      </p:sp>
      <p:sp>
        <p:nvSpPr>
          <p:cNvPr id="22" name="Shape 20"/>
          <p:cNvSpPr/>
          <p:nvPr/>
        </p:nvSpPr>
        <p:spPr>
          <a:xfrm>
            <a:off x="6446520" y="4754880"/>
            <a:ext cx="4785055" cy="1234440"/>
          </a:xfrm>
          <a:prstGeom prst="roundRect">
            <a:avLst>
              <a:gd name="adj" fmla="val 5926"/>
            </a:avLst>
          </a:prstGeom>
          <a:solidFill>
            <a:srgbClr val="F8FAFC"/>
          </a:solidFill>
          <a:ln w="12700">
            <a:solidFill>
              <a:srgbClr val="E2E8F0"/>
            </a:solidFill>
            <a:prstDash val="solid"/>
          </a:ln>
        </p:spPr>
      </p:sp>
      <p:sp>
        <p:nvSpPr>
          <p:cNvPr id="23" name="Text 21"/>
          <p:cNvSpPr/>
          <p:nvPr/>
        </p:nvSpPr>
        <p:spPr>
          <a:xfrm>
            <a:off x="6583680" y="4846320"/>
            <a:ext cx="4510735" cy="1051560"/>
          </a:xfrm>
          <a:prstGeom prst="rect">
            <a:avLst/>
          </a:prstGeom>
          <a:noFill/>
          <a:ln/>
        </p:spPr>
        <p:txBody>
          <a:bodyPr wrap="square" rtlCol="0" anchor="t"/>
          <a:lstStyle/>
          <a:p>
            <a:pPr indent="0" marL="0">
              <a:lnSpc>
                <a:spcPct val="118000"/>
              </a:lnSpc>
              <a:buNone/>
            </a:pPr>
            <a:r>
              <a:rPr lang="en-US" sz="1000" b="1" dirty="0">
                <a:solidFill>
                  <a:srgbClr val="16A34A"/>
                </a:solidFill>
                <a:latin typeface="Segoe UI" pitchFamily="34" charset="0"/>
                <a:ea typeface="Segoe UI" pitchFamily="34" charset="-122"/>
                <a:cs typeface="Segoe UI" pitchFamily="34" charset="-120"/>
              </a:rPr>
              <a:t>DEDICATED M10+ ($57 – $400+ / Month)
</a:t>
            </a:r>
            <a:pPr indent="0" marL="0">
              <a:lnSpc>
                <a:spcPct val="118000"/>
              </a:lnSpc>
              <a:buNone/>
            </a:pPr>
            <a:r>
              <a:rPr lang="en-US" sz="880" dirty="0">
                <a:solidFill>
                  <a:srgbClr val="0F172A"/>
                </a:solidFill>
                <a:latin typeface="Segoe UI" pitchFamily="34" charset="0"/>
                <a:ea typeface="Segoe UI" pitchFamily="34" charset="-122"/>
                <a:cs typeface="Segoe UI" pitchFamily="34" charset="-120"/>
              </a:rPr>
              <a:t>• 10 GB to 4 TB NVMe SSD; dedicated CPU/RAM, VPC peering.</a:t>
            </a:r>
            <a:endParaRPr lang="en-US" sz="1000" dirty="0"/>
          </a:p>
        </p:txBody>
      </p:sp>
      <p:sp>
        <p:nvSpPr>
          <p:cNvPr id="24" name="Shape 22"/>
          <p:cNvSpPr/>
          <p:nvPr/>
        </p:nvSpPr>
        <p:spPr>
          <a:xfrm>
            <a:off x="731520" y="6355080"/>
            <a:ext cx="10728655" cy="18288"/>
          </a:xfrm>
          <a:prstGeom prst="rect">
            <a:avLst/>
          </a:prstGeom>
          <a:solidFill>
            <a:srgbClr val="E2E8F0"/>
          </a:solidFill>
          <a:ln/>
        </p:spPr>
      </p:sp>
      <p:sp>
        <p:nvSpPr>
          <p:cNvPr id="25" name="Text 23"/>
          <p:cNvSpPr/>
          <p:nvPr/>
        </p:nvSpPr>
        <p:spPr>
          <a:xfrm>
            <a:off x="731520" y="6419088"/>
            <a:ext cx="7772400" cy="27432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CONFIDENTIAL &amp; PROPRIETARY | Enterprise Cloud Database Evaluation &amp; Advisory</a:t>
            </a:r>
            <a:endParaRPr lang="en-US" sz="850" dirty="0"/>
          </a:p>
        </p:txBody>
      </p:sp>
      <p:sp>
        <p:nvSpPr>
          <p:cNvPr id="26" name="Text 24"/>
          <p:cNvSpPr/>
          <p:nvPr/>
        </p:nvSpPr>
        <p:spPr>
          <a:xfrm>
            <a:off x="9631375" y="6419088"/>
            <a:ext cx="1828800" cy="274320"/>
          </a:xfrm>
          <a:prstGeom prst="rect">
            <a:avLst/>
          </a:prstGeom>
          <a:noFill/>
          <a:ln/>
        </p:spPr>
        <p:txBody>
          <a:bodyPr wrap="square" rtlCol="0" anchor="ctr"/>
          <a:lstStyle/>
          <a:p>
            <a:pPr algn="r" indent="0" marL="0">
              <a:buNone/>
            </a:pPr>
            <a:r>
              <a:rPr lang="en-US" sz="850" dirty="0">
                <a:solidFill>
                  <a:srgbClr val="94A3B8"/>
                </a:solidFill>
                <a:latin typeface="Segoe UI" pitchFamily="34" charset="0"/>
                <a:ea typeface="Segoe UI" pitchFamily="34" charset="-122"/>
                <a:cs typeface="Segoe UI" pitchFamily="34" charset="-120"/>
              </a:rPr>
              <a:t>Slide 11 of 17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p:spPr>
      </p:sp>
      <p:sp>
        <p:nvSpPr>
          <p:cNvPr id="3" name="Shape 1"/>
          <p:cNvSpPr/>
          <p:nvPr/>
        </p:nvSpPr>
        <p:spPr>
          <a:xfrm>
            <a:off x="731520" y="320040"/>
            <a:ext cx="2286000" cy="274320"/>
          </a:xfrm>
          <a:prstGeom prst="roundRect">
            <a:avLst>
              <a:gd name="adj" fmla="val 26667"/>
            </a:avLst>
          </a:prstGeom>
          <a:solidFill>
            <a:srgbClr val="EFF6FF"/>
          </a:solidFill>
          <a:ln w="12700">
            <a:solidFill>
              <a:srgbClr val="BFDBFE"/>
            </a:solidFill>
            <a:prstDash val="solid"/>
          </a:ln>
        </p:spPr>
      </p:sp>
      <p:sp>
        <p:nvSpPr>
          <p:cNvPr id="4" name="Text 2"/>
          <p:cNvSpPr/>
          <p:nvPr/>
        </p:nvSpPr>
        <p:spPr>
          <a:xfrm>
            <a:off x="731520" y="320040"/>
            <a:ext cx="2286000" cy="274320"/>
          </a:xfrm>
          <a:prstGeom prst="rect">
            <a:avLst/>
          </a:prstGeom>
          <a:noFill/>
          <a:ln/>
        </p:spPr>
        <p:txBody>
          <a:bodyPr wrap="square" rtlCol="0" anchor="ctr"/>
          <a:lstStyle/>
          <a:p>
            <a:pPr algn="ctr" indent="0" marL="0">
              <a:buNone/>
            </a:pPr>
            <a:r>
              <a:rPr lang="en-US" sz="900" b="1" dirty="0">
                <a:solidFill>
                  <a:srgbClr val="1D4ED8"/>
                </a:solidFill>
                <a:latin typeface="Segoe UI" pitchFamily="34" charset="0"/>
                <a:ea typeface="Segoe UI" pitchFamily="34" charset="-122"/>
                <a:cs typeface="Segoe UI" pitchFamily="34" charset="-120"/>
              </a:rPr>
              <a:t>PRICING &amp; STORAGE (2/2)</a:t>
            </a:r>
            <a:endParaRPr lang="en-US" sz="900" dirty="0"/>
          </a:p>
        </p:txBody>
      </p:sp>
      <p:sp>
        <p:nvSpPr>
          <p:cNvPr id="5" name="Text 3"/>
          <p:cNvSpPr/>
          <p:nvPr/>
        </p:nvSpPr>
        <p:spPr>
          <a:xfrm>
            <a:off x="731520" y="658368"/>
            <a:ext cx="10728655" cy="502920"/>
          </a:xfrm>
          <a:prstGeom prst="rect">
            <a:avLst/>
          </a:prstGeom>
          <a:noFill/>
          <a:ln/>
        </p:spPr>
        <p:txBody>
          <a:bodyPr wrap="square" rtlCol="0" anchor="ctr"/>
          <a:lstStyle/>
          <a:p>
            <a:pPr indent="0" marL="0">
              <a:buNone/>
            </a:pPr>
            <a:r>
              <a:rPr lang="en-US" sz="2100" b="1" dirty="0">
                <a:solidFill>
                  <a:srgbClr val="0A0F1D"/>
                </a:solidFill>
                <a:latin typeface="Segoe UI" pitchFamily="34" charset="0"/>
                <a:ea typeface="Segoe UI" pitchFamily="34" charset="-122"/>
                <a:cs typeface="Segoe UI" pitchFamily="34" charset="-120"/>
              </a:rPr>
              <a:t>Pricing &amp; Capacity: Microsoft Azure vs. Amazon AWS</a:t>
            </a:r>
            <a:endParaRPr lang="en-US" sz="2100" dirty="0"/>
          </a:p>
        </p:txBody>
      </p:sp>
      <p:sp>
        <p:nvSpPr>
          <p:cNvPr id="6" name="Shape 4"/>
          <p:cNvSpPr/>
          <p:nvPr/>
        </p:nvSpPr>
        <p:spPr>
          <a:xfrm>
            <a:off x="731520" y="1325880"/>
            <a:ext cx="5242255" cy="4846320"/>
          </a:xfrm>
          <a:prstGeom prst="roundRect">
            <a:avLst>
              <a:gd name="adj" fmla="val 2264"/>
            </a:avLst>
          </a:prstGeom>
          <a:solidFill>
            <a:srgbClr val="FFFFFF"/>
          </a:solidFill>
          <a:ln w="15240">
            <a:solidFill>
              <a:srgbClr val="E2E8F0"/>
            </a:solidFill>
            <a:prstDash val="solid"/>
          </a:ln>
        </p:spPr>
      </p:sp>
      <p:sp>
        <p:nvSpPr>
          <p:cNvPr id="7" name="Shape 5"/>
          <p:cNvSpPr/>
          <p:nvPr/>
        </p:nvSpPr>
        <p:spPr>
          <a:xfrm>
            <a:off x="731520" y="1325880"/>
            <a:ext cx="5242255" cy="640080"/>
          </a:xfrm>
          <a:prstGeom prst="roundRect">
            <a:avLst>
              <a:gd name="adj" fmla="val 17143"/>
            </a:avLst>
          </a:prstGeom>
          <a:solidFill>
            <a:srgbClr val="0284C7"/>
          </a:solidFill>
          <a:ln w="12700">
            <a:solidFill>
              <a:srgbClr val="0284C7"/>
            </a:solidFill>
            <a:prstDash val="solid"/>
          </a:ln>
        </p:spPr>
      </p:sp>
      <p:sp>
        <p:nvSpPr>
          <p:cNvPr id="8" name="Text 6"/>
          <p:cNvSpPr/>
          <p:nvPr/>
        </p:nvSpPr>
        <p:spPr>
          <a:xfrm>
            <a:off x="1005840" y="1325880"/>
            <a:ext cx="4693615" cy="640080"/>
          </a:xfrm>
          <a:prstGeom prst="rect">
            <a:avLst/>
          </a:prstGeom>
          <a:noFill/>
          <a:ln/>
        </p:spPr>
        <p:txBody>
          <a:bodyPr wrap="square" rtlCol="0" anchor="ctr"/>
          <a:lstStyle/>
          <a:p>
            <a:pPr indent="0" marL="0">
              <a:buNone/>
            </a:pPr>
            <a:r>
              <a:rPr lang="en-US" sz="1200" b="1" dirty="0">
                <a:solidFill>
                  <a:srgbClr val="FFFFFF"/>
                </a:solidFill>
                <a:latin typeface="Segoe UI" pitchFamily="34" charset="0"/>
                <a:ea typeface="Segoe UI" pitchFamily="34" charset="-122"/>
                <a:cs typeface="Segoe UI" pitchFamily="34" charset="-120"/>
              </a:rPr>
              <a:t>MICROSOFT AZURE PRICING BREAKDOWN</a:t>
            </a:r>
            <a:endParaRPr lang="en-US" sz="1200" dirty="0"/>
          </a:p>
        </p:txBody>
      </p:sp>
      <p:sp>
        <p:nvSpPr>
          <p:cNvPr id="9" name="Shape 7"/>
          <p:cNvSpPr/>
          <p:nvPr/>
        </p:nvSpPr>
        <p:spPr>
          <a:xfrm>
            <a:off x="960120" y="2103120"/>
            <a:ext cx="4785055" cy="1234440"/>
          </a:xfrm>
          <a:prstGeom prst="roundRect">
            <a:avLst>
              <a:gd name="adj" fmla="val 5926"/>
            </a:avLst>
          </a:prstGeom>
          <a:solidFill>
            <a:srgbClr val="F8FAFC"/>
          </a:solidFill>
          <a:ln w="12700">
            <a:solidFill>
              <a:srgbClr val="E2E8F0"/>
            </a:solidFill>
            <a:prstDash val="solid"/>
          </a:ln>
        </p:spPr>
      </p:sp>
      <p:sp>
        <p:nvSpPr>
          <p:cNvPr id="10" name="Text 8"/>
          <p:cNvSpPr/>
          <p:nvPr/>
        </p:nvSpPr>
        <p:spPr>
          <a:xfrm>
            <a:off x="1097280" y="2194560"/>
            <a:ext cx="4510735" cy="1051560"/>
          </a:xfrm>
          <a:prstGeom prst="rect">
            <a:avLst/>
          </a:prstGeom>
          <a:noFill/>
          <a:ln/>
        </p:spPr>
        <p:txBody>
          <a:bodyPr wrap="square" rtlCol="0" anchor="t"/>
          <a:lstStyle/>
          <a:p>
            <a:pPr indent="0" marL="0">
              <a:lnSpc>
                <a:spcPct val="118000"/>
              </a:lnSpc>
              <a:buNone/>
            </a:pPr>
            <a:r>
              <a:rPr lang="en-US" sz="1000" b="1" dirty="0">
                <a:solidFill>
                  <a:srgbClr val="0284C7"/>
                </a:solidFill>
                <a:latin typeface="Segoe UI" pitchFamily="34" charset="0"/>
                <a:ea typeface="Segoe UI" pitchFamily="34" charset="-122"/>
                <a:cs typeface="Segoe UI" pitchFamily="34" charset="-120"/>
              </a:rPr>
              <a:t>FREE TIER ($0 / Month)
</a:t>
            </a:r>
            <a:pPr indent="0" marL="0">
              <a:lnSpc>
                <a:spcPct val="118000"/>
              </a:lnSpc>
              <a:buNone/>
            </a:pPr>
            <a:r>
              <a:rPr lang="en-US" sz="880" dirty="0">
                <a:solidFill>
                  <a:srgbClr val="0F172A"/>
                </a:solidFill>
                <a:latin typeface="Segoe UI" pitchFamily="34" charset="0"/>
                <a:ea typeface="Segoe UI" pitchFamily="34" charset="-122"/>
                <a:cs typeface="Segoe UI" pitchFamily="34" charset="-120"/>
              </a:rPr>
              <a:t>• 32 GB storage free for 12 months (or 100,000 vCore-sec free/mo on Azure SQL Serverless).</a:t>
            </a:r>
            <a:endParaRPr lang="en-US" sz="1000" dirty="0"/>
          </a:p>
          <a:p>
            <a:pPr indent="0" marL="0">
              <a:lnSpc>
                <a:spcPct val="118000"/>
              </a:lnSpc>
              <a:buNone/>
            </a:pPr>
            <a:r>
              <a:rPr lang="en-US" sz="880" dirty="0">
                <a:solidFill>
                  <a:srgbClr val="0F172A"/>
                </a:solidFill>
                <a:latin typeface="Segoe UI" pitchFamily="34" charset="0"/>
                <a:ea typeface="Segoe UI" pitchFamily="34" charset="-122"/>
                <a:cs typeface="Segoe UI" pitchFamily="34" charset="-120"/>
              </a:rPr>
              <a:t>• Good for ~25,000 active users with auto-pause.</a:t>
            </a:r>
            <a:endParaRPr lang="en-US" sz="1000" dirty="0"/>
          </a:p>
        </p:txBody>
      </p:sp>
      <p:sp>
        <p:nvSpPr>
          <p:cNvPr id="11" name="Shape 9"/>
          <p:cNvSpPr/>
          <p:nvPr/>
        </p:nvSpPr>
        <p:spPr>
          <a:xfrm>
            <a:off x="960120" y="3429000"/>
            <a:ext cx="4785055" cy="1234440"/>
          </a:xfrm>
          <a:prstGeom prst="roundRect">
            <a:avLst>
              <a:gd name="adj" fmla="val 5926"/>
            </a:avLst>
          </a:prstGeom>
          <a:solidFill>
            <a:srgbClr val="F8FAFC"/>
          </a:solidFill>
          <a:ln w="12700">
            <a:solidFill>
              <a:srgbClr val="E2E8F0"/>
            </a:solidFill>
            <a:prstDash val="solid"/>
          </a:ln>
        </p:spPr>
      </p:sp>
      <p:sp>
        <p:nvSpPr>
          <p:cNvPr id="12" name="Text 10"/>
          <p:cNvSpPr/>
          <p:nvPr/>
        </p:nvSpPr>
        <p:spPr>
          <a:xfrm>
            <a:off x="1097280" y="3520440"/>
            <a:ext cx="4510735" cy="1051560"/>
          </a:xfrm>
          <a:prstGeom prst="rect">
            <a:avLst/>
          </a:prstGeom>
          <a:noFill/>
          <a:ln/>
        </p:spPr>
        <p:txBody>
          <a:bodyPr wrap="square" rtlCol="0" anchor="t"/>
          <a:lstStyle/>
          <a:p>
            <a:pPr indent="0" marL="0">
              <a:lnSpc>
                <a:spcPct val="118000"/>
              </a:lnSpc>
              <a:buNone/>
            </a:pPr>
            <a:r>
              <a:rPr lang="en-US" sz="1000" b="1" dirty="0">
                <a:solidFill>
                  <a:srgbClr val="0284C7"/>
                </a:solidFill>
                <a:latin typeface="Segoe UI" pitchFamily="34" charset="0"/>
                <a:ea typeface="Segoe UI" pitchFamily="34" charset="-122"/>
                <a:cs typeface="Segoe UI" pitchFamily="34" charset="-120"/>
              </a:rPr>
              <a:t>AZURE SQL BASIC ($4.99 / Month)
</a:t>
            </a:r>
            <a:pPr indent="0" marL="0">
              <a:lnSpc>
                <a:spcPct val="118000"/>
              </a:lnSpc>
              <a:buNone/>
            </a:pPr>
            <a:r>
              <a:rPr lang="en-US" sz="880" dirty="0">
                <a:solidFill>
                  <a:srgbClr val="0F172A"/>
                </a:solidFill>
                <a:latin typeface="Segoe UI" pitchFamily="34" charset="0"/>
                <a:ea typeface="Segoe UI" pitchFamily="34" charset="-122"/>
                <a:cs typeface="Segoe UI" pitchFamily="34" charset="-120"/>
              </a:rPr>
              <a:t>• 2 GB storage limit, 5 DTU performance.</a:t>
            </a:r>
            <a:endParaRPr lang="en-US" sz="1000" dirty="0"/>
          </a:p>
          <a:p>
            <a:pPr indent="0" marL="0">
              <a:lnSpc>
                <a:spcPct val="118000"/>
              </a:lnSpc>
              <a:buNone/>
            </a:pPr>
            <a:r>
              <a:rPr lang="en-US" sz="880" dirty="0">
                <a:solidFill>
                  <a:srgbClr val="0F172A"/>
                </a:solidFill>
                <a:latin typeface="Segoe UI" pitchFamily="34" charset="0"/>
                <a:ea typeface="Segoe UI" pitchFamily="34" charset="-122"/>
                <a:cs typeface="Segoe UI" pitchFamily="34" charset="-120"/>
              </a:rPr>
              <a:t>• Most affordable managed cloud database for internal office tools.</a:t>
            </a:r>
            <a:endParaRPr lang="en-US" sz="1000" dirty="0"/>
          </a:p>
        </p:txBody>
      </p:sp>
      <p:sp>
        <p:nvSpPr>
          <p:cNvPr id="13" name="Shape 11"/>
          <p:cNvSpPr/>
          <p:nvPr/>
        </p:nvSpPr>
        <p:spPr>
          <a:xfrm>
            <a:off x="960120" y="4754880"/>
            <a:ext cx="4785055" cy="1234440"/>
          </a:xfrm>
          <a:prstGeom prst="roundRect">
            <a:avLst>
              <a:gd name="adj" fmla="val 5926"/>
            </a:avLst>
          </a:prstGeom>
          <a:solidFill>
            <a:srgbClr val="F8FAFC"/>
          </a:solidFill>
          <a:ln w="12700">
            <a:solidFill>
              <a:srgbClr val="E2E8F0"/>
            </a:solidFill>
            <a:prstDash val="solid"/>
          </a:ln>
        </p:spPr>
      </p:sp>
      <p:sp>
        <p:nvSpPr>
          <p:cNvPr id="14" name="Text 12"/>
          <p:cNvSpPr/>
          <p:nvPr/>
        </p:nvSpPr>
        <p:spPr>
          <a:xfrm>
            <a:off x="1097280" y="4846320"/>
            <a:ext cx="4510735" cy="1051560"/>
          </a:xfrm>
          <a:prstGeom prst="rect">
            <a:avLst/>
          </a:prstGeom>
          <a:noFill/>
          <a:ln/>
        </p:spPr>
        <p:txBody>
          <a:bodyPr wrap="square" rtlCol="0" anchor="t"/>
          <a:lstStyle/>
          <a:p>
            <a:pPr indent="0" marL="0">
              <a:lnSpc>
                <a:spcPct val="118000"/>
              </a:lnSpc>
              <a:buNone/>
            </a:pPr>
            <a:r>
              <a:rPr lang="en-US" sz="1000" b="1" dirty="0">
                <a:solidFill>
                  <a:srgbClr val="0284C7"/>
                </a:solidFill>
                <a:latin typeface="Segoe UI" pitchFamily="34" charset="0"/>
                <a:ea typeface="Segoe UI" pitchFamily="34" charset="-122"/>
                <a:cs typeface="Segoe UI" pitchFamily="34" charset="-120"/>
              </a:rPr>
              <a:t>STANDARD &amp; HYPERSCALE ($15 – $250+ / Month)
</a:t>
            </a:r>
            <a:pPr indent="0" marL="0">
              <a:lnSpc>
                <a:spcPct val="118000"/>
              </a:lnSpc>
              <a:buNone/>
            </a:pPr>
            <a:r>
              <a:rPr lang="en-US" sz="880" dirty="0">
                <a:solidFill>
                  <a:srgbClr val="0F172A"/>
                </a:solidFill>
                <a:latin typeface="Segoe UI" pitchFamily="34" charset="0"/>
                <a:ea typeface="Segoe UI" pitchFamily="34" charset="-122"/>
                <a:cs typeface="Segoe UI" pitchFamily="34" charset="-120"/>
              </a:rPr>
              <a:t>• 250 GB storage in Standard tier ($15/mo).</a:t>
            </a:r>
            <a:endParaRPr lang="en-US" sz="1000" dirty="0"/>
          </a:p>
          <a:p>
            <a:pPr indent="0" marL="0">
              <a:lnSpc>
                <a:spcPct val="118000"/>
              </a:lnSpc>
              <a:buNone/>
            </a:pPr>
            <a:r>
              <a:rPr lang="en-US" sz="880" dirty="0">
                <a:solidFill>
                  <a:srgbClr val="0F172A"/>
                </a:solidFill>
                <a:latin typeface="Segoe UI" pitchFamily="34" charset="0"/>
                <a:ea typeface="Segoe UI" pitchFamily="34" charset="-122"/>
                <a:cs typeface="Segoe UI" pitchFamily="34" charset="-120"/>
              </a:rPr>
              <a:t>• Auto-scales up to 100 TB on Hyperscale for enterprise apps.</a:t>
            </a:r>
            <a:endParaRPr lang="en-US" sz="1000" dirty="0"/>
          </a:p>
        </p:txBody>
      </p:sp>
      <p:sp>
        <p:nvSpPr>
          <p:cNvPr id="15" name="Shape 13"/>
          <p:cNvSpPr/>
          <p:nvPr/>
        </p:nvSpPr>
        <p:spPr>
          <a:xfrm>
            <a:off x="6217920" y="1325880"/>
            <a:ext cx="5242255" cy="4846320"/>
          </a:xfrm>
          <a:prstGeom prst="roundRect">
            <a:avLst>
              <a:gd name="adj" fmla="val 2264"/>
            </a:avLst>
          </a:prstGeom>
          <a:solidFill>
            <a:srgbClr val="FFFFFF"/>
          </a:solidFill>
          <a:ln w="15240">
            <a:solidFill>
              <a:srgbClr val="E2E8F0"/>
            </a:solidFill>
            <a:prstDash val="solid"/>
          </a:ln>
        </p:spPr>
      </p:sp>
      <p:sp>
        <p:nvSpPr>
          <p:cNvPr id="16" name="Shape 14"/>
          <p:cNvSpPr/>
          <p:nvPr/>
        </p:nvSpPr>
        <p:spPr>
          <a:xfrm>
            <a:off x="6217920" y="1325880"/>
            <a:ext cx="5242255" cy="640080"/>
          </a:xfrm>
          <a:prstGeom prst="roundRect">
            <a:avLst>
              <a:gd name="adj" fmla="val 17143"/>
            </a:avLst>
          </a:prstGeom>
          <a:solidFill>
            <a:srgbClr val="D97706"/>
          </a:solidFill>
          <a:ln w="12700">
            <a:solidFill>
              <a:srgbClr val="D97706"/>
            </a:solidFill>
            <a:prstDash val="solid"/>
          </a:ln>
        </p:spPr>
      </p:sp>
      <p:sp>
        <p:nvSpPr>
          <p:cNvPr id="17" name="Text 15"/>
          <p:cNvSpPr/>
          <p:nvPr/>
        </p:nvSpPr>
        <p:spPr>
          <a:xfrm>
            <a:off x="6492240" y="1325880"/>
            <a:ext cx="4693615" cy="640080"/>
          </a:xfrm>
          <a:prstGeom prst="rect">
            <a:avLst/>
          </a:prstGeom>
          <a:noFill/>
          <a:ln/>
        </p:spPr>
        <p:txBody>
          <a:bodyPr wrap="square" rtlCol="0" anchor="ctr"/>
          <a:lstStyle/>
          <a:p>
            <a:pPr indent="0" marL="0">
              <a:buNone/>
            </a:pPr>
            <a:r>
              <a:rPr lang="en-US" sz="1200" b="1" dirty="0">
                <a:solidFill>
                  <a:srgbClr val="FFFFFF"/>
                </a:solidFill>
                <a:latin typeface="Segoe UI" pitchFamily="34" charset="0"/>
                <a:ea typeface="Segoe UI" pitchFamily="34" charset="-122"/>
                <a:cs typeface="Segoe UI" pitchFamily="34" charset="-120"/>
              </a:rPr>
              <a:t>AMAZON AWS PRICING BREAKDOWN</a:t>
            </a:r>
            <a:endParaRPr lang="en-US" sz="1200" dirty="0"/>
          </a:p>
        </p:txBody>
      </p:sp>
      <p:sp>
        <p:nvSpPr>
          <p:cNvPr id="18" name="Shape 16"/>
          <p:cNvSpPr/>
          <p:nvPr/>
        </p:nvSpPr>
        <p:spPr>
          <a:xfrm>
            <a:off x="6446520" y="2103120"/>
            <a:ext cx="4785055" cy="1234440"/>
          </a:xfrm>
          <a:prstGeom prst="roundRect">
            <a:avLst>
              <a:gd name="adj" fmla="val 5926"/>
            </a:avLst>
          </a:prstGeom>
          <a:solidFill>
            <a:srgbClr val="F8FAFC"/>
          </a:solidFill>
          <a:ln w="12700">
            <a:solidFill>
              <a:srgbClr val="E2E8F0"/>
            </a:solidFill>
            <a:prstDash val="solid"/>
          </a:ln>
        </p:spPr>
      </p:sp>
      <p:sp>
        <p:nvSpPr>
          <p:cNvPr id="19" name="Text 17"/>
          <p:cNvSpPr/>
          <p:nvPr/>
        </p:nvSpPr>
        <p:spPr>
          <a:xfrm>
            <a:off x="6583680" y="2194560"/>
            <a:ext cx="4510735" cy="1051560"/>
          </a:xfrm>
          <a:prstGeom prst="rect">
            <a:avLst/>
          </a:prstGeom>
          <a:noFill/>
          <a:ln/>
        </p:spPr>
        <p:txBody>
          <a:bodyPr wrap="square" rtlCol="0" anchor="t"/>
          <a:lstStyle/>
          <a:p>
            <a:pPr indent="0" marL="0">
              <a:lnSpc>
                <a:spcPct val="118000"/>
              </a:lnSpc>
              <a:buNone/>
            </a:pPr>
            <a:r>
              <a:rPr lang="en-US" sz="1000" b="1" dirty="0">
                <a:solidFill>
                  <a:srgbClr val="D97706"/>
                </a:solidFill>
                <a:latin typeface="Segoe UI" pitchFamily="34" charset="0"/>
                <a:ea typeface="Segoe UI" pitchFamily="34" charset="-122"/>
                <a:cs typeface="Segoe UI" pitchFamily="34" charset="-120"/>
              </a:rPr>
              <a:t>FREE TIER (12 MONTHS RDS / ALWAYS DYNAMODB)
</a:t>
            </a:r>
            <a:pPr indent="0" marL="0">
              <a:lnSpc>
                <a:spcPct val="118000"/>
              </a:lnSpc>
              <a:buNone/>
            </a:pPr>
            <a:r>
              <a:rPr lang="en-US" sz="880" dirty="0">
                <a:solidFill>
                  <a:srgbClr val="0F172A"/>
                </a:solidFill>
                <a:latin typeface="Segoe UI" pitchFamily="34" charset="0"/>
                <a:ea typeface="Segoe UI" pitchFamily="34" charset="-122"/>
                <a:cs typeface="Segoe UI" pitchFamily="34" charset="-120"/>
              </a:rPr>
              <a:t>• RDS: 20 GB free for 12 months on db.t4g.micro (~20,000 users).</a:t>
            </a:r>
            <a:endParaRPr lang="en-US" sz="1000" dirty="0"/>
          </a:p>
          <a:p>
            <a:pPr indent="0" marL="0">
              <a:lnSpc>
                <a:spcPct val="118000"/>
              </a:lnSpc>
              <a:buNone/>
            </a:pPr>
            <a:r>
              <a:rPr lang="en-US" sz="880" dirty="0">
                <a:solidFill>
                  <a:srgbClr val="0F172A"/>
                </a:solidFill>
                <a:latin typeface="Segoe UI" pitchFamily="34" charset="0"/>
                <a:ea typeface="Segoe UI" pitchFamily="34" charset="-122"/>
                <a:cs typeface="Segoe UI" pitchFamily="34" charset="-120"/>
              </a:rPr>
              <a:t>• DynamoDB: 25 GB free forever with 200M requests/month ($0).</a:t>
            </a:r>
            <a:endParaRPr lang="en-US" sz="1000" dirty="0"/>
          </a:p>
        </p:txBody>
      </p:sp>
      <p:sp>
        <p:nvSpPr>
          <p:cNvPr id="20" name="Shape 18"/>
          <p:cNvSpPr/>
          <p:nvPr/>
        </p:nvSpPr>
        <p:spPr>
          <a:xfrm>
            <a:off x="6446520" y="3429000"/>
            <a:ext cx="4785055" cy="1234440"/>
          </a:xfrm>
          <a:prstGeom prst="roundRect">
            <a:avLst>
              <a:gd name="adj" fmla="val 5926"/>
            </a:avLst>
          </a:prstGeom>
          <a:solidFill>
            <a:srgbClr val="F8FAFC"/>
          </a:solidFill>
          <a:ln w="12700">
            <a:solidFill>
              <a:srgbClr val="E2E8F0"/>
            </a:solidFill>
            <a:prstDash val="solid"/>
          </a:ln>
        </p:spPr>
      </p:sp>
      <p:sp>
        <p:nvSpPr>
          <p:cNvPr id="21" name="Text 19"/>
          <p:cNvSpPr/>
          <p:nvPr/>
        </p:nvSpPr>
        <p:spPr>
          <a:xfrm>
            <a:off x="6583680" y="3520440"/>
            <a:ext cx="4510735" cy="1051560"/>
          </a:xfrm>
          <a:prstGeom prst="rect">
            <a:avLst/>
          </a:prstGeom>
          <a:noFill/>
          <a:ln/>
        </p:spPr>
        <p:txBody>
          <a:bodyPr wrap="square" rtlCol="0" anchor="t"/>
          <a:lstStyle/>
          <a:p>
            <a:pPr indent="0" marL="0">
              <a:lnSpc>
                <a:spcPct val="118000"/>
              </a:lnSpc>
              <a:buNone/>
            </a:pPr>
            <a:r>
              <a:rPr lang="en-US" sz="1000" b="1" dirty="0">
                <a:solidFill>
                  <a:srgbClr val="D97706"/>
                </a:solidFill>
                <a:latin typeface="Segoe UI" pitchFamily="34" charset="0"/>
                <a:ea typeface="Segoe UI" pitchFamily="34" charset="-122"/>
                <a:cs typeface="Segoe UI" pitchFamily="34" charset="-120"/>
              </a:rPr>
              <a:t>RDS ENTRY PRODUCTION ($15 – $35 / Month)
</a:t>
            </a:r>
            <a:pPr indent="0" marL="0">
              <a:lnSpc>
                <a:spcPct val="118000"/>
              </a:lnSpc>
              <a:buNone/>
            </a:pPr>
            <a:r>
              <a:rPr lang="en-US" sz="880" dirty="0">
                <a:solidFill>
                  <a:srgbClr val="0F172A"/>
                </a:solidFill>
                <a:latin typeface="Segoe UI" pitchFamily="34" charset="0"/>
                <a:ea typeface="Segoe UI" pitchFamily="34" charset="-122"/>
                <a:cs typeface="Segoe UI" pitchFamily="34" charset="-120"/>
              </a:rPr>
              <a:t>• 20 GB to 100 GB SSD storage, 2 vCPU, 2 GB RAM.</a:t>
            </a:r>
            <a:endParaRPr lang="en-US" sz="1000" dirty="0"/>
          </a:p>
          <a:p>
            <a:pPr indent="0" marL="0">
              <a:lnSpc>
                <a:spcPct val="118000"/>
              </a:lnSpc>
              <a:buNone/>
            </a:pPr>
            <a:r>
              <a:rPr lang="en-US" sz="880" dirty="0">
                <a:solidFill>
                  <a:srgbClr val="0F172A"/>
                </a:solidFill>
                <a:latin typeface="Segoe UI" pitchFamily="34" charset="0"/>
                <a:ea typeface="Segoe UI" pitchFamily="34" charset="-122"/>
                <a:cs typeface="Segoe UI" pitchFamily="34" charset="-120"/>
              </a:rPr>
              <a:t>• Handles 50,000 to 150,000 active users easily.</a:t>
            </a:r>
            <a:endParaRPr lang="en-US" sz="1000" dirty="0"/>
          </a:p>
        </p:txBody>
      </p:sp>
      <p:sp>
        <p:nvSpPr>
          <p:cNvPr id="22" name="Shape 20"/>
          <p:cNvSpPr/>
          <p:nvPr/>
        </p:nvSpPr>
        <p:spPr>
          <a:xfrm>
            <a:off x="6446520" y="4754880"/>
            <a:ext cx="4785055" cy="1234440"/>
          </a:xfrm>
          <a:prstGeom prst="roundRect">
            <a:avLst>
              <a:gd name="adj" fmla="val 5926"/>
            </a:avLst>
          </a:prstGeom>
          <a:solidFill>
            <a:srgbClr val="F8FAFC"/>
          </a:solidFill>
          <a:ln w="12700">
            <a:solidFill>
              <a:srgbClr val="E2E8F0"/>
            </a:solidFill>
            <a:prstDash val="solid"/>
          </a:ln>
        </p:spPr>
      </p:sp>
      <p:sp>
        <p:nvSpPr>
          <p:cNvPr id="23" name="Text 21"/>
          <p:cNvSpPr/>
          <p:nvPr/>
        </p:nvSpPr>
        <p:spPr>
          <a:xfrm>
            <a:off x="6583680" y="4846320"/>
            <a:ext cx="4510735" cy="1051560"/>
          </a:xfrm>
          <a:prstGeom prst="rect">
            <a:avLst/>
          </a:prstGeom>
          <a:noFill/>
          <a:ln/>
        </p:spPr>
        <p:txBody>
          <a:bodyPr wrap="square" rtlCol="0" anchor="t"/>
          <a:lstStyle/>
          <a:p>
            <a:pPr indent="0" marL="0">
              <a:lnSpc>
                <a:spcPct val="118000"/>
              </a:lnSpc>
              <a:buNone/>
            </a:pPr>
            <a:r>
              <a:rPr lang="en-US" sz="1000" b="1" dirty="0">
                <a:solidFill>
                  <a:srgbClr val="D97706"/>
                </a:solidFill>
                <a:latin typeface="Segoe UI" pitchFamily="34" charset="0"/>
                <a:ea typeface="Segoe UI" pitchFamily="34" charset="-122"/>
                <a:cs typeface="Segoe UI" pitchFamily="34" charset="-120"/>
              </a:rPr>
              <a:t>MULTI-AZ HIGH AVAILABILITY ($150 – $350+ / Month)
</a:t>
            </a:r>
            <a:pPr indent="0" marL="0">
              <a:lnSpc>
                <a:spcPct val="118000"/>
              </a:lnSpc>
              <a:buNone/>
            </a:pPr>
            <a:r>
              <a:rPr lang="en-US" sz="880" dirty="0">
                <a:solidFill>
                  <a:srgbClr val="0F172A"/>
                </a:solidFill>
                <a:latin typeface="Segoe UI" pitchFamily="34" charset="0"/>
                <a:ea typeface="Segoe UI" pitchFamily="34" charset="-122"/>
                <a:cs typeface="Segoe UI" pitchFamily="34" charset="-120"/>
              </a:rPr>
              <a:t>• Redundant dual-server failover across data centers for banking/enterprise.</a:t>
            </a:r>
            <a:endParaRPr lang="en-US" sz="1000" dirty="0"/>
          </a:p>
        </p:txBody>
      </p:sp>
      <p:sp>
        <p:nvSpPr>
          <p:cNvPr id="24" name="Shape 22"/>
          <p:cNvSpPr/>
          <p:nvPr/>
        </p:nvSpPr>
        <p:spPr>
          <a:xfrm>
            <a:off x="731520" y="6355080"/>
            <a:ext cx="10728655" cy="18288"/>
          </a:xfrm>
          <a:prstGeom prst="rect">
            <a:avLst/>
          </a:prstGeom>
          <a:solidFill>
            <a:srgbClr val="E2E8F0"/>
          </a:solidFill>
          <a:ln/>
        </p:spPr>
      </p:sp>
      <p:sp>
        <p:nvSpPr>
          <p:cNvPr id="25" name="Text 23"/>
          <p:cNvSpPr/>
          <p:nvPr/>
        </p:nvSpPr>
        <p:spPr>
          <a:xfrm>
            <a:off x="731520" y="6419088"/>
            <a:ext cx="7772400" cy="27432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CONFIDENTIAL &amp; PROPRIETARY | Enterprise Cloud Database Evaluation &amp; Advisory</a:t>
            </a:r>
            <a:endParaRPr lang="en-US" sz="850" dirty="0"/>
          </a:p>
        </p:txBody>
      </p:sp>
      <p:sp>
        <p:nvSpPr>
          <p:cNvPr id="26" name="Text 24"/>
          <p:cNvSpPr/>
          <p:nvPr/>
        </p:nvSpPr>
        <p:spPr>
          <a:xfrm>
            <a:off x="9631375" y="6419088"/>
            <a:ext cx="1828800" cy="274320"/>
          </a:xfrm>
          <a:prstGeom prst="rect">
            <a:avLst/>
          </a:prstGeom>
          <a:noFill/>
          <a:ln/>
        </p:spPr>
        <p:txBody>
          <a:bodyPr wrap="square" rtlCol="0" anchor="ctr"/>
          <a:lstStyle/>
          <a:p>
            <a:pPr algn="r" indent="0" marL="0">
              <a:buNone/>
            </a:pPr>
            <a:r>
              <a:rPr lang="en-US" sz="850" dirty="0">
                <a:solidFill>
                  <a:srgbClr val="94A3B8"/>
                </a:solidFill>
                <a:latin typeface="Segoe UI" pitchFamily="34" charset="0"/>
                <a:ea typeface="Segoe UI" pitchFamily="34" charset="-122"/>
                <a:cs typeface="Segoe UI" pitchFamily="34" charset="-120"/>
              </a:rPr>
              <a:t>Slide 12 of 17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p:spPr>
      </p:sp>
      <p:sp>
        <p:nvSpPr>
          <p:cNvPr id="3" name="Shape 1"/>
          <p:cNvSpPr/>
          <p:nvPr/>
        </p:nvSpPr>
        <p:spPr>
          <a:xfrm>
            <a:off x="731520" y="320040"/>
            <a:ext cx="2286000" cy="274320"/>
          </a:xfrm>
          <a:prstGeom prst="roundRect">
            <a:avLst>
              <a:gd name="adj" fmla="val 26667"/>
            </a:avLst>
          </a:prstGeom>
          <a:solidFill>
            <a:srgbClr val="EFF6FF"/>
          </a:solidFill>
          <a:ln w="12700">
            <a:solidFill>
              <a:srgbClr val="BFDBFE"/>
            </a:solidFill>
            <a:prstDash val="solid"/>
          </a:ln>
        </p:spPr>
      </p:sp>
      <p:sp>
        <p:nvSpPr>
          <p:cNvPr id="4" name="Text 2"/>
          <p:cNvSpPr/>
          <p:nvPr/>
        </p:nvSpPr>
        <p:spPr>
          <a:xfrm>
            <a:off x="731520" y="320040"/>
            <a:ext cx="2286000" cy="274320"/>
          </a:xfrm>
          <a:prstGeom prst="rect">
            <a:avLst/>
          </a:prstGeom>
          <a:noFill/>
          <a:ln/>
        </p:spPr>
        <p:txBody>
          <a:bodyPr wrap="square" rtlCol="0" anchor="ctr"/>
          <a:lstStyle/>
          <a:p>
            <a:pPr algn="ctr" indent="0" marL="0">
              <a:buNone/>
            </a:pPr>
            <a:r>
              <a:rPr lang="en-US" sz="900" b="1" dirty="0">
                <a:solidFill>
                  <a:srgbClr val="1D4ED8"/>
                </a:solidFill>
                <a:latin typeface="Segoe UI" pitchFamily="34" charset="0"/>
                <a:ea typeface="Segoe UI" pitchFamily="34" charset="-122"/>
                <a:cs typeface="Segoe UI" pitchFamily="34" charset="-120"/>
              </a:rPr>
              <a:t>TRADE-OFF ANALYSIS (1/2)</a:t>
            </a:r>
            <a:endParaRPr lang="en-US" sz="900" dirty="0"/>
          </a:p>
        </p:txBody>
      </p:sp>
      <p:sp>
        <p:nvSpPr>
          <p:cNvPr id="5" name="Text 3"/>
          <p:cNvSpPr/>
          <p:nvPr/>
        </p:nvSpPr>
        <p:spPr>
          <a:xfrm>
            <a:off x="731520" y="658368"/>
            <a:ext cx="10728655" cy="502920"/>
          </a:xfrm>
          <a:prstGeom prst="rect">
            <a:avLst/>
          </a:prstGeom>
          <a:noFill/>
          <a:ln/>
        </p:spPr>
        <p:txBody>
          <a:bodyPr wrap="square" rtlCol="0" anchor="ctr"/>
          <a:lstStyle/>
          <a:p>
            <a:pPr indent="0" marL="0">
              <a:buNone/>
            </a:pPr>
            <a:r>
              <a:rPr lang="en-US" sz="2100" b="1" dirty="0">
                <a:solidFill>
                  <a:srgbClr val="0A0F1D"/>
                </a:solidFill>
                <a:latin typeface="Segoe UI" pitchFamily="34" charset="0"/>
                <a:ea typeface="Segoe UI" pitchFamily="34" charset="-122"/>
                <a:cs typeface="Segoe UI" pitchFamily="34" charset="-120"/>
              </a:rPr>
              <a:t>Advantages &amp; Disadvantages: Supabase vs. MongoDB Atlas</a:t>
            </a:r>
            <a:endParaRPr lang="en-US" sz="2100" dirty="0"/>
          </a:p>
        </p:txBody>
      </p:sp>
      <p:sp>
        <p:nvSpPr>
          <p:cNvPr id="6" name="Shape 4"/>
          <p:cNvSpPr/>
          <p:nvPr/>
        </p:nvSpPr>
        <p:spPr>
          <a:xfrm>
            <a:off x="731520" y="1325880"/>
            <a:ext cx="5242255" cy="4846320"/>
          </a:xfrm>
          <a:prstGeom prst="roundRect">
            <a:avLst>
              <a:gd name="adj" fmla="val 2264"/>
            </a:avLst>
          </a:prstGeom>
          <a:solidFill>
            <a:srgbClr val="FFFFFF"/>
          </a:solidFill>
          <a:ln w="15240">
            <a:solidFill>
              <a:srgbClr val="E2E8F0"/>
            </a:solidFill>
            <a:prstDash val="solid"/>
          </a:ln>
        </p:spPr>
      </p:sp>
      <p:sp>
        <p:nvSpPr>
          <p:cNvPr id="7" name="Shape 5"/>
          <p:cNvSpPr/>
          <p:nvPr/>
        </p:nvSpPr>
        <p:spPr>
          <a:xfrm>
            <a:off x="731520" y="1325880"/>
            <a:ext cx="5242255" cy="640080"/>
          </a:xfrm>
          <a:prstGeom prst="roundRect">
            <a:avLst>
              <a:gd name="adj" fmla="val 17143"/>
            </a:avLst>
          </a:prstGeom>
          <a:solidFill>
            <a:srgbClr val="059669"/>
          </a:solidFill>
          <a:ln w="12700">
            <a:solidFill>
              <a:srgbClr val="059669"/>
            </a:solidFill>
            <a:prstDash val="solid"/>
          </a:ln>
        </p:spPr>
      </p:sp>
      <p:sp>
        <p:nvSpPr>
          <p:cNvPr id="8" name="Text 6"/>
          <p:cNvSpPr/>
          <p:nvPr/>
        </p:nvSpPr>
        <p:spPr>
          <a:xfrm>
            <a:off x="1005840" y="1325880"/>
            <a:ext cx="4693615" cy="640080"/>
          </a:xfrm>
          <a:prstGeom prst="rect">
            <a:avLst/>
          </a:prstGeom>
          <a:noFill/>
          <a:ln/>
        </p:spPr>
        <p:txBody>
          <a:bodyPr wrap="square" rtlCol="0" anchor="ctr"/>
          <a:lstStyle/>
          <a:p>
            <a:pPr indent="0" marL="0">
              <a:buNone/>
            </a:pPr>
            <a:r>
              <a:rPr lang="en-US" sz="1200" b="1" dirty="0">
                <a:solidFill>
                  <a:srgbClr val="FFFFFF"/>
                </a:solidFill>
                <a:latin typeface="Segoe UI" pitchFamily="34" charset="0"/>
                <a:ea typeface="Segoe UI" pitchFamily="34" charset="-122"/>
                <a:cs typeface="Segoe UI" pitchFamily="34" charset="-120"/>
              </a:rPr>
              <a:t>1. SUPABASE PROS &amp; CONS</a:t>
            </a:r>
            <a:endParaRPr lang="en-US" sz="1200" dirty="0"/>
          </a:p>
        </p:txBody>
      </p:sp>
      <p:sp>
        <p:nvSpPr>
          <p:cNvPr id="9" name="Shape 7"/>
          <p:cNvSpPr/>
          <p:nvPr/>
        </p:nvSpPr>
        <p:spPr>
          <a:xfrm>
            <a:off x="960120" y="2103120"/>
            <a:ext cx="4785055" cy="1920240"/>
          </a:xfrm>
          <a:prstGeom prst="roundRect">
            <a:avLst>
              <a:gd name="adj" fmla="val 3810"/>
            </a:avLst>
          </a:prstGeom>
          <a:solidFill>
            <a:srgbClr val="F0FDF4"/>
          </a:solidFill>
          <a:ln w="12700">
            <a:solidFill>
              <a:srgbClr val="BBF7D0"/>
            </a:solidFill>
            <a:prstDash val="solid"/>
          </a:ln>
        </p:spPr>
      </p:sp>
      <p:sp>
        <p:nvSpPr>
          <p:cNvPr id="10" name="Text 8"/>
          <p:cNvSpPr/>
          <p:nvPr/>
        </p:nvSpPr>
        <p:spPr>
          <a:xfrm>
            <a:off x="1143000" y="2194560"/>
            <a:ext cx="4419295" cy="1737360"/>
          </a:xfrm>
          <a:prstGeom prst="rect">
            <a:avLst/>
          </a:prstGeom>
          <a:noFill/>
          <a:ln/>
        </p:spPr>
        <p:txBody>
          <a:bodyPr wrap="square" rtlCol="0" anchor="t"/>
          <a:lstStyle/>
          <a:p>
            <a:pPr indent="0" marL="0">
              <a:lnSpc>
                <a:spcPct val="120000"/>
              </a:lnSpc>
              <a:buNone/>
            </a:pPr>
            <a:r>
              <a:rPr lang="en-US" sz="950" b="1" dirty="0">
                <a:solidFill>
                  <a:srgbClr val="15803D"/>
                </a:solidFill>
                <a:latin typeface="Segoe UI" pitchFamily="34" charset="0"/>
                <a:ea typeface="Segoe UI" pitchFamily="34" charset="-122"/>
                <a:cs typeface="Segoe UI" pitchFamily="34" charset="-120"/>
              </a:rPr>
              <a:t>✔  KEY ADVANTAGES:
</a:t>
            </a:r>
            <a:pPr indent="0" marL="0">
              <a:lnSpc>
                <a:spcPct val="120000"/>
              </a:lnSpc>
              <a:buNone/>
            </a:pPr>
            <a:r>
              <a:rPr lang="en-US" sz="880" dirty="0">
                <a:solidFill>
                  <a:srgbClr val="0F172A"/>
                </a:solidFill>
                <a:latin typeface="Segoe UI" pitchFamily="34" charset="0"/>
                <a:ea typeface="Segoe UI" pitchFamily="34" charset="-122"/>
                <a:cs typeface="Segoe UI" pitchFamily="34" charset="-120"/>
              </a:rPr>
              <a:t>• Zero infrastructure setup; deployment in under 2 minutes.
</a:t>
            </a:r>
            <a:pPr indent="0" marL="0">
              <a:lnSpc>
                <a:spcPct val="120000"/>
              </a:lnSpc>
              <a:buNone/>
            </a:pPr>
            <a:r>
              <a:rPr lang="en-US" sz="880" dirty="0">
                <a:solidFill>
                  <a:srgbClr val="0F172A"/>
                </a:solidFill>
                <a:latin typeface="Segoe UI" pitchFamily="34" charset="0"/>
                <a:ea typeface="Segoe UI" pitchFamily="34" charset="-122"/>
                <a:cs typeface="Segoe UI" pitchFamily="34" charset="-120"/>
              </a:rPr>
              <a:t>• User Auth, File Storage, and auto REST APIs included.
</a:t>
            </a:r>
            <a:pPr indent="0" marL="0">
              <a:lnSpc>
                <a:spcPct val="120000"/>
              </a:lnSpc>
              <a:buNone/>
            </a:pPr>
            <a:r>
              <a:rPr lang="en-US" sz="880" dirty="0">
                <a:solidFill>
                  <a:srgbClr val="0F172A"/>
                </a:solidFill>
                <a:latin typeface="Segoe UI" pitchFamily="34" charset="0"/>
                <a:ea typeface="Segoe UI" pitchFamily="34" charset="-122"/>
                <a:cs typeface="Segoe UI" pitchFamily="34" charset="-120"/>
              </a:rPr>
              <a:t>• No credit card required for the 500 MB Free Tier.
</a:t>
            </a:r>
            <a:pPr indent="0" marL="0">
              <a:lnSpc>
                <a:spcPct val="120000"/>
              </a:lnSpc>
              <a:buNone/>
            </a:pPr>
            <a:r>
              <a:rPr lang="en-US" sz="880" dirty="0">
                <a:solidFill>
                  <a:srgbClr val="0F172A"/>
                </a:solidFill>
                <a:latin typeface="Segoe UI" pitchFamily="34" charset="0"/>
                <a:ea typeface="Segoe UI" pitchFamily="34" charset="-122"/>
                <a:cs typeface="Segoe UI" pitchFamily="34" charset="-120"/>
              </a:rPr>
              <a:t>• Real standard PostgreSQL; zero developer vendor lock-in.</a:t>
            </a:r>
            <a:endParaRPr lang="en-US" sz="950" dirty="0"/>
          </a:p>
        </p:txBody>
      </p:sp>
      <p:sp>
        <p:nvSpPr>
          <p:cNvPr id="11" name="Shape 9"/>
          <p:cNvSpPr/>
          <p:nvPr/>
        </p:nvSpPr>
        <p:spPr>
          <a:xfrm>
            <a:off x="960120" y="4160520"/>
            <a:ext cx="4785055" cy="1828800"/>
          </a:xfrm>
          <a:prstGeom prst="roundRect">
            <a:avLst>
              <a:gd name="adj" fmla="val 4000"/>
            </a:avLst>
          </a:prstGeom>
          <a:solidFill>
            <a:srgbClr val="FEF2F2"/>
          </a:solidFill>
          <a:ln w="12700">
            <a:solidFill>
              <a:srgbClr val="FECACA"/>
            </a:solidFill>
            <a:prstDash val="solid"/>
          </a:ln>
        </p:spPr>
      </p:sp>
      <p:sp>
        <p:nvSpPr>
          <p:cNvPr id="12" name="Text 10"/>
          <p:cNvSpPr/>
          <p:nvPr/>
        </p:nvSpPr>
        <p:spPr>
          <a:xfrm>
            <a:off x="1143000" y="4251960"/>
            <a:ext cx="4419295" cy="1645920"/>
          </a:xfrm>
          <a:prstGeom prst="rect">
            <a:avLst/>
          </a:prstGeom>
          <a:noFill/>
          <a:ln/>
        </p:spPr>
        <p:txBody>
          <a:bodyPr wrap="square" rtlCol="0" anchor="t"/>
          <a:lstStyle/>
          <a:p>
            <a:pPr indent="0" marL="0">
              <a:lnSpc>
                <a:spcPct val="120000"/>
              </a:lnSpc>
              <a:buNone/>
            </a:pPr>
            <a:r>
              <a:rPr lang="en-US" sz="950" b="1" dirty="0">
                <a:solidFill>
                  <a:srgbClr val="DC2626"/>
                </a:solidFill>
                <a:latin typeface="Segoe UI" pitchFamily="34" charset="0"/>
                <a:ea typeface="Segoe UI" pitchFamily="34" charset="-122"/>
                <a:cs typeface="Segoe UI" pitchFamily="34" charset="-120"/>
              </a:rPr>
              <a:t>✖  KEY DISADVANTAGES:
</a:t>
            </a:r>
            <a:pPr indent="0" marL="0">
              <a:lnSpc>
                <a:spcPct val="120000"/>
              </a:lnSpc>
              <a:buNone/>
            </a:pPr>
            <a:r>
              <a:rPr lang="en-US" sz="880" dirty="0">
                <a:solidFill>
                  <a:srgbClr val="475569"/>
                </a:solidFill>
                <a:latin typeface="Segoe UI" pitchFamily="34" charset="0"/>
                <a:ea typeface="Segoe UI" pitchFamily="34" charset="-122"/>
                <a:cs typeface="Segoe UI" pitchFamily="34" charset="-120"/>
              </a:rPr>
              <a:t>• Free tier projects pause after 7 days of inactivity (takes 15s to resume).
</a:t>
            </a:r>
            <a:pPr indent="0" marL="0">
              <a:lnSpc>
                <a:spcPct val="120000"/>
              </a:lnSpc>
              <a:buNone/>
            </a:pPr>
            <a:r>
              <a:rPr lang="en-US" sz="880" dirty="0">
                <a:solidFill>
                  <a:srgbClr val="475569"/>
                </a:solidFill>
                <a:latin typeface="Segoe UI" pitchFamily="34" charset="0"/>
                <a:ea typeface="Segoe UI" pitchFamily="34" charset="-122"/>
                <a:cs typeface="Segoe UI" pitchFamily="34" charset="-120"/>
              </a:rPr>
              <a:t>• High bandwidth egress incurs extra usage fees on heavy file apps.
</a:t>
            </a:r>
            <a:pPr indent="0" marL="0">
              <a:lnSpc>
                <a:spcPct val="120000"/>
              </a:lnSpc>
              <a:buNone/>
            </a:pPr>
            <a:r>
              <a:rPr lang="en-US" sz="880" dirty="0">
                <a:solidFill>
                  <a:srgbClr val="475569"/>
                </a:solidFill>
                <a:latin typeface="Segoe UI" pitchFamily="34" charset="0"/>
                <a:ea typeface="Segoe UI" pitchFamily="34" charset="-122"/>
                <a:cs typeface="Segoe UI" pitchFamily="34" charset="-120"/>
              </a:rPr>
              <a:t>• Younger ecosystem compared to 15-year established clouds.</a:t>
            </a:r>
            <a:endParaRPr lang="en-US" sz="950" dirty="0"/>
          </a:p>
        </p:txBody>
      </p:sp>
      <p:sp>
        <p:nvSpPr>
          <p:cNvPr id="13" name="Shape 11"/>
          <p:cNvSpPr/>
          <p:nvPr/>
        </p:nvSpPr>
        <p:spPr>
          <a:xfrm>
            <a:off x="6217920" y="1325880"/>
            <a:ext cx="5242255" cy="4846320"/>
          </a:xfrm>
          <a:prstGeom prst="roundRect">
            <a:avLst>
              <a:gd name="adj" fmla="val 2264"/>
            </a:avLst>
          </a:prstGeom>
          <a:solidFill>
            <a:srgbClr val="FFFFFF"/>
          </a:solidFill>
          <a:ln w="15240">
            <a:solidFill>
              <a:srgbClr val="E2E8F0"/>
            </a:solidFill>
            <a:prstDash val="solid"/>
          </a:ln>
        </p:spPr>
      </p:sp>
      <p:sp>
        <p:nvSpPr>
          <p:cNvPr id="14" name="Shape 12"/>
          <p:cNvSpPr/>
          <p:nvPr/>
        </p:nvSpPr>
        <p:spPr>
          <a:xfrm>
            <a:off x="6217920" y="1325880"/>
            <a:ext cx="5242255" cy="640080"/>
          </a:xfrm>
          <a:prstGeom prst="roundRect">
            <a:avLst>
              <a:gd name="adj" fmla="val 17143"/>
            </a:avLst>
          </a:prstGeom>
          <a:solidFill>
            <a:srgbClr val="16A34A"/>
          </a:solidFill>
          <a:ln w="12700">
            <a:solidFill>
              <a:srgbClr val="16A34A"/>
            </a:solidFill>
            <a:prstDash val="solid"/>
          </a:ln>
        </p:spPr>
      </p:sp>
      <p:sp>
        <p:nvSpPr>
          <p:cNvPr id="15" name="Text 13"/>
          <p:cNvSpPr/>
          <p:nvPr/>
        </p:nvSpPr>
        <p:spPr>
          <a:xfrm>
            <a:off x="6492240" y="1325880"/>
            <a:ext cx="4693615" cy="640080"/>
          </a:xfrm>
          <a:prstGeom prst="rect">
            <a:avLst/>
          </a:prstGeom>
          <a:noFill/>
          <a:ln/>
        </p:spPr>
        <p:txBody>
          <a:bodyPr wrap="square" rtlCol="0" anchor="ctr"/>
          <a:lstStyle/>
          <a:p>
            <a:pPr indent="0" marL="0">
              <a:buNone/>
            </a:pPr>
            <a:r>
              <a:rPr lang="en-US" sz="1200" b="1" dirty="0">
                <a:solidFill>
                  <a:srgbClr val="FFFFFF"/>
                </a:solidFill>
                <a:latin typeface="Segoe UI" pitchFamily="34" charset="0"/>
                <a:ea typeface="Segoe UI" pitchFamily="34" charset="-122"/>
                <a:cs typeface="Segoe UI" pitchFamily="34" charset="-120"/>
              </a:rPr>
              <a:t>2. MONGODB ATLAS PROS &amp; CONS</a:t>
            </a:r>
            <a:endParaRPr lang="en-US" sz="1200" dirty="0"/>
          </a:p>
        </p:txBody>
      </p:sp>
      <p:sp>
        <p:nvSpPr>
          <p:cNvPr id="16" name="Shape 14"/>
          <p:cNvSpPr/>
          <p:nvPr/>
        </p:nvSpPr>
        <p:spPr>
          <a:xfrm>
            <a:off x="6446520" y="2103120"/>
            <a:ext cx="4785055" cy="1920240"/>
          </a:xfrm>
          <a:prstGeom prst="roundRect">
            <a:avLst>
              <a:gd name="adj" fmla="val 3810"/>
            </a:avLst>
          </a:prstGeom>
          <a:solidFill>
            <a:srgbClr val="F0FDF4"/>
          </a:solidFill>
          <a:ln w="12700">
            <a:solidFill>
              <a:srgbClr val="BBF7D0"/>
            </a:solidFill>
            <a:prstDash val="solid"/>
          </a:ln>
        </p:spPr>
      </p:sp>
      <p:sp>
        <p:nvSpPr>
          <p:cNvPr id="17" name="Text 15"/>
          <p:cNvSpPr/>
          <p:nvPr/>
        </p:nvSpPr>
        <p:spPr>
          <a:xfrm>
            <a:off x="6629400" y="2194560"/>
            <a:ext cx="4419295" cy="1737360"/>
          </a:xfrm>
          <a:prstGeom prst="rect">
            <a:avLst/>
          </a:prstGeom>
          <a:noFill/>
          <a:ln/>
        </p:spPr>
        <p:txBody>
          <a:bodyPr wrap="square" rtlCol="0" anchor="t"/>
          <a:lstStyle/>
          <a:p>
            <a:pPr indent="0" marL="0">
              <a:lnSpc>
                <a:spcPct val="120000"/>
              </a:lnSpc>
              <a:buNone/>
            </a:pPr>
            <a:r>
              <a:rPr lang="en-US" sz="950" b="1" dirty="0">
                <a:solidFill>
                  <a:srgbClr val="15803D"/>
                </a:solidFill>
                <a:latin typeface="Segoe UI" pitchFamily="34" charset="0"/>
                <a:ea typeface="Segoe UI" pitchFamily="34" charset="-122"/>
                <a:cs typeface="Segoe UI" pitchFamily="34" charset="-120"/>
              </a:rPr>
              <a:t>✔  KEY ADVANTAGES:
</a:t>
            </a:r>
            <a:pPr indent="0" marL="0">
              <a:lnSpc>
                <a:spcPct val="120000"/>
              </a:lnSpc>
              <a:buNone/>
            </a:pPr>
            <a:r>
              <a:rPr lang="en-US" sz="880" dirty="0">
                <a:solidFill>
                  <a:srgbClr val="0F172A"/>
                </a:solidFill>
                <a:latin typeface="Segoe UI" pitchFamily="34" charset="0"/>
                <a:ea typeface="Segoe UI" pitchFamily="34" charset="-122"/>
                <a:cs typeface="Segoe UI" pitchFamily="34" charset="-120"/>
              </a:rPr>
              <a:t>• Complete schema flexibility; JSON documents never require table migrations.
</a:t>
            </a:r>
            <a:pPr indent="0" marL="0">
              <a:lnSpc>
                <a:spcPct val="120000"/>
              </a:lnSpc>
              <a:buNone/>
            </a:pPr>
            <a:r>
              <a:rPr lang="en-US" sz="880" dirty="0">
                <a:solidFill>
                  <a:srgbClr val="0F172A"/>
                </a:solidFill>
                <a:latin typeface="Segoe UI" pitchFamily="34" charset="0"/>
                <a:ea typeface="Segoe UI" pitchFamily="34" charset="-122"/>
                <a:cs typeface="Segoe UI" pitchFamily="34" charset="-120"/>
              </a:rPr>
              <a:t>• Built-in full-text search eliminates costly Elasticsearch clusters.
</a:t>
            </a:r>
            <a:pPr indent="0" marL="0">
              <a:lnSpc>
                <a:spcPct val="120000"/>
              </a:lnSpc>
              <a:buNone/>
            </a:pPr>
            <a:r>
              <a:rPr lang="en-US" sz="880" dirty="0">
                <a:solidFill>
                  <a:srgbClr val="0F172A"/>
                </a:solidFill>
                <a:latin typeface="Segoe UI" pitchFamily="34" charset="0"/>
                <a:ea typeface="Segoe UI" pitchFamily="34" charset="-122"/>
                <a:cs typeface="Segoe UI" pitchFamily="34" charset="-120"/>
              </a:rPr>
              <a:t>• Automated 3-server replication provides zero-downtime failover.
</a:t>
            </a:r>
            <a:pPr indent="0" marL="0">
              <a:lnSpc>
                <a:spcPct val="120000"/>
              </a:lnSpc>
              <a:buNone/>
            </a:pPr>
            <a:r>
              <a:rPr lang="en-US" sz="880" dirty="0">
                <a:solidFill>
                  <a:srgbClr val="0F172A"/>
                </a:solidFill>
                <a:latin typeface="Segoe UI" pitchFamily="34" charset="0"/>
                <a:ea typeface="Segoe UI" pitchFamily="34" charset="-122"/>
                <a:cs typeface="Segoe UI" pitchFamily="34" charset="-120"/>
              </a:rPr>
              <a:t>• Runs multi-cloud across AWS, Azure, and Google Cloud.</a:t>
            </a:r>
            <a:endParaRPr lang="en-US" sz="950" dirty="0"/>
          </a:p>
        </p:txBody>
      </p:sp>
      <p:sp>
        <p:nvSpPr>
          <p:cNvPr id="18" name="Shape 16"/>
          <p:cNvSpPr/>
          <p:nvPr/>
        </p:nvSpPr>
        <p:spPr>
          <a:xfrm>
            <a:off x="6446520" y="4160520"/>
            <a:ext cx="4785055" cy="1828800"/>
          </a:xfrm>
          <a:prstGeom prst="roundRect">
            <a:avLst>
              <a:gd name="adj" fmla="val 4000"/>
            </a:avLst>
          </a:prstGeom>
          <a:solidFill>
            <a:srgbClr val="FEF2F2"/>
          </a:solidFill>
          <a:ln w="12700">
            <a:solidFill>
              <a:srgbClr val="FECACA"/>
            </a:solidFill>
            <a:prstDash val="solid"/>
          </a:ln>
        </p:spPr>
      </p:sp>
      <p:sp>
        <p:nvSpPr>
          <p:cNvPr id="19" name="Text 17"/>
          <p:cNvSpPr/>
          <p:nvPr/>
        </p:nvSpPr>
        <p:spPr>
          <a:xfrm>
            <a:off x="6629400" y="4251960"/>
            <a:ext cx="4419295" cy="1645920"/>
          </a:xfrm>
          <a:prstGeom prst="rect">
            <a:avLst/>
          </a:prstGeom>
          <a:noFill/>
          <a:ln/>
        </p:spPr>
        <p:txBody>
          <a:bodyPr wrap="square" rtlCol="0" anchor="t"/>
          <a:lstStyle/>
          <a:p>
            <a:pPr indent="0" marL="0">
              <a:lnSpc>
                <a:spcPct val="120000"/>
              </a:lnSpc>
              <a:buNone/>
            </a:pPr>
            <a:r>
              <a:rPr lang="en-US" sz="950" b="1" dirty="0">
                <a:solidFill>
                  <a:srgbClr val="DC2626"/>
                </a:solidFill>
                <a:latin typeface="Segoe UI" pitchFamily="34" charset="0"/>
                <a:ea typeface="Segoe UI" pitchFamily="34" charset="-122"/>
                <a:cs typeface="Segoe UI" pitchFamily="34" charset="-120"/>
              </a:rPr>
              <a:t>✖  KEY DISADVANTAGES:
</a:t>
            </a:r>
            <a:pPr indent="0" marL="0">
              <a:lnSpc>
                <a:spcPct val="120000"/>
              </a:lnSpc>
              <a:buNone/>
            </a:pPr>
            <a:r>
              <a:rPr lang="en-US" sz="880" dirty="0">
                <a:solidFill>
                  <a:srgbClr val="475569"/>
                </a:solidFill>
                <a:latin typeface="Segoe UI" pitchFamily="34" charset="0"/>
                <a:ea typeface="Segoe UI" pitchFamily="34" charset="-122"/>
                <a:cs typeface="Segoe UI" pitchFamily="34" charset="-120"/>
              </a:rPr>
              <a:t>• Dedicated production instances start at $57/month.
</a:t>
            </a:r>
            <a:pPr indent="0" marL="0">
              <a:lnSpc>
                <a:spcPct val="120000"/>
              </a:lnSpc>
              <a:buNone/>
            </a:pPr>
            <a:r>
              <a:rPr lang="en-US" sz="880" dirty="0">
                <a:solidFill>
                  <a:srgbClr val="475569"/>
                </a:solidFill>
                <a:latin typeface="Segoe UI" pitchFamily="34" charset="0"/>
                <a:ea typeface="Segoe UI" pitchFamily="34" charset="-122"/>
                <a:cs typeface="Segoe UI" pitchFamily="34" charset="-120"/>
              </a:rPr>
              <a:t>• Inefficient for strict relational data requiring complex multi-table SQL JOINs.
</a:t>
            </a:r>
            <a:pPr indent="0" marL="0">
              <a:lnSpc>
                <a:spcPct val="120000"/>
              </a:lnSpc>
              <a:buNone/>
            </a:pPr>
            <a:r>
              <a:rPr lang="en-US" sz="880" dirty="0">
                <a:solidFill>
                  <a:srgbClr val="475569"/>
                </a:solidFill>
                <a:latin typeface="Segoe UI" pitchFamily="34" charset="0"/>
                <a:ea typeface="Segoe UI" pitchFamily="34" charset="-122"/>
                <a:cs typeface="Segoe UI" pitchFamily="34" charset="-120"/>
              </a:rPr>
              <a:t>• High memory consumption if document indexes are not carefully designed.</a:t>
            </a:r>
            <a:endParaRPr lang="en-US" sz="950" dirty="0"/>
          </a:p>
        </p:txBody>
      </p:sp>
      <p:sp>
        <p:nvSpPr>
          <p:cNvPr id="20" name="Shape 18"/>
          <p:cNvSpPr/>
          <p:nvPr/>
        </p:nvSpPr>
        <p:spPr>
          <a:xfrm>
            <a:off x="731520" y="6355080"/>
            <a:ext cx="10728655" cy="18288"/>
          </a:xfrm>
          <a:prstGeom prst="rect">
            <a:avLst/>
          </a:prstGeom>
          <a:solidFill>
            <a:srgbClr val="E2E8F0"/>
          </a:solidFill>
          <a:ln/>
        </p:spPr>
      </p:sp>
      <p:sp>
        <p:nvSpPr>
          <p:cNvPr id="21" name="Text 19"/>
          <p:cNvSpPr/>
          <p:nvPr/>
        </p:nvSpPr>
        <p:spPr>
          <a:xfrm>
            <a:off x="731520" y="6419088"/>
            <a:ext cx="7772400" cy="27432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CONFIDENTIAL &amp; PROPRIETARY | Enterprise Cloud Database Evaluation &amp; Advisory</a:t>
            </a:r>
            <a:endParaRPr lang="en-US" sz="850" dirty="0"/>
          </a:p>
        </p:txBody>
      </p:sp>
      <p:sp>
        <p:nvSpPr>
          <p:cNvPr id="22" name="Text 20"/>
          <p:cNvSpPr/>
          <p:nvPr/>
        </p:nvSpPr>
        <p:spPr>
          <a:xfrm>
            <a:off x="9631375" y="6419088"/>
            <a:ext cx="1828800" cy="274320"/>
          </a:xfrm>
          <a:prstGeom prst="rect">
            <a:avLst/>
          </a:prstGeom>
          <a:noFill/>
          <a:ln/>
        </p:spPr>
        <p:txBody>
          <a:bodyPr wrap="square" rtlCol="0" anchor="ctr"/>
          <a:lstStyle/>
          <a:p>
            <a:pPr algn="r" indent="0" marL="0">
              <a:buNone/>
            </a:pPr>
            <a:r>
              <a:rPr lang="en-US" sz="850" dirty="0">
                <a:solidFill>
                  <a:srgbClr val="94A3B8"/>
                </a:solidFill>
                <a:latin typeface="Segoe UI" pitchFamily="34" charset="0"/>
                <a:ea typeface="Segoe UI" pitchFamily="34" charset="-122"/>
                <a:cs typeface="Segoe UI" pitchFamily="34" charset="-120"/>
              </a:rPr>
              <a:t>Slide 13 of 17</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p:spPr>
      </p:sp>
      <p:sp>
        <p:nvSpPr>
          <p:cNvPr id="3" name="Shape 1"/>
          <p:cNvSpPr/>
          <p:nvPr/>
        </p:nvSpPr>
        <p:spPr>
          <a:xfrm>
            <a:off x="731520" y="320040"/>
            <a:ext cx="2286000" cy="274320"/>
          </a:xfrm>
          <a:prstGeom prst="roundRect">
            <a:avLst>
              <a:gd name="adj" fmla="val 26667"/>
            </a:avLst>
          </a:prstGeom>
          <a:solidFill>
            <a:srgbClr val="EFF6FF"/>
          </a:solidFill>
          <a:ln w="12700">
            <a:solidFill>
              <a:srgbClr val="BFDBFE"/>
            </a:solidFill>
            <a:prstDash val="solid"/>
          </a:ln>
        </p:spPr>
      </p:sp>
      <p:sp>
        <p:nvSpPr>
          <p:cNvPr id="4" name="Text 2"/>
          <p:cNvSpPr/>
          <p:nvPr/>
        </p:nvSpPr>
        <p:spPr>
          <a:xfrm>
            <a:off x="731520" y="320040"/>
            <a:ext cx="2286000" cy="274320"/>
          </a:xfrm>
          <a:prstGeom prst="rect">
            <a:avLst/>
          </a:prstGeom>
          <a:noFill/>
          <a:ln/>
        </p:spPr>
        <p:txBody>
          <a:bodyPr wrap="square" rtlCol="0" anchor="ctr"/>
          <a:lstStyle/>
          <a:p>
            <a:pPr algn="ctr" indent="0" marL="0">
              <a:buNone/>
            </a:pPr>
            <a:r>
              <a:rPr lang="en-US" sz="900" b="1" dirty="0">
                <a:solidFill>
                  <a:srgbClr val="1D4ED8"/>
                </a:solidFill>
                <a:latin typeface="Segoe UI" pitchFamily="34" charset="0"/>
                <a:ea typeface="Segoe UI" pitchFamily="34" charset="-122"/>
                <a:cs typeface="Segoe UI" pitchFamily="34" charset="-120"/>
              </a:rPr>
              <a:t>TRADE-OFF ANALYSIS (2/2)</a:t>
            </a:r>
            <a:endParaRPr lang="en-US" sz="900" dirty="0"/>
          </a:p>
        </p:txBody>
      </p:sp>
      <p:sp>
        <p:nvSpPr>
          <p:cNvPr id="5" name="Text 3"/>
          <p:cNvSpPr/>
          <p:nvPr/>
        </p:nvSpPr>
        <p:spPr>
          <a:xfrm>
            <a:off x="731520" y="658368"/>
            <a:ext cx="10728655" cy="502920"/>
          </a:xfrm>
          <a:prstGeom prst="rect">
            <a:avLst/>
          </a:prstGeom>
          <a:noFill/>
          <a:ln/>
        </p:spPr>
        <p:txBody>
          <a:bodyPr wrap="square" rtlCol="0" anchor="ctr"/>
          <a:lstStyle/>
          <a:p>
            <a:pPr indent="0" marL="0">
              <a:buNone/>
            </a:pPr>
            <a:r>
              <a:rPr lang="en-US" sz="2100" b="1" dirty="0">
                <a:solidFill>
                  <a:srgbClr val="0A0F1D"/>
                </a:solidFill>
                <a:latin typeface="Segoe UI" pitchFamily="34" charset="0"/>
                <a:ea typeface="Segoe UI" pitchFamily="34" charset="-122"/>
                <a:cs typeface="Segoe UI" pitchFamily="34" charset="-120"/>
              </a:rPr>
              <a:t>Advantages &amp; Disadvantages: Microsoft Azure vs. Amazon AWS</a:t>
            </a:r>
            <a:endParaRPr lang="en-US" sz="2100" dirty="0"/>
          </a:p>
        </p:txBody>
      </p:sp>
      <p:sp>
        <p:nvSpPr>
          <p:cNvPr id="6" name="Shape 4"/>
          <p:cNvSpPr/>
          <p:nvPr/>
        </p:nvSpPr>
        <p:spPr>
          <a:xfrm>
            <a:off x="731520" y="1325880"/>
            <a:ext cx="5242255" cy="4846320"/>
          </a:xfrm>
          <a:prstGeom prst="roundRect">
            <a:avLst>
              <a:gd name="adj" fmla="val 2264"/>
            </a:avLst>
          </a:prstGeom>
          <a:solidFill>
            <a:srgbClr val="FFFFFF"/>
          </a:solidFill>
          <a:ln w="15240">
            <a:solidFill>
              <a:srgbClr val="E2E8F0"/>
            </a:solidFill>
            <a:prstDash val="solid"/>
          </a:ln>
        </p:spPr>
      </p:sp>
      <p:sp>
        <p:nvSpPr>
          <p:cNvPr id="7" name="Shape 5"/>
          <p:cNvSpPr/>
          <p:nvPr/>
        </p:nvSpPr>
        <p:spPr>
          <a:xfrm>
            <a:off x="731520" y="1325880"/>
            <a:ext cx="5242255" cy="640080"/>
          </a:xfrm>
          <a:prstGeom prst="roundRect">
            <a:avLst>
              <a:gd name="adj" fmla="val 17143"/>
            </a:avLst>
          </a:prstGeom>
          <a:solidFill>
            <a:srgbClr val="0284C7"/>
          </a:solidFill>
          <a:ln w="12700">
            <a:solidFill>
              <a:srgbClr val="0284C7"/>
            </a:solidFill>
            <a:prstDash val="solid"/>
          </a:ln>
        </p:spPr>
      </p:sp>
      <p:sp>
        <p:nvSpPr>
          <p:cNvPr id="8" name="Text 6"/>
          <p:cNvSpPr/>
          <p:nvPr/>
        </p:nvSpPr>
        <p:spPr>
          <a:xfrm>
            <a:off x="1005840" y="1325880"/>
            <a:ext cx="4693615" cy="640080"/>
          </a:xfrm>
          <a:prstGeom prst="rect">
            <a:avLst/>
          </a:prstGeom>
          <a:noFill/>
          <a:ln/>
        </p:spPr>
        <p:txBody>
          <a:bodyPr wrap="square" rtlCol="0" anchor="ctr"/>
          <a:lstStyle/>
          <a:p>
            <a:pPr indent="0" marL="0">
              <a:buNone/>
            </a:pPr>
            <a:r>
              <a:rPr lang="en-US" sz="1200" b="1" dirty="0">
                <a:solidFill>
                  <a:srgbClr val="FFFFFF"/>
                </a:solidFill>
                <a:latin typeface="Segoe UI" pitchFamily="34" charset="0"/>
                <a:ea typeface="Segoe UI" pitchFamily="34" charset="-122"/>
                <a:cs typeface="Segoe UI" pitchFamily="34" charset="-120"/>
              </a:rPr>
              <a:t>3. MICROSOFT AZURE PROS &amp; CONS</a:t>
            </a:r>
            <a:endParaRPr lang="en-US" sz="1200" dirty="0"/>
          </a:p>
        </p:txBody>
      </p:sp>
      <p:sp>
        <p:nvSpPr>
          <p:cNvPr id="9" name="Shape 7"/>
          <p:cNvSpPr/>
          <p:nvPr/>
        </p:nvSpPr>
        <p:spPr>
          <a:xfrm>
            <a:off x="960120" y="2103120"/>
            <a:ext cx="4785055" cy="1920240"/>
          </a:xfrm>
          <a:prstGeom prst="roundRect">
            <a:avLst>
              <a:gd name="adj" fmla="val 3810"/>
            </a:avLst>
          </a:prstGeom>
          <a:solidFill>
            <a:srgbClr val="F0F9FF"/>
          </a:solidFill>
          <a:ln w="12700">
            <a:solidFill>
              <a:srgbClr val="BAE6FD"/>
            </a:solidFill>
            <a:prstDash val="solid"/>
          </a:ln>
        </p:spPr>
      </p:sp>
      <p:sp>
        <p:nvSpPr>
          <p:cNvPr id="10" name="Text 8"/>
          <p:cNvSpPr/>
          <p:nvPr/>
        </p:nvSpPr>
        <p:spPr>
          <a:xfrm>
            <a:off x="1143000" y="2194560"/>
            <a:ext cx="4419295" cy="1737360"/>
          </a:xfrm>
          <a:prstGeom prst="rect">
            <a:avLst/>
          </a:prstGeom>
          <a:noFill/>
          <a:ln/>
        </p:spPr>
        <p:txBody>
          <a:bodyPr wrap="square" rtlCol="0" anchor="t"/>
          <a:lstStyle/>
          <a:p>
            <a:pPr indent="0" marL="0">
              <a:lnSpc>
                <a:spcPct val="120000"/>
              </a:lnSpc>
              <a:buNone/>
            </a:pPr>
            <a:r>
              <a:rPr lang="en-US" sz="950" b="1" dirty="0">
                <a:solidFill>
                  <a:srgbClr val="0369A1"/>
                </a:solidFill>
                <a:latin typeface="Segoe UI" pitchFamily="34" charset="0"/>
                <a:ea typeface="Segoe UI" pitchFamily="34" charset="-122"/>
                <a:cs typeface="Segoe UI" pitchFamily="34" charset="-120"/>
              </a:rPr>
              <a:t>✔  KEY ADVANTAGES:
</a:t>
            </a:r>
            <a:pPr indent="0" marL="0">
              <a:lnSpc>
                <a:spcPct val="120000"/>
              </a:lnSpc>
              <a:buNone/>
            </a:pPr>
            <a:r>
              <a:rPr lang="en-US" sz="880" dirty="0">
                <a:solidFill>
                  <a:srgbClr val="0F172A"/>
                </a:solidFill>
                <a:latin typeface="Segoe UI" pitchFamily="34" charset="0"/>
                <a:ea typeface="Segoe UI" pitchFamily="34" charset="-122"/>
                <a:cs typeface="Segoe UI" pitchFamily="34" charset="-120"/>
              </a:rPr>
              <a:t>• Lowest entry cost in cloud ($4.99/mo Basic tier for small business).
</a:t>
            </a:r>
            <a:pPr indent="0" marL="0">
              <a:lnSpc>
                <a:spcPct val="120000"/>
              </a:lnSpc>
              <a:buNone/>
            </a:pPr>
            <a:r>
              <a:rPr lang="en-US" sz="880" dirty="0">
                <a:solidFill>
                  <a:srgbClr val="0F172A"/>
                </a:solidFill>
                <a:latin typeface="Segoe UI" pitchFamily="34" charset="0"/>
                <a:ea typeface="Segoe UI" pitchFamily="34" charset="-122"/>
                <a:cs typeface="Segoe UI" pitchFamily="34" charset="-120"/>
              </a:rPr>
              <a:t>• Direct synchronization with Power BI, Excel, and Office 365.
</a:t>
            </a:r>
            <a:pPr indent="0" marL="0">
              <a:lnSpc>
                <a:spcPct val="120000"/>
              </a:lnSpc>
              <a:buNone/>
            </a:pPr>
            <a:r>
              <a:rPr lang="en-US" sz="880" dirty="0">
                <a:solidFill>
                  <a:srgbClr val="0F172A"/>
                </a:solidFill>
                <a:latin typeface="Segoe UI" pitchFamily="34" charset="0"/>
                <a:ea typeface="Segoe UI" pitchFamily="34" charset="-122"/>
                <a:cs typeface="Segoe UI" pitchFamily="34" charset="-120"/>
              </a:rPr>
              <a:t>• Active Directory enterprise single sign-on security.
</a:t>
            </a:r>
            <a:pPr indent="0" marL="0">
              <a:lnSpc>
                <a:spcPct val="120000"/>
              </a:lnSpc>
              <a:buNone/>
            </a:pPr>
            <a:r>
              <a:rPr lang="en-US" sz="880" dirty="0">
                <a:solidFill>
                  <a:srgbClr val="0F172A"/>
                </a:solidFill>
                <a:latin typeface="Segoe UI" pitchFamily="34" charset="0"/>
                <a:ea typeface="Segoe UI" pitchFamily="34" charset="-122"/>
                <a:cs typeface="Segoe UI" pitchFamily="34" charset="-120"/>
              </a:rPr>
              <a:t>• Serverless tier pauses during off-hours, lowering development bills.</a:t>
            </a:r>
            <a:endParaRPr lang="en-US" sz="950" dirty="0"/>
          </a:p>
        </p:txBody>
      </p:sp>
      <p:sp>
        <p:nvSpPr>
          <p:cNvPr id="11" name="Shape 9"/>
          <p:cNvSpPr/>
          <p:nvPr/>
        </p:nvSpPr>
        <p:spPr>
          <a:xfrm>
            <a:off x="960120" y="4160520"/>
            <a:ext cx="4785055" cy="1828800"/>
          </a:xfrm>
          <a:prstGeom prst="roundRect">
            <a:avLst>
              <a:gd name="adj" fmla="val 4000"/>
            </a:avLst>
          </a:prstGeom>
          <a:solidFill>
            <a:srgbClr val="FEF2F2"/>
          </a:solidFill>
          <a:ln w="12700">
            <a:solidFill>
              <a:srgbClr val="FECACA"/>
            </a:solidFill>
            <a:prstDash val="solid"/>
          </a:ln>
        </p:spPr>
      </p:sp>
      <p:sp>
        <p:nvSpPr>
          <p:cNvPr id="12" name="Text 10"/>
          <p:cNvSpPr/>
          <p:nvPr/>
        </p:nvSpPr>
        <p:spPr>
          <a:xfrm>
            <a:off x="1143000" y="4251960"/>
            <a:ext cx="4419295" cy="1645920"/>
          </a:xfrm>
          <a:prstGeom prst="rect">
            <a:avLst/>
          </a:prstGeom>
          <a:noFill/>
          <a:ln/>
        </p:spPr>
        <p:txBody>
          <a:bodyPr wrap="square" rtlCol="0" anchor="t"/>
          <a:lstStyle/>
          <a:p>
            <a:pPr indent="0" marL="0">
              <a:lnSpc>
                <a:spcPct val="120000"/>
              </a:lnSpc>
              <a:buNone/>
            </a:pPr>
            <a:r>
              <a:rPr lang="en-US" sz="950" b="1" dirty="0">
                <a:solidFill>
                  <a:srgbClr val="DC2626"/>
                </a:solidFill>
                <a:latin typeface="Segoe UI" pitchFamily="34" charset="0"/>
                <a:ea typeface="Segoe UI" pitchFamily="34" charset="-122"/>
                <a:cs typeface="Segoe UI" pitchFamily="34" charset="-120"/>
              </a:rPr>
              <a:t>✖  KEY DISADVANTAGES:
</a:t>
            </a:r>
            <a:pPr indent="0" marL="0">
              <a:lnSpc>
                <a:spcPct val="120000"/>
              </a:lnSpc>
              <a:buNone/>
            </a:pPr>
            <a:r>
              <a:rPr lang="en-US" sz="880" dirty="0">
                <a:solidFill>
                  <a:srgbClr val="475569"/>
                </a:solidFill>
                <a:latin typeface="Segoe UI" pitchFamily="34" charset="0"/>
                <a:ea typeface="Segoe UI" pitchFamily="34" charset="-122"/>
                <a:cs typeface="Segoe UI" pitchFamily="34" charset="-120"/>
              </a:rPr>
              <a:t>• Basic plan has a strict 2 GB storage limit.
</a:t>
            </a:r>
            <a:pPr indent="0" marL="0">
              <a:lnSpc>
                <a:spcPct val="120000"/>
              </a:lnSpc>
              <a:buNone/>
            </a:pPr>
            <a:r>
              <a:rPr lang="en-US" sz="880" dirty="0">
                <a:solidFill>
                  <a:srgbClr val="475569"/>
                </a:solidFill>
                <a:latin typeface="Segoe UI" pitchFamily="34" charset="0"/>
                <a:ea typeface="Segoe UI" pitchFamily="34" charset="-122"/>
                <a:cs typeface="Segoe UI" pitchFamily="34" charset="-120"/>
              </a:rPr>
              <a:t>• Azure Portal has a steep navigation learning curve for newcomers.
</a:t>
            </a:r>
            <a:pPr indent="0" marL="0">
              <a:lnSpc>
                <a:spcPct val="120000"/>
              </a:lnSpc>
              <a:buNone/>
            </a:pPr>
            <a:r>
              <a:rPr lang="en-US" sz="880" dirty="0">
                <a:solidFill>
                  <a:srgbClr val="475569"/>
                </a:solidFill>
                <a:latin typeface="Segoe UI" pitchFamily="34" charset="0"/>
                <a:ea typeface="Segoe UI" pitchFamily="34" charset="-122"/>
                <a:cs typeface="Segoe UI" pitchFamily="34" charset="-120"/>
              </a:rPr>
              <a:t>• High-performance vCore tiers become expensive without multi-year commitments.</a:t>
            </a:r>
            <a:endParaRPr lang="en-US" sz="950" dirty="0"/>
          </a:p>
        </p:txBody>
      </p:sp>
      <p:sp>
        <p:nvSpPr>
          <p:cNvPr id="13" name="Shape 11"/>
          <p:cNvSpPr/>
          <p:nvPr/>
        </p:nvSpPr>
        <p:spPr>
          <a:xfrm>
            <a:off x="6217920" y="1325880"/>
            <a:ext cx="5242255" cy="4846320"/>
          </a:xfrm>
          <a:prstGeom prst="roundRect">
            <a:avLst>
              <a:gd name="adj" fmla="val 2264"/>
            </a:avLst>
          </a:prstGeom>
          <a:solidFill>
            <a:srgbClr val="FFFFFF"/>
          </a:solidFill>
          <a:ln w="15240">
            <a:solidFill>
              <a:srgbClr val="E2E8F0"/>
            </a:solidFill>
            <a:prstDash val="solid"/>
          </a:ln>
        </p:spPr>
      </p:sp>
      <p:sp>
        <p:nvSpPr>
          <p:cNvPr id="14" name="Shape 12"/>
          <p:cNvSpPr/>
          <p:nvPr/>
        </p:nvSpPr>
        <p:spPr>
          <a:xfrm>
            <a:off x="6217920" y="1325880"/>
            <a:ext cx="5242255" cy="640080"/>
          </a:xfrm>
          <a:prstGeom prst="roundRect">
            <a:avLst>
              <a:gd name="adj" fmla="val 17143"/>
            </a:avLst>
          </a:prstGeom>
          <a:solidFill>
            <a:srgbClr val="D97706"/>
          </a:solidFill>
          <a:ln w="12700">
            <a:solidFill>
              <a:srgbClr val="D97706"/>
            </a:solidFill>
            <a:prstDash val="solid"/>
          </a:ln>
        </p:spPr>
      </p:sp>
      <p:sp>
        <p:nvSpPr>
          <p:cNvPr id="15" name="Text 13"/>
          <p:cNvSpPr/>
          <p:nvPr/>
        </p:nvSpPr>
        <p:spPr>
          <a:xfrm>
            <a:off x="6492240" y="1325880"/>
            <a:ext cx="4693615" cy="640080"/>
          </a:xfrm>
          <a:prstGeom prst="rect">
            <a:avLst/>
          </a:prstGeom>
          <a:noFill/>
          <a:ln/>
        </p:spPr>
        <p:txBody>
          <a:bodyPr wrap="square" rtlCol="0" anchor="ctr"/>
          <a:lstStyle/>
          <a:p>
            <a:pPr indent="0" marL="0">
              <a:buNone/>
            </a:pPr>
            <a:r>
              <a:rPr lang="en-US" sz="1200" b="1" dirty="0">
                <a:solidFill>
                  <a:srgbClr val="FFFFFF"/>
                </a:solidFill>
                <a:latin typeface="Segoe UI" pitchFamily="34" charset="0"/>
                <a:ea typeface="Segoe UI" pitchFamily="34" charset="-122"/>
                <a:cs typeface="Segoe UI" pitchFamily="34" charset="-120"/>
              </a:rPr>
              <a:t>4. AMAZON AWS PROS &amp; CONS</a:t>
            </a:r>
            <a:endParaRPr lang="en-US" sz="1200" dirty="0"/>
          </a:p>
        </p:txBody>
      </p:sp>
      <p:sp>
        <p:nvSpPr>
          <p:cNvPr id="16" name="Shape 14"/>
          <p:cNvSpPr/>
          <p:nvPr/>
        </p:nvSpPr>
        <p:spPr>
          <a:xfrm>
            <a:off x="6446520" y="2103120"/>
            <a:ext cx="4785055" cy="1920240"/>
          </a:xfrm>
          <a:prstGeom prst="roundRect">
            <a:avLst>
              <a:gd name="adj" fmla="val 3810"/>
            </a:avLst>
          </a:prstGeom>
          <a:solidFill>
            <a:srgbClr val="F0F9FF"/>
          </a:solidFill>
          <a:ln w="12700">
            <a:solidFill>
              <a:srgbClr val="BAE6FD"/>
            </a:solidFill>
            <a:prstDash val="solid"/>
          </a:ln>
        </p:spPr>
      </p:sp>
      <p:sp>
        <p:nvSpPr>
          <p:cNvPr id="17" name="Text 15"/>
          <p:cNvSpPr/>
          <p:nvPr/>
        </p:nvSpPr>
        <p:spPr>
          <a:xfrm>
            <a:off x="6629400" y="2194560"/>
            <a:ext cx="4419295" cy="1737360"/>
          </a:xfrm>
          <a:prstGeom prst="rect">
            <a:avLst/>
          </a:prstGeom>
          <a:noFill/>
          <a:ln/>
        </p:spPr>
        <p:txBody>
          <a:bodyPr wrap="square" rtlCol="0" anchor="t"/>
          <a:lstStyle/>
          <a:p>
            <a:pPr indent="0" marL="0">
              <a:lnSpc>
                <a:spcPct val="120000"/>
              </a:lnSpc>
              <a:buNone/>
            </a:pPr>
            <a:r>
              <a:rPr lang="en-US" sz="950" b="1" dirty="0">
                <a:solidFill>
                  <a:srgbClr val="0369A1"/>
                </a:solidFill>
                <a:latin typeface="Segoe UI" pitchFamily="34" charset="0"/>
                <a:ea typeface="Segoe UI" pitchFamily="34" charset="-122"/>
                <a:cs typeface="Segoe UI" pitchFamily="34" charset="-120"/>
              </a:rPr>
              <a:t>✔  KEY ADVANTAGES:
</a:t>
            </a:r>
            <a:pPr indent="0" marL="0">
              <a:lnSpc>
                <a:spcPct val="120000"/>
              </a:lnSpc>
              <a:buNone/>
            </a:pPr>
            <a:r>
              <a:rPr lang="en-US" sz="880" dirty="0">
                <a:solidFill>
                  <a:srgbClr val="0F172A"/>
                </a:solidFill>
                <a:latin typeface="Segoe UI" pitchFamily="34" charset="0"/>
                <a:ea typeface="Segoe UI" pitchFamily="34" charset="-122"/>
                <a:cs typeface="Segoe UI" pitchFamily="34" charset="-120"/>
              </a:rPr>
              <a:t>• DynamoDB provides 25 GB free forever with single-digit millisecond latency.
</a:t>
            </a:r>
            <a:pPr indent="0" marL="0">
              <a:lnSpc>
                <a:spcPct val="120000"/>
              </a:lnSpc>
              <a:buNone/>
            </a:pPr>
            <a:r>
              <a:rPr lang="en-US" sz="880" dirty="0">
                <a:solidFill>
                  <a:srgbClr val="0F172A"/>
                </a:solidFill>
                <a:latin typeface="Segoe UI" pitchFamily="34" charset="0"/>
                <a:ea typeface="Segoe UI" pitchFamily="34" charset="-122"/>
                <a:cs typeface="Segoe UI" pitchFamily="34" charset="-120"/>
              </a:rPr>
              <a:t>• Proven 99.999% global reliability trusted by the world's largest banks.
</a:t>
            </a:r>
            <a:pPr indent="0" marL="0">
              <a:lnSpc>
                <a:spcPct val="120000"/>
              </a:lnSpc>
              <a:buNone/>
            </a:pPr>
            <a:r>
              <a:rPr lang="en-US" sz="880" dirty="0">
                <a:solidFill>
                  <a:srgbClr val="0F172A"/>
                </a:solidFill>
                <a:latin typeface="Segoe UI" pitchFamily="34" charset="0"/>
                <a:ea typeface="Segoe UI" pitchFamily="34" charset="-122"/>
                <a:cs typeface="Segoe UI" pitchFamily="34" charset="-120"/>
              </a:rPr>
              <a:t>• Virtually unlimited compute and storage auto-scaling capacity.
</a:t>
            </a:r>
            <a:pPr indent="0" marL="0">
              <a:lnSpc>
                <a:spcPct val="120000"/>
              </a:lnSpc>
              <a:buNone/>
            </a:pPr>
            <a:r>
              <a:rPr lang="en-US" sz="880" dirty="0">
                <a:solidFill>
                  <a:srgbClr val="0F172A"/>
                </a:solidFill>
                <a:latin typeface="Segoe UI" pitchFamily="34" charset="0"/>
                <a:ea typeface="Segoe UI" pitchFamily="34" charset="-122"/>
                <a:cs typeface="Segoe UI" pitchFamily="34" charset="-120"/>
              </a:rPr>
              <a:t>• Bank-grade Virtual Private Cloud (VPC) isolated network architecture.</a:t>
            </a:r>
            <a:endParaRPr lang="en-US" sz="950" dirty="0"/>
          </a:p>
        </p:txBody>
      </p:sp>
      <p:sp>
        <p:nvSpPr>
          <p:cNvPr id="18" name="Shape 16"/>
          <p:cNvSpPr/>
          <p:nvPr/>
        </p:nvSpPr>
        <p:spPr>
          <a:xfrm>
            <a:off x="6446520" y="4160520"/>
            <a:ext cx="4785055" cy="1828800"/>
          </a:xfrm>
          <a:prstGeom prst="roundRect">
            <a:avLst>
              <a:gd name="adj" fmla="val 4000"/>
            </a:avLst>
          </a:prstGeom>
          <a:solidFill>
            <a:srgbClr val="FEF2F2"/>
          </a:solidFill>
          <a:ln w="12700">
            <a:solidFill>
              <a:srgbClr val="FECACA"/>
            </a:solidFill>
            <a:prstDash val="solid"/>
          </a:ln>
        </p:spPr>
      </p:sp>
      <p:sp>
        <p:nvSpPr>
          <p:cNvPr id="19" name="Text 17"/>
          <p:cNvSpPr/>
          <p:nvPr/>
        </p:nvSpPr>
        <p:spPr>
          <a:xfrm>
            <a:off x="6629400" y="4251960"/>
            <a:ext cx="4419295" cy="1645920"/>
          </a:xfrm>
          <a:prstGeom prst="rect">
            <a:avLst/>
          </a:prstGeom>
          <a:noFill/>
          <a:ln/>
        </p:spPr>
        <p:txBody>
          <a:bodyPr wrap="square" rtlCol="0" anchor="t"/>
          <a:lstStyle/>
          <a:p>
            <a:pPr indent="0" marL="0">
              <a:lnSpc>
                <a:spcPct val="120000"/>
              </a:lnSpc>
              <a:buNone/>
            </a:pPr>
            <a:r>
              <a:rPr lang="en-US" sz="950" b="1" dirty="0">
                <a:solidFill>
                  <a:srgbClr val="DC2626"/>
                </a:solidFill>
                <a:latin typeface="Segoe UI" pitchFamily="34" charset="0"/>
                <a:ea typeface="Segoe UI" pitchFamily="34" charset="-122"/>
                <a:cs typeface="Segoe UI" pitchFamily="34" charset="-120"/>
              </a:rPr>
              <a:t>✖  KEY DISADVANTAGES:
</a:t>
            </a:r>
            <a:pPr indent="0" marL="0">
              <a:lnSpc>
                <a:spcPct val="120000"/>
              </a:lnSpc>
              <a:buNone/>
            </a:pPr>
            <a:r>
              <a:rPr lang="en-US" sz="880" dirty="0">
                <a:solidFill>
                  <a:srgbClr val="475569"/>
                </a:solidFill>
                <a:latin typeface="Segoe UI" pitchFamily="34" charset="0"/>
                <a:ea typeface="Segoe UI" pitchFamily="34" charset="-122"/>
                <a:cs typeface="Segoe UI" pitchFamily="34" charset="-120"/>
              </a:rPr>
              <a:t>• Requires dedicated DevOps / Cloud Engineers to configure and manage.
</a:t>
            </a:r>
            <a:pPr indent="0" marL="0">
              <a:lnSpc>
                <a:spcPct val="120000"/>
              </a:lnSpc>
              <a:buNone/>
            </a:pPr>
            <a:r>
              <a:rPr lang="en-US" sz="880" dirty="0">
                <a:solidFill>
                  <a:srgbClr val="475569"/>
                </a:solidFill>
                <a:latin typeface="Segoe UI" pitchFamily="34" charset="0"/>
                <a:ea typeface="Segoe UI" pitchFamily="34" charset="-122"/>
                <a:cs typeface="Segoe UI" pitchFamily="34" charset="-120"/>
              </a:rPr>
              <a:t>• High risk of unexpected billing spikes from IOPS and data egress.
</a:t>
            </a:r>
            <a:pPr indent="0" marL="0">
              <a:lnSpc>
                <a:spcPct val="120000"/>
              </a:lnSpc>
              <a:buNone/>
            </a:pPr>
            <a:r>
              <a:rPr lang="en-US" sz="880" dirty="0">
                <a:solidFill>
                  <a:srgbClr val="475569"/>
                </a:solidFill>
                <a:latin typeface="Segoe UI" pitchFamily="34" charset="0"/>
                <a:ea typeface="Segoe UI" pitchFamily="34" charset="-122"/>
                <a:cs typeface="Segoe UI" pitchFamily="34" charset="-120"/>
              </a:rPr>
              <a:t>• No built-in user authentication or auto-generated REST APIs.</a:t>
            </a:r>
            <a:endParaRPr lang="en-US" sz="950" dirty="0"/>
          </a:p>
        </p:txBody>
      </p:sp>
      <p:sp>
        <p:nvSpPr>
          <p:cNvPr id="20" name="Shape 18"/>
          <p:cNvSpPr/>
          <p:nvPr/>
        </p:nvSpPr>
        <p:spPr>
          <a:xfrm>
            <a:off x="731520" y="6355080"/>
            <a:ext cx="10728655" cy="18288"/>
          </a:xfrm>
          <a:prstGeom prst="rect">
            <a:avLst/>
          </a:prstGeom>
          <a:solidFill>
            <a:srgbClr val="E2E8F0"/>
          </a:solidFill>
          <a:ln/>
        </p:spPr>
      </p:sp>
      <p:sp>
        <p:nvSpPr>
          <p:cNvPr id="21" name="Text 19"/>
          <p:cNvSpPr/>
          <p:nvPr/>
        </p:nvSpPr>
        <p:spPr>
          <a:xfrm>
            <a:off x="731520" y="6419088"/>
            <a:ext cx="7772400" cy="27432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CONFIDENTIAL &amp; PROPRIETARY | Enterprise Cloud Database Evaluation &amp; Advisory</a:t>
            </a:r>
            <a:endParaRPr lang="en-US" sz="850" dirty="0"/>
          </a:p>
        </p:txBody>
      </p:sp>
      <p:sp>
        <p:nvSpPr>
          <p:cNvPr id="22" name="Text 20"/>
          <p:cNvSpPr/>
          <p:nvPr/>
        </p:nvSpPr>
        <p:spPr>
          <a:xfrm>
            <a:off x="9631375" y="6419088"/>
            <a:ext cx="1828800" cy="274320"/>
          </a:xfrm>
          <a:prstGeom prst="rect">
            <a:avLst/>
          </a:prstGeom>
          <a:noFill/>
          <a:ln/>
        </p:spPr>
        <p:txBody>
          <a:bodyPr wrap="square" rtlCol="0" anchor="ctr"/>
          <a:lstStyle/>
          <a:p>
            <a:pPr algn="r" indent="0" marL="0">
              <a:buNone/>
            </a:pPr>
            <a:r>
              <a:rPr lang="en-US" sz="850" dirty="0">
                <a:solidFill>
                  <a:srgbClr val="94A3B8"/>
                </a:solidFill>
                <a:latin typeface="Segoe UI" pitchFamily="34" charset="0"/>
                <a:ea typeface="Segoe UI" pitchFamily="34" charset="-122"/>
                <a:cs typeface="Segoe UI" pitchFamily="34" charset="-120"/>
              </a:rPr>
              <a:t>Slide 14 of 17</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p:spPr>
      </p:sp>
      <p:sp>
        <p:nvSpPr>
          <p:cNvPr id="3" name="Shape 1"/>
          <p:cNvSpPr/>
          <p:nvPr/>
        </p:nvSpPr>
        <p:spPr>
          <a:xfrm>
            <a:off x="731520" y="320040"/>
            <a:ext cx="2286000" cy="274320"/>
          </a:xfrm>
          <a:prstGeom prst="roundRect">
            <a:avLst>
              <a:gd name="adj" fmla="val 26667"/>
            </a:avLst>
          </a:prstGeom>
          <a:solidFill>
            <a:srgbClr val="EFF6FF"/>
          </a:solidFill>
          <a:ln w="12700">
            <a:solidFill>
              <a:srgbClr val="BFDBFE"/>
            </a:solidFill>
            <a:prstDash val="solid"/>
          </a:ln>
        </p:spPr>
      </p:sp>
      <p:sp>
        <p:nvSpPr>
          <p:cNvPr id="4" name="Text 2"/>
          <p:cNvSpPr/>
          <p:nvPr/>
        </p:nvSpPr>
        <p:spPr>
          <a:xfrm>
            <a:off x="731520" y="320040"/>
            <a:ext cx="2286000" cy="274320"/>
          </a:xfrm>
          <a:prstGeom prst="rect">
            <a:avLst/>
          </a:prstGeom>
          <a:noFill/>
          <a:ln/>
        </p:spPr>
        <p:txBody>
          <a:bodyPr wrap="square" rtlCol="0" anchor="ctr"/>
          <a:lstStyle/>
          <a:p>
            <a:pPr algn="ctr" indent="0" marL="0">
              <a:buNone/>
            </a:pPr>
            <a:r>
              <a:rPr lang="en-US" sz="900" b="1" dirty="0">
                <a:solidFill>
                  <a:srgbClr val="1D4ED8"/>
                </a:solidFill>
                <a:latin typeface="Segoe UI" pitchFamily="34" charset="0"/>
                <a:ea typeface="Segoe UI" pitchFamily="34" charset="-122"/>
                <a:cs typeface="Segoe UI" pitchFamily="34" charset="-120"/>
              </a:rPr>
              <a:t>CLIENT STRATEGY (1/2)</a:t>
            </a:r>
            <a:endParaRPr lang="en-US" sz="900" dirty="0"/>
          </a:p>
        </p:txBody>
      </p:sp>
      <p:sp>
        <p:nvSpPr>
          <p:cNvPr id="5" name="Text 3"/>
          <p:cNvSpPr/>
          <p:nvPr/>
        </p:nvSpPr>
        <p:spPr>
          <a:xfrm>
            <a:off x="731520" y="658368"/>
            <a:ext cx="10728655" cy="502920"/>
          </a:xfrm>
          <a:prstGeom prst="rect">
            <a:avLst/>
          </a:prstGeom>
          <a:noFill/>
          <a:ln/>
        </p:spPr>
        <p:txBody>
          <a:bodyPr wrap="square" rtlCol="0" anchor="ctr"/>
          <a:lstStyle/>
          <a:p>
            <a:pPr indent="0" marL="0">
              <a:buNone/>
            </a:pPr>
            <a:r>
              <a:rPr lang="en-US" sz="2100" b="1" dirty="0">
                <a:solidFill>
                  <a:srgbClr val="0A0F1D"/>
                </a:solidFill>
                <a:latin typeface="Segoe UI" pitchFamily="34" charset="0"/>
                <a:ea typeface="Segoe UI" pitchFamily="34" charset="-122"/>
                <a:cs typeface="Segoe UI" pitchFamily="34" charset="-120"/>
              </a:rPr>
              <a:t>Client Advisory: Startups, MVPs &amp; E-Commerce</a:t>
            </a:r>
            <a:endParaRPr lang="en-US" sz="2100" dirty="0"/>
          </a:p>
        </p:txBody>
      </p:sp>
      <p:sp>
        <p:nvSpPr>
          <p:cNvPr id="6" name="Shape 4"/>
          <p:cNvSpPr/>
          <p:nvPr/>
        </p:nvSpPr>
        <p:spPr>
          <a:xfrm>
            <a:off x="731520" y="1325880"/>
            <a:ext cx="5242255" cy="4846320"/>
          </a:xfrm>
          <a:prstGeom prst="roundRect">
            <a:avLst>
              <a:gd name="adj" fmla="val 2264"/>
            </a:avLst>
          </a:prstGeom>
          <a:solidFill>
            <a:srgbClr val="FFFFFF"/>
          </a:solidFill>
          <a:ln w="19050">
            <a:solidFill>
              <a:srgbClr val="059669"/>
            </a:solidFill>
            <a:prstDash val="solid"/>
          </a:ln>
        </p:spPr>
      </p:sp>
      <p:sp>
        <p:nvSpPr>
          <p:cNvPr id="7" name="Shape 5"/>
          <p:cNvSpPr/>
          <p:nvPr/>
        </p:nvSpPr>
        <p:spPr>
          <a:xfrm>
            <a:off x="731520" y="1325880"/>
            <a:ext cx="5242255" cy="640080"/>
          </a:xfrm>
          <a:prstGeom prst="roundRect">
            <a:avLst>
              <a:gd name="adj" fmla="val 17143"/>
            </a:avLst>
          </a:prstGeom>
          <a:solidFill>
            <a:srgbClr val="059669"/>
          </a:solidFill>
          <a:ln w="12700">
            <a:solidFill>
              <a:srgbClr val="059669"/>
            </a:solidFill>
            <a:prstDash val="solid"/>
          </a:ln>
        </p:spPr>
      </p:sp>
      <p:sp>
        <p:nvSpPr>
          <p:cNvPr id="8" name="Text 6"/>
          <p:cNvSpPr/>
          <p:nvPr/>
        </p:nvSpPr>
        <p:spPr>
          <a:xfrm>
            <a:off x="1005840" y="1325880"/>
            <a:ext cx="4693615" cy="640080"/>
          </a:xfrm>
          <a:prstGeom prst="rect">
            <a:avLst/>
          </a:prstGeom>
          <a:noFill/>
          <a:ln/>
        </p:spPr>
        <p:txBody>
          <a:bodyPr wrap="square" rtlCol="0" anchor="ctr"/>
          <a:lstStyle/>
          <a:p>
            <a:pPr indent="0" marL="0">
              <a:buNone/>
            </a:pPr>
            <a:r>
              <a:rPr lang="en-US" sz="1050" b="1" dirty="0">
                <a:solidFill>
                  <a:srgbClr val="FFFFFF"/>
                </a:solidFill>
                <a:latin typeface="Segoe UI" pitchFamily="34" charset="0"/>
                <a:ea typeface="Segoe UI" pitchFamily="34" charset="-122"/>
                <a:cs typeface="Segoe UI" pitchFamily="34" charset="-120"/>
              </a:rPr>
              <a:t>CLIENT SCENARIO 1: STARTUP, MVP OR NEW SAAS APP</a:t>
            </a:r>
            <a:endParaRPr lang="en-US" sz="1050" dirty="0"/>
          </a:p>
        </p:txBody>
      </p:sp>
      <p:sp>
        <p:nvSpPr>
          <p:cNvPr id="9" name="Shape 7"/>
          <p:cNvSpPr/>
          <p:nvPr/>
        </p:nvSpPr>
        <p:spPr>
          <a:xfrm>
            <a:off x="1005840" y="2148840"/>
            <a:ext cx="4693615" cy="502920"/>
          </a:xfrm>
          <a:prstGeom prst="roundRect">
            <a:avLst>
              <a:gd name="adj" fmla="val 14545"/>
            </a:avLst>
          </a:prstGeom>
          <a:solidFill>
            <a:srgbClr val="ECFDF5"/>
          </a:solidFill>
          <a:ln w="15240">
            <a:solidFill>
              <a:srgbClr val="059669"/>
            </a:solidFill>
            <a:prstDash val="solid"/>
          </a:ln>
        </p:spPr>
      </p:sp>
      <p:sp>
        <p:nvSpPr>
          <p:cNvPr id="10" name="Text 8"/>
          <p:cNvSpPr/>
          <p:nvPr/>
        </p:nvSpPr>
        <p:spPr>
          <a:xfrm>
            <a:off x="1005840" y="2148840"/>
            <a:ext cx="4693615" cy="502920"/>
          </a:xfrm>
          <a:prstGeom prst="rect">
            <a:avLst/>
          </a:prstGeom>
          <a:noFill/>
          <a:ln/>
        </p:spPr>
        <p:txBody>
          <a:bodyPr wrap="square" rtlCol="0" anchor="ctr"/>
          <a:lstStyle/>
          <a:p>
            <a:pPr algn="ctr" indent="0" marL="0">
              <a:buNone/>
            </a:pPr>
            <a:r>
              <a:rPr lang="en-US" sz="1100" b="1" dirty="0">
                <a:solidFill>
                  <a:srgbClr val="059669"/>
                </a:solidFill>
                <a:latin typeface="Segoe UI" pitchFamily="34" charset="0"/>
                <a:ea typeface="Segoe UI" pitchFamily="34" charset="-122"/>
                <a:cs typeface="Segoe UI" pitchFamily="34" charset="-120"/>
              </a:rPr>
              <a:t>WE STRONGLY RECOMMEND: SUPABASE</a:t>
            </a:r>
            <a:endParaRPr lang="en-US" sz="1100" dirty="0"/>
          </a:p>
        </p:txBody>
      </p:sp>
      <p:sp>
        <p:nvSpPr>
          <p:cNvPr id="11" name="Shape 9"/>
          <p:cNvSpPr/>
          <p:nvPr/>
        </p:nvSpPr>
        <p:spPr>
          <a:xfrm>
            <a:off x="1005840" y="2834640"/>
            <a:ext cx="4693615" cy="3154680"/>
          </a:xfrm>
          <a:prstGeom prst="roundRect">
            <a:avLst>
              <a:gd name="adj" fmla="val 2319"/>
            </a:avLst>
          </a:prstGeom>
          <a:solidFill>
            <a:srgbClr val="F8FAFC"/>
          </a:solidFill>
          <a:ln w="12700">
            <a:solidFill>
              <a:srgbClr val="E2E8F0"/>
            </a:solidFill>
            <a:prstDash val="solid"/>
          </a:ln>
        </p:spPr>
      </p:sp>
      <p:sp>
        <p:nvSpPr>
          <p:cNvPr id="12" name="Text 10"/>
          <p:cNvSpPr/>
          <p:nvPr/>
        </p:nvSpPr>
        <p:spPr>
          <a:xfrm>
            <a:off x="1188720" y="2971800"/>
            <a:ext cx="4327855" cy="2880360"/>
          </a:xfrm>
          <a:prstGeom prst="rect">
            <a:avLst/>
          </a:prstGeom>
          <a:noFill/>
          <a:ln/>
        </p:spPr>
        <p:txBody>
          <a:bodyPr wrap="square" rtlCol="0" anchor="t"/>
          <a:lstStyle/>
          <a:p>
            <a:pPr indent="0" marL="0">
              <a:lnSpc>
                <a:spcPct val="120000"/>
              </a:lnSpc>
              <a:buNone/>
            </a:pPr>
            <a:r>
              <a:rPr lang="en-US" sz="1000" b="1" dirty="0">
                <a:solidFill>
                  <a:srgbClr val="0A0F1D"/>
                </a:solidFill>
                <a:latin typeface="Segoe UI" pitchFamily="34" charset="0"/>
                <a:ea typeface="Segoe UI" pitchFamily="34" charset="-122"/>
                <a:cs typeface="Segoe UI" pitchFamily="34" charset="-120"/>
              </a:rPr>
              <a:t>WHY WE PROPOSE THIS TO THE CLIENT:
</a:t>
            </a:r>
            <a:pPr indent="0" marL="0">
              <a:lnSpc>
                <a:spcPct val="120000"/>
              </a:lnSpc>
              <a:buNone/>
            </a:pPr>
            <a:r>
              <a:rPr lang="en-US" sz="920" dirty="0">
                <a:solidFill>
                  <a:srgbClr val="0F172A"/>
                </a:solidFill>
                <a:latin typeface="Segoe UI" pitchFamily="34" charset="0"/>
                <a:ea typeface="Segoe UI" pitchFamily="34" charset="-122"/>
                <a:cs typeface="Segoe UI" pitchFamily="34" charset="-120"/>
              </a:rPr>
              <a:t>• Accelerates Delivery: Built-in User Auth, Image/File Storage, and REST APIs save 4 to 6 weeks of initial backend engineering.
</a:t>
            </a:r>
            <a:pPr indent="0" marL="0">
              <a:lnSpc>
                <a:spcPct val="120000"/>
              </a:lnSpc>
              <a:buNone/>
            </a:pPr>
            <a:r>
              <a:rPr lang="en-US" sz="920" dirty="0">
                <a:solidFill>
                  <a:srgbClr val="0F172A"/>
                </a:solidFill>
                <a:latin typeface="Segoe UI" pitchFamily="34" charset="0"/>
                <a:ea typeface="Segoe UI" pitchFamily="34" charset="-122"/>
                <a:cs typeface="Segoe UI" pitchFamily="34" charset="-120"/>
              </a:rPr>
              <a:t>• Zero Initial Cost: Client starts at $0 with 50,000 active users and 500 MB storage. Smooth step to flat $25/mo when product gains traction.
</a:t>
            </a:r>
            <a:pPr indent="0" marL="0">
              <a:lnSpc>
                <a:spcPct val="120000"/>
              </a:lnSpc>
              <a:buNone/>
            </a:pPr>
            <a:r>
              <a:rPr lang="en-US" sz="920" dirty="0">
                <a:solidFill>
                  <a:srgbClr val="0F172A"/>
                </a:solidFill>
                <a:latin typeface="Segoe UI" pitchFamily="34" charset="0"/>
                <a:ea typeface="Segoe UI" pitchFamily="34" charset="-122"/>
                <a:cs typeface="Segoe UI" pitchFamily="34" charset="-120"/>
              </a:rPr>
              <a:t>• Future-Proof Architecture: Powered by pure standard PostgreSQL. If the client expands into enterprise scale, their data moves seamlessly with 0 lock-in.
</a:t>
            </a:r>
            <a:endParaRPr lang="en-US" sz="1000" dirty="0"/>
          </a:p>
        </p:txBody>
      </p:sp>
      <p:sp>
        <p:nvSpPr>
          <p:cNvPr id="13" name="Shape 11"/>
          <p:cNvSpPr/>
          <p:nvPr/>
        </p:nvSpPr>
        <p:spPr>
          <a:xfrm>
            <a:off x="6217920" y="1325880"/>
            <a:ext cx="5242255" cy="4846320"/>
          </a:xfrm>
          <a:prstGeom prst="roundRect">
            <a:avLst>
              <a:gd name="adj" fmla="val 2264"/>
            </a:avLst>
          </a:prstGeom>
          <a:solidFill>
            <a:srgbClr val="FFFFFF"/>
          </a:solidFill>
          <a:ln w="19050">
            <a:solidFill>
              <a:srgbClr val="16A34A"/>
            </a:solidFill>
            <a:prstDash val="solid"/>
          </a:ln>
        </p:spPr>
      </p:sp>
      <p:sp>
        <p:nvSpPr>
          <p:cNvPr id="14" name="Shape 12"/>
          <p:cNvSpPr/>
          <p:nvPr/>
        </p:nvSpPr>
        <p:spPr>
          <a:xfrm>
            <a:off x="6217920" y="1325880"/>
            <a:ext cx="5242255" cy="640080"/>
          </a:xfrm>
          <a:prstGeom prst="roundRect">
            <a:avLst>
              <a:gd name="adj" fmla="val 17143"/>
            </a:avLst>
          </a:prstGeom>
          <a:solidFill>
            <a:srgbClr val="16A34A"/>
          </a:solidFill>
          <a:ln w="12700">
            <a:solidFill>
              <a:srgbClr val="16A34A"/>
            </a:solidFill>
            <a:prstDash val="solid"/>
          </a:ln>
        </p:spPr>
      </p:sp>
      <p:sp>
        <p:nvSpPr>
          <p:cNvPr id="15" name="Text 13"/>
          <p:cNvSpPr/>
          <p:nvPr/>
        </p:nvSpPr>
        <p:spPr>
          <a:xfrm>
            <a:off x="6492240" y="1325880"/>
            <a:ext cx="4693615" cy="640080"/>
          </a:xfrm>
          <a:prstGeom prst="rect">
            <a:avLst/>
          </a:prstGeom>
          <a:noFill/>
          <a:ln/>
        </p:spPr>
        <p:txBody>
          <a:bodyPr wrap="square" rtlCol="0" anchor="ctr"/>
          <a:lstStyle/>
          <a:p>
            <a:pPr indent="0" marL="0">
              <a:buNone/>
            </a:pPr>
            <a:r>
              <a:rPr lang="en-US" sz="1050" b="1" dirty="0">
                <a:solidFill>
                  <a:srgbClr val="FFFFFF"/>
                </a:solidFill>
                <a:latin typeface="Segoe UI" pitchFamily="34" charset="0"/>
                <a:ea typeface="Segoe UI" pitchFamily="34" charset="-122"/>
                <a:cs typeface="Segoe UI" pitchFamily="34" charset="-120"/>
              </a:rPr>
              <a:t>CLIENT SCENARIO 2: E-COMMERCE, STORE CATALOGS &amp; MEDIA</a:t>
            </a:r>
            <a:endParaRPr lang="en-US" sz="1050" dirty="0"/>
          </a:p>
        </p:txBody>
      </p:sp>
      <p:sp>
        <p:nvSpPr>
          <p:cNvPr id="16" name="Shape 14"/>
          <p:cNvSpPr/>
          <p:nvPr/>
        </p:nvSpPr>
        <p:spPr>
          <a:xfrm>
            <a:off x="6492240" y="2148840"/>
            <a:ext cx="4693615" cy="502920"/>
          </a:xfrm>
          <a:prstGeom prst="roundRect">
            <a:avLst>
              <a:gd name="adj" fmla="val 14545"/>
            </a:avLst>
          </a:prstGeom>
          <a:solidFill>
            <a:srgbClr val="F0FDF4"/>
          </a:solidFill>
          <a:ln w="15240">
            <a:solidFill>
              <a:srgbClr val="16A34A"/>
            </a:solidFill>
            <a:prstDash val="solid"/>
          </a:ln>
        </p:spPr>
      </p:sp>
      <p:sp>
        <p:nvSpPr>
          <p:cNvPr id="17" name="Text 15"/>
          <p:cNvSpPr/>
          <p:nvPr/>
        </p:nvSpPr>
        <p:spPr>
          <a:xfrm>
            <a:off x="6492240" y="2148840"/>
            <a:ext cx="4693615" cy="502920"/>
          </a:xfrm>
          <a:prstGeom prst="rect">
            <a:avLst/>
          </a:prstGeom>
          <a:noFill/>
          <a:ln/>
        </p:spPr>
        <p:txBody>
          <a:bodyPr wrap="square" rtlCol="0" anchor="ctr"/>
          <a:lstStyle/>
          <a:p>
            <a:pPr algn="ctr" indent="0" marL="0">
              <a:buNone/>
            </a:pPr>
            <a:r>
              <a:rPr lang="en-US" sz="1100" b="1" dirty="0">
                <a:solidFill>
                  <a:srgbClr val="16A34A"/>
                </a:solidFill>
                <a:latin typeface="Segoe UI" pitchFamily="34" charset="0"/>
                <a:ea typeface="Segoe UI" pitchFamily="34" charset="-122"/>
                <a:cs typeface="Segoe UI" pitchFamily="34" charset="-120"/>
              </a:rPr>
              <a:t>WE STRONGLY RECOMMEND: MONGODB ATLAS</a:t>
            </a:r>
            <a:endParaRPr lang="en-US" sz="1100" dirty="0"/>
          </a:p>
        </p:txBody>
      </p:sp>
      <p:sp>
        <p:nvSpPr>
          <p:cNvPr id="18" name="Shape 16"/>
          <p:cNvSpPr/>
          <p:nvPr/>
        </p:nvSpPr>
        <p:spPr>
          <a:xfrm>
            <a:off x="6492240" y="2834640"/>
            <a:ext cx="4693615" cy="3154680"/>
          </a:xfrm>
          <a:prstGeom prst="roundRect">
            <a:avLst>
              <a:gd name="adj" fmla="val 2319"/>
            </a:avLst>
          </a:prstGeom>
          <a:solidFill>
            <a:srgbClr val="F8FAFC"/>
          </a:solidFill>
          <a:ln w="12700">
            <a:solidFill>
              <a:srgbClr val="E2E8F0"/>
            </a:solidFill>
            <a:prstDash val="solid"/>
          </a:ln>
        </p:spPr>
      </p:sp>
      <p:sp>
        <p:nvSpPr>
          <p:cNvPr id="19" name="Text 17"/>
          <p:cNvSpPr/>
          <p:nvPr/>
        </p:nvSpPr>
        <p:spPr>
          <a:xfrm>
            <a:off x="6675120" y="2971800"/>
            <a:ext cx="4327855" cy="2880360"/>
          </a:xfrm>
          <a:prstGeom prst="rect">
            <a:avLst/>
          </a:prstGeom>
          <a:noFill/>
          <a:ln/>
        </p:spPr>
        <p:txBody>
          <a:bodyPr wrap="square" rtlCol="0" anchor="t"/>
          <a:lstStyle/>
          <a:p>
            <a:pPr indent="0" marL="0">
              <a:lnSpc>
                <a:spcPct val="120000"/>
              </a:lnSpc>
              <a:buNone/>
            </a:pPr>
            <a:r>
              <a:rPr lang="en-US" sz="1000" b="1" dirty="0">
                <a:solidFill>
                  <a:srgbClr val="0A0F1D"/>
                </a:solidFill>
                <a:latin typeface="Segoe UI" pitchFamily="34" charset="0"/>
                <a:ea typeface="Segoe UI" pitchFamily="34" charset="-122"/>
                <a:cs typeface="Segoe UI" pitchFamily="34" charset="-120"/>
              </a:rPr>
              <a:t>WHY WE PROPOSE THIS TO THE CLIENT:
</a:t>
            </a:r>
            <a:pPr indent="0" marL="0">
              <a:lnSpc>
                <a:spcPct val="120000"/>
              </a:lnSpc>
              <a:buNone/>
            </a:pPr>
            <a:r>
              <a:rPr lang="en-US" sz="920" dirty="0">
                <a:solidFill>
                  <a:srgbClr val="0F172A"/>
                </a:solidFill>
                <a:latin typeface="Segoe UI" pitchFamily="34" charset="0"/>
                <a:ea typeface="Segoe UI" pitchFamily="34" charset="-122"/>
                <a:cs typeface="Segoe UI" pitchFamily="34" charset="-120"/>
              </a:rPr>
              <a:t>• Flexible Product Attributes: Electronics, clothing, and groceries have completely different specifications. JSON documents handle this without table redesigns.
</a:t>
            </a:r>
            <a:pPr indent="0" marL="0">
              <a:lnSpc>
                <a:spcPct val="120000"/>
              </a:lnSpc>
              <a:buNone/>
            </a:pPr>
            <a:r>
              <a:rPr lang="en-US" sz="920" dirty="0">
                <a:solidFill>
                  <a:srgbClr val="0F172A"/>
                </a:solidFill>
                <a:latin typeface="Segoe UI" pitchFamily="34" charset="0"/>
                <a:ea typeface="Segoe UI" pitchFamily="34" charset="-122"/>
                <a:cs typeface="Segoe UI" pitchFamily="34" charset="-120"/>
              </a:rPr>
              <a:t>• All-in-One Search: Built-in search engine eliminates the cost and complexity of setting up and paying for an external Elasticsearch service.
</a:t>
            </a:r>
            <a:pPr indent="0" marL="0">
              <a:lnSpc>
                <a:spcPct val="120000"/>
              </a:lnSpc>
              <a:buNone/>
            </a:pPr>
            <a:r>
              <a:rPr lang="en-US" sz="920" dirty="0">
                <a:solidFill>
                  <a:srgbClr val="0F172A"/>
                </a:solidFill>
                <a:latin typeface="Segoe UI" pitchFamily="34" charset="0"/>
                <a:ea typeface="Segoe UI" pitchFamily="34" charset="-122"/>
                <a:cs typeface="Segoe UI" pitchFamily="34" charset="-120"/>
              </a:rPr>
              <a:t>• Zero-Downtime Guarantee: Automated 3-server replica cluster guarantees store checkout never goes offline even during physical server failures.
</a:t>
            </a:r>
            <a:endParaRPr lang="en-US" sz="1000" dirty="0"/>
          </a:p>
        </p:txBody>
      </p:sp>
      <p:sp>
        <p:nvSpPr>
          <p:cNvPr id="20" name="Shape 18"/>
          <p:cNvSpPr/>
          <p:nvPr/>
        </p:nvSpPr>
        <p:spPr>
          <a:xfrm>
            <a:off x="731520" y="6355080"/>
            <a:ext cx="10728655" cy="18288"/>
          </a:xfrm>
          <a:prstGeom prst="rect">
            <a:avLst/>
          </a:prstGeom>
          <a:solidFill>
            <a:srgbClr val="E2E8F0"/>
          </a:solidFill>
          <a:ln/>
        </p:spPr>
      </p:sp>
      <p:sp>
        <p:nvSpPr>
          <p:cNvPr id="21" name="Text 19"/>
          <p:cNvSpPr/>
          <p:nvPr/>
        </p:nvSpPr>
        <p:spPr>
          <a:xfrm>
            <a:off x="731520" y="6419088"/>
            <a:ext cx="7772400" cy="27432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CONFIDENTIAL &amp; PROPRIETARY | Enterprise Cloud Database Evaluation &amp; Advisory</a:t>
            </a:r>
            <a:endParaRPr lang="en-US" sz="850" dirty="0"/>
          </a:p>
        </p:txBody>
      </p:sp>
      <p:sp>
        <p:nvSpPr>
          <p:cNvPr id="22" name="Text 20"/>
          <p:cNvSpPr/>
          <p:nvPr/>
        </p:nvSpPr>
        <p:spPr>
          <a:xfrm>
            <a:off x="9631375" y="6419088"/>
            <a:ext cx="1828800" cy="274320"/>
          </a:xfrm>
          <a:prstGeom prst="rect">
            <a:avLst/>
          </a:prstGeom>
          <a:noFill/>
          <a:ln/>
        </p:spPr>
        <p:txBody>
          <a:bodyPr wrap="square" rtlCol="0" anchor="ctr"/>
          <a:lstStyle/>
          <a:p>
            <a:pPr algn="r" indent="0" marL="0">
              <a:buNone/>
            </a:pPr>
            <a:r>
              <a:rPr lang="en-US" sz="850" dirty="0">
                <a:solidFill>
                  <a:srgbClr val="94A3B8"/>
                </a:solidFill>
                <a:latin typeface="Segoe UI" pitchFamily="34" charset="0"/>
                <a:ea typeface="Segoe UI" pitchFamily="34" charset="-122"/>
                <a:cs typeface="Segoe UI" pitchFamily="34" charset="-120"/>
              </a:rPr>
              <a:t>Slide 15 of 17</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p:spPr>
      </p:sp>
      <p:sp>
        <p:nvSpPr>
          <p:cNvPr id="3" name="Shape 1"/>
          <p:cNvSpPr/>
          <p:nvPr/>
        </p:nvSpPr>
        <p:spPr>
          <a:xfrm>
            <a:off x="731520" y="320040"/>
            <a:ext cx="2286000" cy="274320"/>
          </a:xfrm>
          <a:prstGeom prst="roundRect">
            <a:avLst>
              <a:gd name="adj" fmla="val 26667"/>
            </a:avLst>
          </a:prstGeom>
          <a:solidFill>
            <a:srgbClr val="EFF6FF"/>
          </a:solidFill>
          <a:ln w="12700">
            <a:solidFill>
              <a:srgbClr val="BFDBFE"/>
            </a:solidFill>
            <a:prstDash val="solid"/>
          </a:ln>
        </p:spPr>
      </p:sp>
      <p:sp>
        <p:nvSpPr>
          <p:cNvPr id="4" name="Text 2"/>
          <p:cNvSpPr/>
          <p:nvPr/>
        </p:nvSpPr>
        <p:spPr>
          <a:xfrm>
            <a:off x="731520" y="320040"/>
            <a:ext cx="2286000" cy="274320"/>
          </a:xfrm>
          <a:prstGeom prst="rect">
            <a:avLst/>
          </a:prstGeom>
          <a:noFill/>
          <a:ln/>
        </p:spPr>
        <p:txBody>
          <a:bodyPr wrap="square" rtlCol="0" anchor="ctr"/>
          <a:lstStyle/>
          <a:p>
            <a:pPr algn="ctr" indent="0" marL="0">
              <a:buNone/>
            </a:pPr>
            <a:r>
              <a:rPr lang="en-US" sz="900" b="1" dirty="0">
                <a:solidFill>
                  <a:srgbClr val="1D4ED8"/>
                </a:solidFill>
                <a:latin typeface="Segoe UI" pitchFamily="34" charset="0"/>
                <a:ea typeface="Segoe UI" pitchFamily="34" charset="-122"/>
                <a:cs typeface="Segoe UI" pitchFamily="34" charset="-120"/>
              </a:rPr>
              <a:t>CLIENT STRATEGY (2/2)</a:t>
            </a:r>
            <a:endParaRPr lang="en-US" sz="900" dirty="0"/>
          </a:p>
        </p:txBody>
      </p:sp>
      <p:sp>
        <p:nvSpPr>
          <p:cNvPr id="5" name="Text 3"/>
          <p:cNvSpPr/>
          <p:nvPr/>
        </p:nvSpPr>
        <p:spPr>
          <a:xfrm>
            <a:off x="731520" y="658368"/>
            <a:ext cx="10728655" cy="502920"/>
          </a:xfrm>
          <a:prstGeom prst="rect">
            <a:avLst/>
          </a:prstGeom>
          <a:noFill/>
          <a:ln/>
        </p:spPr>
        <p:txBody>
          <a:bodyPr wrap="square" rtlCol="0" anchor="ctr"/>
          <a:lstStyle/>
          <a:p>
            <a:pPr indent="0" marL="0">
              <a:buNone/>
            </a:pPr>
            <a:r>
              <a:rPr lang="en-US" sz="2100" b="1" dirty="0">
                <a:solidFill>
                  <a:srgbClr val="0A0F1D"/>
                </a:solidFill>
                <a:latin typeface="Segoe UI" pitchFamily="34" charset="0"/>
                <a:ea typeface="Segoe UI" pitchFamily="34" charset="-122"/>
                <a:cs typeface="Segoe UI" pitchFamily="34" charset="-120"/>
              </a:rPr>
              <a:t>Client Advisory: Corporate &amp; Large-Scale Scale</a:t>
            </a:r>
            <a:endParaRPr lang="en-US" sz="2100" dirty="0"/>
          </a:p>
        </p:txBody>
      </p:sp>
      <p:sp>
        <p:nvSpPr>
          <p:cNvPr id="6" name="Shape 4"/>
          <p:cNvSpPr/>
          <p:nvPr/>
        </p:nvSpPr>
        <p:spPr>
          <a:xfrm>
            <a:off x="731520" y="1325880"/>
            <a:ext cx="5242255" cy="4846320"/>
          </a:xfrm>
          <a:prstGeom prst="roundRect">
            <a:avLst>
              <a:gd name="adj" fmla="val 2264"/>
            </a:avLst>
          </a:prstGeom>
          <a:solidFill>
            <a:srgbClr val="FFFFFF"/>
          </a:solidFill>
          <a:ln w="19050">
            <a:solidFill>
              <a:srgbClr val="0284C7"/>
            </a:solidFill>
            <a:prstDash val="solid"/>
          </a:ln>
        </p:spPr>
      </p:sp>
      <p:sp>
        <p:nvSpPr>
          <p:cNvPr id="7" name="Shape 5"/>
          <p:cNvSpPr/>
          <p:nvPr/>
        </p:nvSpPr>
        <p:spPr>
          <a:xfrm>
            <a:off x="731520" y="1325880"/>
            <a:ext cx="5242255" cy="640080"/>
          </a:xfrm>
          <a:prstGeom prst="roundRect">
            <a:avLst>
              <a:gd name="adj" fmla="val 17143"/>
            </a:avLst>
          </a:prstGeom>
          <a:solidFill>
            <a:srgbClr val="0284C7"/>
          </a:solidFill>
          <a:ln w="12700">
            <a:solidFill>
              <a:srgbClr val="0284C7"/>
            </a:solidFill>
            <a:prstDash val="solid"/>
          </a:ln>
        </p:spPr>
      </p:sp>
      <p:sp>
        <p:nvSpPr>
          <p:cNvPr id="8" name="Text 6"/>
          <p:cNvSpPr/>
          <p:nvPr/>
        </p:nvSpPr>
        <p:spPr>
          <a:xfrm>
            <a:off x="1005840" y="1325880"/>
            <a:ext cx="4693615" cy="640080"/>
          </a:xfrm>
          <a:prstGeom prst="rect">
            <a:avLst/>
          </a:prstGeom>
          <a:noFill/>
          <a:ln/>
        </p:spPr>
        <p:txBody>
          <a:bodyPr wrap="square" rtlCol="0" anchor="ctr"/>
          <a:lstStyle/>
          <a:p>
            <a:pPr indent="0" marL="0">
              <a:buNone/>
            </a:pPr>
            <a:r>
              <a:rPr lang="en-US" sz="1050" b="1" dirty="0">
                <a:solidFill>
                  <a:srgbClr val="FFFFFF"/>
                </a:solidFill>
                <a:latin typeface="Segoe UI" pitchFamily="34" charset="0"/>
                <a:ea typeface="Segoe UI" pitchFamily="34" charset="-122"/>
                <a:cs typeface="Segoe UI" pitchFamily="34" charset="-120"/>
              </a:rPr>
              <a:t>CLIENT SCENARIO 3: ENTERPRISE CORPORATE &amp; .NET</a:t>
            </a:r>
            <a:endParaRPr lang="en-US" sz="1050" dirty="0"/>
          </a:p>
        </p:txBody>
      </p:sp>
      <p:sp>
        <p:nvSpPr>
          <p:cNvPr id="9" name="Shape 7"/>
          <p:cNvSpPr/>
          <p:nvPr/>
        </p:nvSpPr>
        <p:spPr>
          <a:xfrm>
            <a:off x="1005840" y="2148840"/>
            <a:ext cx="4693615" cy="502920"/>
          </a:xfrm>
          <a:prstGeom prst="roundRect">
            <a:avLst>
              <a:gd name="adj" fmla="val 14545"/>
            </a:avLst>
          </a:prstGeom>
          <a:solidFill>
            <a:srgbClr val="F0F9FF"/>
          </a:solidFill>
          <a:ln w="15240">
            <a:solidFill>
              <a:srgbClr val="0284C7"/>
            </a:solidFill>
            <a:prstDash val="solid"/>
          </a:ln>
        </p:spPr>
      </p:sp>
      <p:sp>
        <p:nvSpPr>
          <p:cNvPr id="10" name="Text 8"/>
          <p:cNvSpPr/>
          <p:nvPr/>
        </p:nvSpPr>
        <p:spPr>
          <a:xfrm>
            <a:off x="1005840" y="2148840"/>
            <a:ext cx="4693615" cy="502920"/>
          </a:xfrm>
          <a:prstGeom prst="rect">
            <a:avLst/>
          </a:prstGeom>
          <a:noFill/>
          <a:ln/>
        </p:spPr>
        <p:txBody>
          <a:bodyPr wrap="square" rtlCol="0" anchor="ctr"/>
          <a:lstStyle/>
          <a:p>
            <a:pPr algn="ctr" indent="0" marL="0">
              <a:buNone/>
            </a:pPr>
            <a:r>
              <a:rPr lang="en-US" sz="1100" b="1" dirty="0">
                <a:solidFill>
                  <a:srgbClr val="0284C7"/>
                </a:solidFill>
                <a:latin typeface="Segoe UI" pitchFamily="34" charset="0"/>
                <a:ea typeface="Segoe UI" pitchFamily="34" charset="-122"/>
                <a:cs typeface="Segoe UI" pitchFamily="34" charset="-120"/>
              </a:rPr>
              <a:t>WE STRONGLY RECOMMEND: MICROSOFT AZURE</a:t>
            </a:r>
            <a:endParaRPr lang="en-US" sz="1100" dirty="0"/>
          </a:p>
        </p:txBody>
      </p:sp>
      <p:sp>
        <p:nvSpPr>
          <p:cNvPr id="11" name="Shape 9"/>
          <p:cNvSpPr/>
          <p:nvPr/>
        </p:nvSpPr>
        <p:spPr>
          <a:xfrm>
            <a:off x="1005840" y="2834640"/>
            <a:ext cx="4693615" cy="3154680"/>
          </a:xfrm>
          <a:prstGeom prst="roundRect">
            <a:avLst>
              <a:gd name="adj" fmla="val 2319"/>
            </a:avLst>
          </a:prstGeom>
          <a:solidFill>
            <a:srgbClr val="F8FAFC"/>
          </a:solidFill>
          <a:ln w="12700">
            <a:solidFill>
              <a:srgbClr val="E2E8F0"/>
            </a:solidFill>
            <a:prstDash val="solid"/>
          </a:ln>
        </p:spPr>
      </p:sp>
      <p:sp>
        <p:nvSpPr>
          <p:cNvPr id="12" name="Text 10"/>
          <p:cNvSpPr/>
          <p:nvPr/>
        </p:nvSpPr>
        <p:spPr>
          <a:xfrm>
            <a:off x="1188720" y="2971800"/>
            <a:ext cx="4327855" cy="2880360"/>
          </a:xfrm>
          <a:prstGeom prst="rect">
            <a:avLst/>
          </a:prstGeom>
          <a:noFill/>
          <a:ln/>
        </p:spPr>
        <p:txBody>
          <a:bodyPr wrap="square" rtlCol="0" anchor="t"/>
          <a:lstStyle/>
          <a:p>
            <a:pPr indent="0" marL="0">
              <a:lnSpc>
                <a:spcPct val="120000"/>
              </a:lnSpc>
              <a:buNone/>
            </a:pPr>
            <a:r>
              <a:rPr lang="en-US" sz="1000" b="1" dirty="0">
                <a:solidFill>
                  <a:srgbClr val="0A0F1D"/>
                </a:solidFill>
                <a:latin typeface="Segoe UI" pitchFamily="34" charset="0"/>
                <a:ea typeface="Segoe UI" pitchFamily="34" charset="-122"/>
                <a:cs typeface="Segoe UI" pitchFamily="34" charset="-120"/>
              </a:rPr>
              <a:t>WHY WE PROPOSE THIS TO THE CLIENT:
</a:t>
            </a:r>
            <a:pPr indent="0" marL="0">
              <a:lnSpc>
                <a:spcPct val="120000"/>
              </a:lnSpc>
              <a:buNone/>
            </a:pPr>
            <a:r>
              <a:rPr lang="en-US" sz="920" dirty="0">
                <a:solidFill>
                  <a:srgbClr val="0F172A"/>
                </a:solidFill>
                <a:latin typeface="Segoe UI" pitchFamily="34" charset="0"/>
                <a:ea typeface="Segoe UI" pitchFamily="34" charset="-122"/>
                <a:cs typeface="Segoe UI" pitchFamily="34" charset="-120"/>
              </a:rPr>
              <a:t>• Enterprise Ecosystem: Direct native integration with Active Directory (Entra ID), C# .NET frameworks, and Power BI dashboards.
</a:t>
            </a:r>
            <a:pPr indent="0" marL="0">
              <a:lnSpc>
                <a:spcPct val="120000"/>
              </a:lnSpc>
              <a:buNone/>
            </a:pPr>
            <a:r>
              <a:rPr lang="en-US" sz="920" dirty="0">
                <a:solidFill>
                  <a:srgbClr val="0F172A"/>
                </a:solidFill>
                <a:latin typeface="Segoe UI" pitchFamily="34" charset="0"/>
                <a:ea typeface="Segoe UI" pitchFamily="34" charset="-122"/>
                <a:cs typeface="Segoe UI" pitchFamily="34" charset="-120"/>
              </a:rPr>
              <a:t>• Budget-Friendly Entry: Azure SQL Basic tier ($4.99/mo) provides full corporate compliance at minimal cost for internal office portals.
</a:t>
            </a:r>
            <a:pPr indent="0" marL="0">
              <a:lnSpc>
                <a:spcPct val="120000"/>
              </a:lnSpc>
              <a:buNone/>
            </a:pPr>
            <a:r>
              <a:rPr lang="en-US" sz="920" dirty="0">
                <a:solidFill>
                  <a:srgbClr val="0F172A"/>
                </a:solidFill>
                <a:latin typeface="Segoe UI" pitchFamily="34" charset="0"/>
                <a:ea typeface="Segoe UI" pitchFamily="34" charset="-122"/>
                <a:cs typeface="Segoe UI" pitchFamily="34" charset="-120"/>
              </a:rPr>
              <a:t>• Built-in Enterprise Compliance: Pre-packaged with HIPAA, SOC 1/2, and ISO regulatory certifications meeting strict corporate audits.
</a:t>
            </a:r>
            <a:endParaRPr lang="en-US" sz="1000" dirty="0"/>
          </a:p>
        </p:txBody>
      </p:sp>
      <p:sp>
        <p:nvSpPr>
          <p:cNvPr id="13" name="Shape 11"/>
          <p:cNvSpPr/>
          <p:nvPr/>
        </p:nvSpPr>
        <p:spPr>
          <a:xfrm>
            <a:off x="6217920" y="1325880"/>
            <a:ext cx="5242255" cy="4846320"/>
          </a:xfrm>
          <a:prstGeom prst="roundRect">
            <a:avLst>
              <a:gd name="adj" fmla="val 2264"/>
            </a:avLst>
          </a:prstGeom>
          <a:solidFill>
            <a:srgbClr val="FFFFFF"/>
          </a:solidFill>
          <a:ln w="19050">
            <a:solidFill>
              <a:srgbClr val="D97706"/>
            </a:solidFill>
            <a:prstDash val="solid"/>
          </a:ln>
        </p:spPr>
      </p:sp>
      <p:sp>
        <p:nvSpPr>
          <p:cNvPr id="14" name="Shape 12"/>
          <p:cNvSpPr/>
          <p:nvPr/>
        </p:nvSpPr>
        <p:spPr>
          <a:xfrm>
            <a:off x="6217920" y="1325880"/>
            <a:ext cx="5242255" cy="640080"/>
          </a:xfrm>
          <a:prstGeom prst="roundRect">
            <a:avLst>
              <a:gd name="adj" fmla="val 17143"/>
            </a:avLst>
          </a:prstGeom>
          <a:solidFill>
            <a:srgbClr val="D97706"/>
          </a:solidFill>
          <a:ln w="12700">
            <a:solidFill>
              <a:srgbClr val="D97706"/>
            </a:solidFill>
            <a:prstDash val="solid"/>
          </a:ln>
        </p:spPr>
      </p:sp>
      <p:sp>
        <p:nvSpPr>
          <p:cNvPr id="15" name="Text 13"/>
          <p:cNvSpPr/>
          <p:nvPr/>
        </p:nvSpPr>
        <p:spPr>
          <a:xfrm>
            <a:off x="6492240" y="1325880"/>
            <a:ext cx="4693615" cy="640080"/>
          </a:xfrm>
          <a:prstGeom prst="rect">
            <a:avLst/>
          </a:prstGeom>
          <a:noFill/>
          <a:ln/>
        </p:spPr>
        <p:txBody>
          <a:bodyPr wrap="square" rtlCol="0" anchor="ctr"/>
          <a:lstStyle/>
          <a:p>
            <a:pPr indent="0" marL="0">
              <a:buNone/>
            </a:pPr>
            <a:r>
              <a:rPr lang="en-US" sz="1050" b="1" dirty="0">
                <a:solidFill>
                  <a:srgbClr val="FFFFFF"/>
                </a:solidFill>
                <a:latin typeface="Segoe UI" pitchFamily="34" charset="0"/>
                <a:ea typeface="Segoe UI" pitchFamily="34" charset="-122"/>
                <a:cs typeface="Segoe UI" pitchFamily="34" charset="-120"/>
              </a:rPr>
              <a:t>CLIENT SCENARIO 4: HIGH-SCALE ENTERPRISE &amp; IOT</a:t>
            </a:r>
            <a:endParaRPr lang="en-US" sz="1050" dirty="0"/>
          </a:p>
        </p:txBody>
      </p:sp>
      <p:sp>
        <p:nvSpPr>
          <p:cNvPr id="16" name="Shape 14"/>
          <p:cNvSpPr/>
          <p:nvPr/>
        </p:nvSpPr>
        <p:spPr>
          <a:xfrm>
            <a:off x="6492240" y="2148840"/>
            <a:ext cx="4693615" cy="502920"/>
          </a:xfrm>
          <a:prstGeom prst="roundRect">
            <a:avLst>
              <a:gd name="adj" fmla="val 14545"/>
            </a:avLst>
          </a:prstGeom>
          <a:solidFill>
            <a:srgbClr val="FFFBEB"/>
          </a:solidFill>
          <a:ln w="15240">
            <a:solidFill>
              <a:srgbClr val="D97706"/>
            </a:solidFill>
            <a:prstDash val="solid"/>
          </a:ln>
        </p:spPr>
      </p:sp>
      <p:sp>
        <p:nvSpPr>
          <p:cNvPr id="17" name="Text 15"/>
          <p:cNvSpPr/>
          <p:nvPr/>
        </p:nvSpPr>
        <p:spPr>
          <a:xfrm>
            <a:off x="6492240" y="2148840"/>
            <a:ext cx="4693615" cy="502920"/>
          </a:xfrm>
          <a:prstGeom prst="rect">
            <a:avLst/>
          </a:prstGeom>
          <a:noFill/>
          <a:ln/>
        </p:spPr>
        <p:txBody>
          <a:bodyPr wrap="square" rtlCol="0" anchor="ctr"/>
          <a:lstStyle/>
          <a:p>
            <a:pPr algn="ctr" indent="0" marL="0">
              <a:buNone/>
            </a:pPr>
            <a:r>
              <a:rPr lang="en-US" sz="1100" b="1" dirty="0">
                <a:solidFill>
                  <a:srgbClr val="D97706"/>
                </a:solidFill>
                <a:latin typeface="Segoe UI" pitchFamily="34" charset="0"/>
                <a:ea typeface="Segoe UI" pitchFamily="34" charset="-122"/>
                <a:cs typeface="Segoe UI" pitchFamily="34" charset="-120"/>
              </a:rPr>
              <a:t>WE STRONGLY RECOMMEND: AMAZON AWS</a:t>
            </a:r>
            <a:endParaRPr lang="en-US" sz="1100" dirty="0"/>
          </a:p>
        </p:txBody>
      </p:sp>
      <p:sp>
        <p:nvSpPr>
          <p:cNvPr id="18" name="Shape 16"/>
          <p:cNvSpPr/>
          <p:nvPr/>
        </p:nvSpPr>
        <p:spPr>
          <a:xfrm>
            <a:off x="6492240" y="2834640"/>
            <a:ext cx="4693615" cy="3154680"/>
          </a:xfrm>
          <a:prstGeom prst="roundRect">
            <a:avLst>
              <a:gd name="adj" fmla="val 2319"/>
            </a:avLst>
          </a:prstGeom>
          <a:solidFill>
            <a:srgbClr val="F8FAFC"/>
          </a:solidFill>
          <a:ln w="12700">
            <a:solidFill>
              <a:srgbClr val="E2E8F0"/>
            </a:solidFill>
            <a:prstDash val="solid"/>
          </a:ln>
        </p:spPr>
      </p:sp>
      <p:sp>
        <p:nvSpPr>
          <p:cNvPr id="19" name="Text 17"/>
          <p:cNvSpPr/>
          <p:nvPr/>
        </p:nvSpPr>
        <p:spPr>
          <a:xfrm>
            <a:off x="6675120" y="2971800"/>
            <a:ext cx="4327855" cy="2880360"/>
          </a:xfrm>
          <a:prstGeom prst="rect">
            <a:avLst/>
          </a:prstGeom>
          <a:noFill/>
          <a:ln/>
        </p:spPr>
        <p:txBody>
          <a:bodyPr wrap="square" rtlCol="0" anchor="t"/>
          <a:lstStyle/>
          <a:p>
            <a:pPr indent="0" marL="0">
              <a:lnSpc>
                <a:spcPct val="120000"/>
              </a:lnSpc>
              <a:buNone/>
            </a:pPr>
            <a:r>
              <a:rPr lang="en-US" sz="1000" b="1" dirty="0">
                <a:solidFill>
                  <a:srgbClr val="0A0F1D"/>
                </a:solidFill>
                <a:latin typeface="Segoe UI" pitchFamily="34" charset="0"/>
                <a:ea typeface="Segoe UI" pitchFamily="34" charset="-122"/>
                <a:cs typeface="Segoe UI" pitchFamily="34" charset="-120"/>
              </a:rPr>
              <a:t>WHY WE PROPOSE THIS TO THE CLIENT:
</a:t>
            </a:r>
            <a:pPr indent="0" marL="0">
              <a:lnSpc>
                <a:spcPct val="120000"/>
              </a:lnSpc>
              <a:buNone/>
            </a:pPr>
            <a:r>
              <a:rPr lang="en-US" sz="920" dirty="0">
                <a:solidFill>
                  <a:srgbClr val="0F172A"/>
                </a:solidFill>
                <a:latin typeface="Segoe UI" pitchFamily="34" charset="0"/>
                <a:ea typeface="Segoe UI" pitchFamily="34" charset="-122"/>
                <a:cs typeface="Segoe UI" pitchFamily="34" charset="-120"/>
              </a:rPr>
              <a:t>• Uncapped Global Scalability: DynamoDB and RDS Multi-AZ effortlessly handle millions of concurrent transactions with single-digit millisecond response times.
</a:t>
            </a:r>
            <a:pPr indent="0" marL="0">
              <a:lnSpc>
                <a:spcPct val="120000"/>
              </a:lnSpc>
              <a:buNone/>
            </a:pPr>
            <a:r>
              <a:rPr lang="en-US" sz="920" dirty="0">
                <a:solidFill>
                  <a:srgbClr val="0F172A"/>
                </a:solidFill>
                <a:latin typeface="Segoe UI" pitchFamily="34" charset="0"/>
                <a:ea typeface="Segoe UI" pitchFamily="34" charset="-122"/>
                <a:cs typeface="Segoe UI" pitchFamily="34" charset="-120"/>
              </a:rPr>
              <a:t>• Always-Free Tier Value: DynamoDB provides 25 GB free storage forever with zero maintenance overhead.
</a:t>
            </a:r>
            <a:pPr indent="0" marL="0">
              <a:lnSpc>
                <a:spcPct val="120000"/>
              </a:lnSpc>
              <a:buNone/>
            </a:pPr>
            <a:r>
              <a:rPr lang="en-US" sz="920" dirty="0">
                <a:solidFill>
                  <a:srgbClr val="0F172A"/>
                </a:solidFill>
                <a:latin typeface="Segoe UI" pitchFamily="34" charset="0"/>
                <a:ea typeface="Segoe UI" pitchFamily="34" charset="-122"/>
                <a:cs typeface="Segoe UI" pitchFamily="34" charset="-120"/>
              </a:rPr>
              <a:t>• Bank-Grade Security: VPC private subnet isolation guarantees the database is completely invisible to public internet scanners.
</a:t>
            </a:r>
            <a:endParaRPr lang="en-US" sz="1000" dirty="0"/>
          </a:p>
        </p:txBody>
      </p:sp>
      <p:sp>
        <p:nvSpPr>
          <p:cNvPr id="20" name="Shape 18"/>
          <p:cNvSpPr/>
          <p:nvPr/>
        </p:nvSpPr>
        <p:spPr>
          <a:xfrm>
            <a:off x="731520" y="6355080"/>
            <a:ext cx="10728655" cy="18288"/>
          </a:xfrm>
          <a:prstGeom prst="rect">
            <a:avLst/>
          </a:prstGeom>
          <a:solidFill>
            <a:srgbClr val="E2E8F0"/>
          </a:solidFill>
          <a:ln/>
        </p:spPr>
      </p:sp>
      <p:sp>
        <p:nvSpPr>
          <p:cNvPr id="21" name="Text 19"/>
          <p:cNvSpPr/>
          <p:nvPr/>
        </p:nvSpPr>
        <p:spPr>
          <a:xfrm>
            <a:off x="731520" y="6419088"/>
            <a:ext cx="7772400" cy="27432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CONFIDENTIAL &amp; PROPRIETARY | Enterprise Cloud Database Evaluation &amp; Advisory</a:t>
            </a:r>
            <a:endParaRPr lang="en-US" sz="850" dirty="0"/>
          </a:p>
        </p:txBody>
      </p:sp>
      <p:sp>
        <p:nvSpPr>
          <p:cNvPr id="22" name="Text 20"/>
          <p:cNvSpPr/>
          <p:nvPr/>
        </p:nvSpPr>
        <p:spPr>
          <a:xfrm>
            <a:off x="9631375" y="6419088"/>
            <a:ext cx="1828800" cy="274320"/>
          </a:xfrm>
          <a:prstGeom prst="rect">
            <a:avLst/>
          </a:prstGeom>
          <a:noFill/>
          <a:ln/>
        </p:spPr>
        <p:txBody>
          <a:bodyPr wrap="square" rtlCol="0" anchor="ctr"/>
          <a:lstStyle/>
          <a:p>
            <a:pPr algn="r" indent="0" marL="0">
              <a:buNone/>
            </a:pPr>
            <a:r>
              <a:rPr lang="en-US" sz="850" dirty="0">
                <a:solidFill>
                  <a:srgbClr val="94A3B8"/>
                </a:solidFill>
                <a:latin typeface="Segoe UI" pitchFamily="34" charset="0"/>
                <a:ea typeface="Segoe UI" pitchFamily="34" charset="-122"/>
                <a:cs typeface="Segoe UI" pitchFamily="34" charset="-120"/>
              </a:rPr>
              <a:t>Slide 16 of 17</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p:spPr>
      </p:sp>
      <p:sp>
        <p:nvSpPr>
          <p:cNvPr id="3" name="Shape 1"/>
          <p:cNvSpPr/>
          <p:nvPr/>
        </p:nvSpPr>
        <p:spPr>
          <a:xfrm>
            <a:off x="731520" y="320040"/>
            <a:ext cx="2286000" cy="274320"/>
          </a:xfrm>
          <a:prstGeom prst="roundRect">
            <a:avLst>
              <a:gd name="adj" fmla="val 26667"/>
            </a:avLst>
          </a:prstGeom>
          <a:solidFill>
            <a:srgbClr val="EFF6FF"/>
          </a:solidFill>
          <a:ln w="12700">
            <a:solidFill>
              <a:srgbClr val="BFDBFE"/>
            </a:solidFill>
            <a:prstDash val="solid"/>
          </a:ln>
        </p:spPr>
      </p:sp>
      <p:sp>
        <p:nvSpPr>
          <p:cNvPr id="4" name="Text 2"/>
          <p:cNvSpPr/>
          <p:nvPr/>
        </p:nvSpPr>
        <p:spPr>
          <a:xfrm>
            <a:off x="731520" y="320040"/>
            <a:ext cx="2286000" cy="274320"/>
          </a:xfrm>
          <a:prstGeom prst="rect">
            <a:avLst/>
          </a:prstGeom>
          <a:noFill/>
          <a:ln/>
        </p:spPr>
        <p:txBody>
          <a:bodyPr wrap="square" rtlCol="0" anchor="ctr"/>
          <a:lstStyle/>
          <a:p>
            <a:pPr algn="ctr" indent="0" marL="0">
              <a:buNone/>
            </a:pPr>
            <a:r>
              <a:rPr lang="en-US" sz="900" b="1" dirty="0">
                <a:solidFill>
                  <a:srgbClr val="1D4ED8"/>
                </a:solidFill>
                <a:latin typeface="Segoe UI" pitchFamily="34" charset="0"/>
                <a:ea typeface="Segoe UI" pitchFamily="34" charset="-122"/>
                <a:cs typeface="Segoe UI" pitchFamily="34" charset="-120"/>
              </a:rPr>
              <a:t>EXECUTIVE PITCH</a:t>
            </a:r>
            <a:endParaRPr lang="en-US" sz="900" dirty="0"/>
          </a:p>
        </p:txBody>
      </p:sp>
      <p:sp>
        <p:nvSpPr>
          <p:cNvPr id="5" name="Text 3"/>
          <p:cNvSpPr/>
          <p:nvPr/>
        </p:nvSpPr>
        <p:spPr>
          <a:xfrm>
            <a:off x="731520" y="658368"/>
            <a:ext cx="10728655" cy="502920"/>
          </a:xfrm>
          <a:prstGeom prst="rect">
            <a:avLst/>
          </a:prstGeom>
          <a:noFill/>
          <a:ln/>
        </p:spPr>
        <p:txBody>
          <a:bodyPr wrap="square" rtlCol="0" anchor="ctr"/>
          <a:lstStyle/>
          <a:p>
            <a:pPr indent="0" marL="0">
              <a:buNone/>
            </a:pPr>
            <a:r>
              <a:rPr lang="en-US" sz="2100" b="1" dirty="0">
                <a:solidFill>
                  <a:srgbClr val="0A0F1D"/>
                </a:solidFill>
                <a:latin typeface="Segoe UI" pitchFamily="34" charset="0"/>
                <a:ea typeface="Segoe UI" pitchFamily="34" charset="-122"/>
                <a:cs typeface="Segoe UI" pitchFamily="34" charset="-120"/>
              </a:rPr>
              <a:t>Executive Summary: The 60-Second Client Pitch</a:t>
            </a:r>
            <a:endParaRPr lang="en-US" sz="2100" dirty="0"/>
          </a:p>
        </p:txBody>
      </p:sp>
      <p:sp>
        <p:nvSpPr>
          <p:cNvPr id="6" name="Shape 4"/>
          <p:cNvSpPr/>
          <p:nvPr/>
        </p:nvSpPr>
        <p:spPr>
          <a:xfrm>
            <a:off x="731520" y="1325880"/>
            <a:ext cx="10728655" cy="1371600"/>
          </a:xfrm>
          <a:prstGeom prst="roundRect">
            <a:avLst>
              <a:gd name="adj" fmla="val 8000"/>
            </a:avLst>
          </a:prstGeom>
          <a:solidFill>
            <a:srgbClr val="EFF6FF"/>
          </a:solidFill>
          <a:ln w="25400">
            <a:solidFill>
              <a:srgbClr val="2563EB"/>
            </a:solidFill>
            <a:prstDash val="solid"/>
          </a:ln>
        </p:spPr>
      </p:sp>
      <p:sp>
        <p:nvSpPr>
          <p:cNvPr id="7" name="Text 5"/>
          <p:cNvSpPr/>
          <p:nvPr/>
        </p:nvSpPr>
        <p:spPr>
          <a:xfrm>
            <a:off x="1005840" y="1463040"/>
            <a:ext cx="10180015" cy="1097280"/>
          </a:xfrm>
          <a:prstGeom prst="rect">
            <a:avLst/>
          </a:prstGeom>
          <a:noFill/>
          <a:ln/>
        </p:spPr>
        <p:txBody>
          <a:bodyPr wrap="square" rtlCol="0" anchor="t"/>
          <a:lstStyle/>
          <a:p>
            <a:pPr indent="0" marL="0">
              <a:lnSpc>
                <a:spcPct val="120000"/>
              </a:lnSpc>
              <a:buNone/>
            </a:pPr>
            <a:r>
              <a:rPr lang="en-US" sz="1050" b="1" dirty="0">
                <a:solidFill>
                  <a:srgbClr val="1D4ED8"/>
                </a:solidFill>
                <a:latin typeface="Segoe UI" pitchFamily="34" charset="0"/>
                <a:ea typeface="Segoe UI" pitchFamily="34" charset="-122"/>
                <a:cs typeface="Segoe UI" pitchFamily="34" charset="-120"/>
              </a:rPr>
              <a:t>THE WINNING RECOMMENDATION FOR 80% OF NEW CLIENT PROJECTS:
</a:t>
            </a:r>
            <a:pPr indent="0" marL="0">
              <a:lnSpc>
                <a:spcPct val="120000"/>
              </a:lnSpc>
              <a:buNone/>
            </a:pPr>
            <a:r>
              <a:rPr lang="en-US" sz="1350" b="1" i="1" dirty="0">
                <a:solidFill>
                  <a:srgbClr val="0A0F1D"/>
                </a:solidFill>
                <a:latin typeface="Segoe UI" pitchFamily="34" charset="0"/>
                <a:ea typeface="Segoe UI" pitchFamily="34" charset="-122"/>
                <a:cs typeface="Segoe UI" pitchFamily="34" charset="-120"/>
              </a:rPr>
              <a:t>"Start with SUPABASE: It delivers the fastest time-to-market, costs $0 to build, and offers a predictable flat $25/month price with zero vendor lock-in."</a:t>
            </a:r>
            <a:endParaRPr lang="en-US" sz="1050" dirty="0"/>
          </a:p>
        </p:txBody>
      </p:sp>
      <p:sp>
        <p:nvSpPr>
          <p:cNvPr id="8" name="Shape 6"/>
          <p:cNvSpPr/>
          <p:nvPr/>
        </p:nvSpPr>
        <p:spPr>
          <a:xfrm>
            <a:off x="731520" y="2926080"/>
            <a:ext cx="3413455" cy="2468880"/>
          </a:xfrm>
          <a:prstGeom prst="roundRect">
            <a:avLst>
              <a:gd name="adj" fmla="val 4444"/>
            </a:avLst>
          </a:prstGeom>
          <a:solidFill>
            <a:srgbClr val="FFFFFF"/>
          </a:solidFill>
          <a:ln w="12700">
            <a:solidFill>
              <a:srgbClr val="E2E8F0"/>
            </a:solidFill>
            <a:prstDash val="solid"/>
          </a:ln>
        </p:spPr>
      </p:sp>
      <p:sp>
        <p:nvSpPr>
          <p:cNvPr id="9" name="Shape 7"/>
          <p:cNvSpPr/>
          <p:nvPr/>
        </p:nvSpPr>
        <p:spPr>
          <a:xfrm>
            <a:off x="914400" y="3108960"/>
            <a:ext cx="3047695" cy="384048"/>
          </a:xfrm>
          <a:prstGeom prst="roundRect">
            <a:avLst>
              <a:gd name="adj" fmla="val 19048"/>
            </a:avLst>
          </a:prstGeom>
          <a:solidFill>
            <a:srgbClr val="059669"/>
          </a:solidFill>
          <a:ln w="12700">
            <a:solidFill>
              <a:srgbClr val="059669"/>
            </a:solidFill>
            <a:prstDash val="solid"/>
          </a:ln>
        </p:spPr>
      </p:sp>
      <p:sp>
        <p:nvSpPr>
          <p:cNvPr id="10" name="Text 8"/>
          <p:cNvSpPr/>
          <p:nvPr/>
        </p:nvSpPr>
        <p:spPr>
          <a:xfrm>
            <a:off x="914400" y="3108960"/>
            <a:ext cx="3047695" cy="384048"/>
          </a:xfrm>
          <a:prstGeom prst="rect">
            <a:avLst/>
          </a:prstGeom>
          <a:noFill/>
          <a:ln/>
        </p:spPr>
        <p:txBody>
          <a:bodyPr wrap="square"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1. Massive Cost Savings</a:t>
            </a:r>
            <a:endParaRPr lang="en-US" sz="1100" dirty="0"/>
          </a:p>
        </p:txBody>
      </p:sp>
      <p:sp>
        <p:nvSpPr>
          <p:cNvPr id="11" name="Text 9"/>
          <p:cNvSpPr/>
          <p:nvPr/>
        </p:nvSpPr>
        <p:spPr>
          <a:xfrm>
            <a:off x="960120" y="3657600"/>
            <a:ext cx="2956255" cy="1554480"/>
          </a:xfrm>
          <a:prstGeom prst="rect">
            <a:avLst/>
          </a:prstGeom>
          <a:noFill/>
          <a:ln/>
        </p:spPr>
        <p:txBody>
          <a:bodyPr wrap="square" rtlCol="0" anchor="ctr"/>
          <a:lstStyle/>
          <a:p>
            <a:pPr indent="0" marL="0">
              <a:lnSpc>
                <a:spcPct val="120000"/>
              </a:lnSpc>
              <a:buNone/>
            </a:pPr>
            <a:r>
              <a:rPr lang="en-US" sz="950" dirty="0">
                <a:solidFill>
                  <a:srgbClr val="0F172A"/>
                </a:solidFill>
                <a:latin typeface="Segoe UI" pitchFamily="34" charset="0"/>
                <a:ea typeface="Segoe UI" pitchFamily="34" charset="-122"/>
                <a:cs typeface="Segoe UI" pitchFamily="34" charset="-120"/>
              </a:rPr>
              <a:t>Free Tier provides 50,000 active users and 500 MB storage at $0. Moving to production is only $25/mo without surprise usage spikes.</a:t>
            </a:r>
            <a:endParaRPr lang="en-US" sz="950" dirty="0"/>
          </a:p>
        </p:txBody>
      </p:sp>
      <p:sp>
        <p:nvSpPr>
          <p:cNvPr id="12" name="Shape 10"/>
          <p:cNvSpPr/>
          <p:nvPr/>
        </p:nvSpPr>
        <p:spPr>
          <a:xfrm>
            <a:off x="4389120" y="2926080"/>
            <a:ext cx="3413455" cy="2468880"/>
          </a:xfrm>
          <a:prstGeom prst="roundRect">
            <a:avLst>
              <a:gd name="adj" fmla="val 4444"/>
            </a:avLst>
          </a:prstGeom>
          <a:solidFill>
            <a:srgbClr val="FFFFFF"/>
          </a:solidFill>
          <a:ln w="12700">
            <a:solidFill>
              <a:srgbClr val="E2E8F0"/>
            </a:solidFill>
            <a:prstDash val="solid"/>
          </a:ln>
        </p:spPr>
      </p:sp>
      <p:sp>
        <p:nvSpPr>
          <p:cNvPr id="13" name="Shape 11"/>
          <p:cNvSpPr/>
          <p:nvPr/>
        </p:nvSpPr>
        <p:spPr>
          <a:xfrm>
            <a:off x="4572000" y="3108960"/>
            <a:ext cx="3047695" cy="384048"/>
          </a:xfrm>
          <a:prstGeom prst="roundRect">
            <a:avLst>
              <a:gd name="adj" fmla="val 19048"/>
            </a:avLst>
          </a:prstGeom>
          <a:solidFill>
            <a:srgbClr val="2563EB"/>
          </a:solidFill>
          <a:ln w="12700">
            <a:solidFill>
              <a:srgbClr val="2563EB"/>
            </a:solidFill>
            <a:prstDash val="solid"/>
          </a:ln>
        </p:spPr>
      </p:sp>
      <p:sp>
        <p:nvSpPr>
          <p:cNvPr id="14" name="Text 12"/>
          <p:cNvSpPr/>
          <p:nvPr/>
        </p:nvSpPr>
        <p:spPr>
          <a:xfrm>
            <a:off x="4572000" y="3108960"/>
            <a:ext cx="3047695" cy="384048"/>
          </a:xfrm>
          <a:prstGeom prst="rect">
            <a:avLst/>
          </a:prstGeom>
          <a:noFill/>
          <a:ln/>
        </p:spPr>
        <p:txBody>
          <a:bodyPr wrap="square"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2. Fast Delivery Velocity</a:t>
            </a:r>
            <a:endParaRPr lang="en-US" sz="1100" dirty="0"/>
          </a:p>
        </p:txBody>
      </p:sp>
      <p:sp>
        <p:nvSpPr>
          <p:cNvPr id="15" name="Text 13"/>
          <p:cNvSpPr/>
          <p:nvPr/>
        </p:nvSpPr>
        <p:spPr>
          <a:xfrm>
            <a:off x="4617720" y="3657600"/>
            <a:ext cx="2956255" cy="1554480"/>
          </a:xfrm>
          <a:prstGeom prst="rect">
            <a:avLst/>
          </a:prstGeom>
          <a:noFill/>
          <a:ln/>
        </p:spPr>
        <p:txBody>
          <a:bodyPr wrap="square" rtlCol="0" anchor="ctr"/>
          <a:lstStyle/>
          <a:p>
            <a:pPr indent="0" marL="0">
              <a:lnSpc>
                <a:spcPct val="120000"/>
              </a:lnSpc>
              <a:buNone/>
            </a:pPr>
            <a:r>
              <a:rPr lang="en-US" sz="950" dirty="0">
                <a:solidFill>
                  <a:srgbClr val="0F172A"/>
                </a:solidFill>
                <a:latin typeface="Segoe UI" pitchFamily="34" charset="0"/>
                <a:ea typeface="Segoe UI" pitchFamily="34" charset="-122"/>
                <a:cs typeface="Segoe UI" pitchFamily="34" charset="-120"/>
              </a:rPr>
              <a:t>Authentication, storage buckets, and instant REST APIs come pre-built. Clients save 3 to 6 weeks of custom backend engineering.</a:t>
            </a:r>
            <a:endParaRPr lang="en-US" sz="950" dirty="0"/>
          </a:p>
        </p:txBody>
      </p:sp>
      <p:sp>
        <p:nvSpPr>
          <p:cNvPr id="16" name="Shape 14"/>
          <p:cNvSpPr/>
          <p:nvPr/>
        </p:nvSpPr>
        <p:spPr>
          <a:xfrm>
            <a:off x="8046720" y="2926080"/>
            <a:ext cx="3413455" cy="2468880"/>
          </a:xfrm>
          <a:prstGeom prst="roundRect">
            <a:avLst>
              <a:gd name="adj" fmla="val 4444"/>
            </a:avLst>
          </a:prstGeom>
          <a:solidFill>
            <a:srgbClr val="FFFFFF"/>
          </a:solidFill>
          <a:ln w="12700">
            <a:solidFill>
              <a:srgbClr val="E2E8F0"/>
            </a:solidFill>
            <a:prstDash val="solid"/>
          </a:ln>
        </p:spPr>
      </p:sp>
      <p:sp>
        <p:nvSpPr>
          <p:cNvPr id="17" name="Shape 15"/>
          <p:cNvSpPr/>
          <p:nvPr/>
        </p:nvSpPr>
        <p:spPr>
          <a:xfrm>
            <a:off x="8229600" y="3108960"/>
            <a:ext cx="3047695" cy="384048"/>
          </a:xfrm>
          <a:prstGeom prst="roundRect">
            <a:avLst>
              <a:gd name="adj" fmla="val 19048"/>
            </a:avLst>
          </a:prstGeom>
          <a:solidFill>
            <a:srgbClr val="D97706"/>
          </a:solidFill>
          <a:ln w="12700">
            <a:solidFill>
              <a:srgbClr val="D97706"/>
            </a:solidFill>
            <a:prstDash val="solid"/>
          </a:ln>
        </p:spPr>
      </p:sp>
      <p:sp>
        <p:nvSpPr>
          <p:cNvPr id="18" name="Text 16"/>
          <p:cNvSpPr/>
          <p:nvPr/>
        </p:nvSpPr>
        <p:spPr>
          <a:xfrm>
            <a:off x="8229600" y="3108960"/>
            <a:ext cx="3047695" cy="384048"/>
          </a:xfrm>
          <a:prstGeom prst="rect">
            <a:avLst/>
          </a:prstGeom>
          <a:noFill/>
          <a:ln/>
        </p:spPr>
        <p:txBody>
          <a:bodyPr wrap="square"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3. 100% Future-Proof</a:t>
            </a:r>
            <a:endParaRPr lang="en-US" sz="1100" dirty="0"/>
          </a:p>
        </p:txBody>
      </p:sp>
      <p:sp>
        <p:nvSpPr>
          <p:cNvPr id="19" name="Text 17"/>
          <p:cNvSpPr/>
          <p:nvPr/>
        </p:nvSpPr>
        <p:spPr>
          <a:xfrm>
            <a:off x="8275320" y="3657600"/>
            <a:ext cx="2956255" cy="1554480"/>
          </a:xfrm>
          <a:prstGeom prst="rect">
            <a:avLst/>
          </a:prstGeom>
          <a:noFill/>
          <a:ln/>
        </p:spPr>
        <p:txBody>
          <a:bodyPr wrap="square" rtlCol="0" anchor="ctr"/>
          <a:lstStyle/>
          <a:p>
            <a:pPr indent="0" marL="0">
              <a:lnSpc>
                <a:spcPct val="120000"/>
              </a:lnSpc>
              <a:buNone/>
            </a:pPr>
            <a:r>
              <a:rPr lang="en-US" sz="950" dirty="0">
                <a:solidFill>
                  <a:srgbClr val="0F172A"/>
                </a:solidFill>
                <a:latin typeface="Segoe UI" pitchFamily="34" charset="0"/>
                <a:ea typeface="Segoe UI" pitchFamily="34" charset="-122"/>
                <a:cs typeface="Segoe UI" pitchFamily="34" charset="-120"/>
              </a:rPr>
              <a:t>Powered by pure standard PostgreSQL. If the client expands into an enterprise later, their data moves to AWS or Azure with 1 click.</a:t>
            </a:r>
            <a:endParaRPr lang="en-US" sz="950" dirty="0"/>
          </a:p>
        </p:txBody>
      </p:sp>
      <p:sp>
        <p:nvSpPr>
          <p:cNvPr id="20" name="Shape 18"/>
          <p:cNvSpPr/>
          <p:nvPr/>
        </p:nvSpPr>
        <p:spPr>
          <a:xfrm>
            <a:off x="731520" y="5623560"/>
            <a:ext cx="10728655" cy="594360"/>
          </a:xfrm>
          <a:prstGeom prst="roundRect">
            <a:avLst>
              <a:gd name="adj" fmla="val 15385"/>
            </a:avLst>
          </a:prstGeom>
          <a:solidFill>
            <a:srgbClr val="0A0F1D"/>
          </a:solidFill>
          <a:ln w="12700">
            <a:solidFill>
              <a:srgbClr val="0A0F1D"/>
            </a:solidFill>
            <a:prstDash val="solid"/>
          </a:ln>
        </p:spPr>
      </p:sp>
      <p:sp>
        <p:nvSpPr>
          <p:cNvPr id="21" name="Text 19"/>
          <p:cNvSpPr/>
          <p:nvPr/>
        </p:nvSpPr>
        <p:spPr>
          <a:xfrm>
            <a:off x="914400" y="5623560"/>
            <a:ext cx="10362895" cy="594360"/>
          </a:xfrm>
          <a:prstGeom prst="rect">
            <a:avLst/>
          </a:prstGeom>
          <a:noFill/>
          <a:ln/>
        </p:spPr>
        <p:txBody>
          <a:bodyPr wrap="square"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ACTIONABLE NEXT STEP: Deploy a 7-day Proof of Concept (POC) on Supabase Free Tier at zero cost to validate client requirements.</a:t>
            </a:r>
            <a:endParaRPr lang="en-US" sz="1000" dirty="0"/>
          </a:p>
        </p:txBody>
      </p:sp>
      <p:sp>
        <p:nvSpPr>
          <p:cNvPr id="22" name="Shape 20"/>
          <p:cNvSpPr/>
          <p:nvPr/>
        </p:nvSpPr>
        <p:spPr>
          <a:xfrm>
            <a:off x="731520" y="6355080"/>
            <a:ext cx="10728655" cy="18288"/>
          </a:xfrm>
          <a:prstGeom prst="rect">
            <a:avLst/>
          </a:prstGeom>
          <a:solidFill>
            <a:srgbClr val="E2E8F0"/>
          </a:solidFill>
          <a:ln/>
        </p:spPr>
      </p:sp>
      <p:sp>
        <p:nvSpPr>
          <p:cNvPr id="23" name="Text 21"/>
          <p:cNvSpPr/>
          <p:nvPr/>
        </p:nvSpPr>
        <p:spPr>
          <a:xfrm>
            <a:off x="731520" y="6419088"/>
            <a:ext cx="7772400" cy="27432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CONFIDENTIAL &amp; PROPRIETARY | Enterprise Cloud Database Evaluation &amp; Advisory</a:t>
            </a:r>
            <a:endParaRPr lang="en-US" sz="850" dirty="0"/>
          </a:p>
        </p:txBody>
      </p:sp>
      <p:sp>
        <p:nvSpPr>
          <p:cNvPr id="24" name="Text 22"/>
          <p:cNvSpPr/>
          <p:nvPr/>
        </p:nvSpPr>
        <p:spPr>
          <a:xfrm>
            <a:off x="9631375" y="6419088"/>
            <a:ext cx="1828800" cy="274320"/>
          </a:xfrm>
          <a:prstGeom prst="rect">
            <a:avLst/>
          </a:prstGeom>
          <a:noFill/>
          <a:ln/>
        </p:spPr>
        <p:txBody>
          <a:bodyPr wrap="square" rtlCol="0" anchor="ctr"/>
          <a:lstStyle/>
          <a:p>
            <a:pPr algn="r" indent="0" marL="0">
              <a:buNone/>
            </a:pPr>
            <a:r>
              <a:rPr lang="en-US" sz="850" dirty="0">
                <a:solidFill>
                  <a:srgbClr val="94A3B8"/>
                </a:solidFill>
                <a:latin typeface="Segoe UI" pitchFamily="34" charset="0"/>
                <a:ea typeface="Segoe UI" pitchFamily="34" charset="-122"/>
                <a:cs typeface="Segoe UI" pitchFamily="34" charset="-120"/>
              </a:rPr>
              <a:t>Slide 17 of 17</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Enterprise Consulting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 Database Strategy &amp; Anti-Hacking Security Review</dc:title>
  <dc:subject>PptxGenJS Presentation</dc:subject>
  <dc:creator>Cloud Architecture Advisory</dc:creator>
  <cp:lastModifiedBy>Cloud Architecture Advisory</cp:lastModifiedBy>
  <cp:revision>1</cp:revision>
  <dcterms:created xsi:type="dcterms:W3CDTF">2026-09-08T09:17:19Z</dcterms:created>
  <dcterms:modified xsi:type="dcterms:W3CDTF">2026-09-08T09:17:19Z</dcterms:modified>
</cp:coreProperties>
</file>