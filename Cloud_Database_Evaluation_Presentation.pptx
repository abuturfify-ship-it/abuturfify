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0725912" cy="4663440"/>
          </a:xfrm>
          <a:prstGeom prst="roundRect">
            <a:avLst>
              <a:gd name="adj" fmla="val 3922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463040"/>
            <a:ext cx="2926080" cy="320040"/>
          </a:xfrm>
          <a:prstGeom prst="roundRect">
            <a:avLst>
              <a:gd name="adj" fmla="val 28571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463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EXECUTIVE STRATEGY DECK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Database Architecture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Pricing Evaluation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 Business &amp; Technical Comparison for Client Decision Makers: Supabase vs. Azure vs. AWS vs. MongoDB Atlas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4114800"/>
            <a:ext cx="2148840" cy="109728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9050">
            <a:solidFill>
              <a:srgbClr val="3EC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251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Supabase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4663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CF8E"/>
                </a:solidFill>
              </a:rPr>
              <a:t>Postgres BaaS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4114800"/>
            <a:ext cx="2148840" cy="109728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9050">
            <a:solidFill>
              <a:srgbClr val="00ED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4251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MongoDB Atlas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4663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D64"/>
                </a:solidFill>
              </a:rPr>
              <a:t>Document NoSQL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4114800"/>
            <a:ext cx="2148840" cy="109728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251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Microsoft Azure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4663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Enterprise SQL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52560" y="4114800"/>
            <a:ext cx="2148840" cy="109728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4251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Amazon AWS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0" y="4663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</a:rPr>
              <a:t>Cloud Infrastructure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54406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Prepared for Leadership &amp; Client Advisory | 2026 Strategic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PLATFORM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the 4 Database Options at a Glance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2514600" cy="48006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2514600" cy="777240"/>
          </a:xfrm>
          <a:prstGeom prst="roundRect">
            <a:avLst>
              <a:gd name="adj" fmla="val 1764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813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Supabase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The All-in-One Engine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14400" y="242316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3042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Core: 100% Real PostgreSQL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8986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Includes User Auth (Google, Email)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61188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4930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Built-in File Storage (Images, Docs)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20624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0873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Instant auto-generated REST APIs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6817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Zero developer lock-in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5394960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52760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Best for: Fast Apps &amp; Startups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0" y="1417320"/>
            <a:ext cx="2514600" cy="48006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1417320"/>
            <a:ext cx="2514600" cy="777240"/>
          </a:xfrm>
          <a:prstGeom prst="roundRect">
            <a:avLst>
              <a:gd name="adj" fmla="val 1764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14813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MongoDB Atlas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1188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The Flexible Filing Cabinet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0" y="242316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23042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Core: Document NoSQL (JSON/BSON)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0" y="301752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0" y="28986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No rigid tables or column schemas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361188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0" y="34930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Built-in Google-style Search bar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0" y="420624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0" y="40873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Automatic 3-server data sync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0" y="480060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0" y="46817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Runs on AWS, Azure, or Google Cloud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0" y="5394960"/>
            <a:ext cx="109728" cy="1097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0" y="52760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</a:rPr>
              <a:t>Best for: E-Commerce &amp; Catalogs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17920" y="1417320"/>
            <a:ext cx="2514600" cy="48006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1417320"/>
            <a:ext cx="2514600" cy="777240"/>
          </a:xfrm>
          <a:prstGeom prst="roundRect">
            <a:avLst>
              <a:gd name="adj" fmla="val 1764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14813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Microsoft Azure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35508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The Corporate Suite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0" y="242316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6583680" y="23042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Core: Azure SQL &amp; PostgreSQL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0" y="301752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0" y="28986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Direct integration with Office 365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0" y="361188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0" y="34930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Power BI &amp; Excel native sync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0" y="420624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9" name="Text 47"/>
          <p:cNvSpPr/>
          <p:nvPr/>
        </p:nvSpPr>
        <p:spPr>
          <a:xfrm>
            <a:off x="6583680" y="40873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Active Directory corporate security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00800" y="480060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1" name="Text 49"/>
          <p:cNvSpPr/>
          <p:nvPr/>
        </p:nvSpPr>
        <p:spPr>
          <a:xfrm>
            <a:off x="6583680" y="46817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Cheapest entry plan ($5/mo Basic)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00800" y="5394960"/>
            <a:ext cx="109728" cy="10972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3" name="Text 51"/>
          <p:cNvSpPr/>
          <p:nvPr/>
        </p:nvSpPr>
        <p:spPr>
          <a:xfrm>
            <a:off x="6583680" y="52760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Best for: Corporate Microsoft Stack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961120" y="1417320"/>
            <a:ext cx="2514600" cy="48006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61120" y="1417320"/>
            <a:ext cx="2514600" cy="777240"/>
          </a:xfrm>
          <a:prstGeom prst="roundRect">
            <a:avLst>
              <a:gd name="adj" fmla="val 1764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98280" y="14813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4. Amazon AWS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909828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The Industrial Powerhouse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144000" y="242316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9" name="Text 57"/>
          <p:cNvSpPr/>
          <p:nvPr/>
        </p:nvSpPr>
        <p:spPr>
          <a:xfrm>
            <a:off x="9326880" y="23042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Core: Amazon RDS &amp; DynamoDB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144000" y="301752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1" name="Text 59"/>
          <p:cNvSpPr/>
          <p:nvPr/>
        </p:nvSpPr>
        <p:spPr>
          <a:xfrm>
            <a:off x="9326880" y="28986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Proven standard for global apps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144000" y="361188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3" name="Text 61"/>
          <p:cNvSpPr/>
          <p:nvPr/>
        </p:nvSpPr>
        <p:spPr>
          <a:xfrm>
            <a:off x="9326880" y="34930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DynamoDB: 25 GB free forever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144000" y="420624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5" name="Text 63"/>
          <p:cNvSpPr/>
          <p:nvPr/>
        </p:nvSpPr>
        <p:spPr>
          <a:xfrm>
            <a:off x="9326880" y="40873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Uncapped high-volume scalability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144000" y="480060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7" name="Text 65"/>
          <p:cNvSpPr/>
          <p:nvPr/>
        </p:nvSpPr>
        <p:spPr>
          <a:xfrm>
            <a:off x="9326880" y="46817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Bank-grade Virtual Private Cloud (VPC)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144000" y="5394960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9" name="Text 67"/>
          <p:cNvSpPr/>
          <p:nvPr/>
        </p:nvSpPr>
        <p:spPr>
          <a:xfrm>
            <a:off x="9326880" y="52760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Best for: High-Scale &amp; Enterprise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1" name="Text 69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CONFIDENTIAL | Cloud Database Architecture &amp; Pricing Evaluation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62863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2 of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Users Connect: Architecture Flow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10725912" cy="1115568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137160" cy="11155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490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1. Supabase (Direct &amp; All-in-One)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1801368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8013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Web / Mobile App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0" y="180136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1801368"/>
            <a:ext cx="347472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80136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Kong Gateway (Auth + Storage + REST API)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0" y="180136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69480" y="1801368"/>
            <a:ext cx="397764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180136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PostgreSQL Database Engine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0120" y="2221992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Key Benefit: No separate backend servers required to get started. Instant deployment.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" y="2651760"/>
            <a:ext cx="10725912" cy="1115568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651760"/>
            <a:ext cx="137160" cy="111556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27249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2. MongoDB Atlas (Auto-Replicated Cloud)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0120" y="3035808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0358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Web / Mobile App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26080" y="303580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37560" y="3035808"/>
            <a:ext cx="347472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03580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Backend Application Server (Node/Python)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58000" y="303580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➔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269480" y="3035808"/>
            <a:ext cx="397764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303580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3-Node Multi-Zone Mongo Cluster (Auto-Copies Data 3x)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60120" y="3456432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Key Benefit: Zero downtime during server crashes; flexible JSON documents never break.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1520" y="3886200"/>
            <a:ext cx="10725912" cy="1115568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3886200"/>
            <a:ext cx="137160" cy="11155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3959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3. Microsoft Azure (Corporate Protected Network)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60120" y="4270248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2702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Company Client App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926080" y="427024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➔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337560" y="4270248"/>
            <a:ext cx="347472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42702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Azure Firewall + Microsoft Entra ID (Active Directory)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58000" y="427024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➔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269480" y="4270248"/>
            <a:ext cx="397764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69480" y="427024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Azure SQL / Postgres + Power BI Sync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60120" y="4690872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Key Benefit: Directly tied to corporate employee logins and automated executive reporting.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31520" y="5120640"/>
            <a:ext cx="10725912" cy="1115568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" y="5120640"/>
            <a:ext cx="137160" cy="11155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960120" y="5193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4. Amazon AWS (Enterprise Fortress)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60120" y="5504688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" y="55046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High-Traffic App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926080" y="550468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➔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337560" y="5504688"/>
            <a:ext cx="347472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37560" y="550468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VPC Gateway + Inbound Security Rules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58000" y="550468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➔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269480" y="5504688"/>
            <a:ext cx="397764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69480" y="550468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Amazon RDS / DynamoDB Distributed Storage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960120" y="5925312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Key Benefit: Maximum isolated network security; handles billions of requests per second.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CONFIDENTIAL | Cloud Database Architecture &amp; Pricing Evaluation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62863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3 of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COST &amp; CAPACITY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Side-by-Side Pricing, Storage &amp; User Limits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725912" cy="466344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1828800"/>
                <a:gridCol w="1645920"/>
                <a:gridCol w="1828800"/>
                <a:gridCol w="18562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Free Tier Quota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Monthly Active Users (Free)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Entry Paid Price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Storage in Paid Plan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Production / Scale Cost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Supabase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500 MB (Free Forever)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 credit card required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Up to 50,000 MAU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(5 GB transfer)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$25 / month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(Pro Flat Plan)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 GB included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(+$0.125/GB auto-expand)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$599 / mo (Team Tier)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100k+ MAU, SLA, Daily Backups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MongoDB Atlas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512 MB (M0 Sandbox)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Free Forever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~15,000 MAU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(500 connections)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$9 – $25 / month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(M2 / M5 Shared)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 GB – 5 GB SSD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Auto daily snapshots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$57 – $400+ / mo (Dedicated)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Up to 4 TB NVMe SSD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4ED8"/>
                          </a:solidFill>
                        </a:rPr>
                        <a:t>Microsoft Azure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32 GB Free (12 Months)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100k vCore-sec free/mo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~25,000 MAU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(Serverless autosuspend)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$4.99 / month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(Basic Tier - 5 DTU)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 GB max (Basic)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250 GB in Standard ($15/mo)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$75 – $250+ / mo (Standard/vCore)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Up to 100 TB on Hyperscale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Amazon AWS (RDS)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 GB Free (12 Mos)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750 hrs db.t4g.micro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~20,000 MAU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(~80 max connections)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$15 – $35 / month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(db.t4g.small instance)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 GB – 100 GB SSD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(+$0.115/GB storage)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$150 – $350+ / mo (Multi-AZ)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High-availability dual server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</a:rPr>
                        <a:t>AWS DynamoDB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25 GB Free Forever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200M requests/mo free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100,000+ MAU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(Extreme throughput)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$0 – $5 / month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(On-Demand Pay-per-use)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25 GB included free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(+$0.25/GB extra)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Pay-as-you-scale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$1.25 per million writes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CONFIDENTIAL | Cloud Database Architecture &amp; Pricing Evaluation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62863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4 of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TRADE-OFF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Advantages &amp; Disadvantages of Each Platform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5239512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5239512" cy="384048"/>
          </a:xfrm>
          <a:prstGeom prst="roundRect">
            <a:avLst>
              <a:gd name="adj" fmla="val 2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72184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Supabase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✔ ADVANTAGES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Zero setup; live in 2 mins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24505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Auth &amp; File Storage included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279806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No credit card needed to start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314553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Real open-source Postgres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37560" y="1920240"/>
            <a:ext cx="18288" cy="1645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✖ DISADVANTAGES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0440" y="2103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Free tier pauses after 7 days idle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20440" y="25146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High data transfer incurs fees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20440" y="2926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Less mature than 15-yr clouds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17920" y="1417320"/>
            <a:ext cx="5239512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417320"/>
            <a:ext cx="5239512" cy="384048"/>
          </a:xfrm>
          <a:prstGeom prst="roundRect">
            <a:avLst>
              <a:gd name="adj" fmla="val 28571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472184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MongoDB Atlas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1874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✔ ADVANTAGES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Zero schema rigidity (JSON)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0" y="24505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Built-in full-text search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0" y="279806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Auto 3-node disaster backup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0" y="314553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Works across AWS, Azure, GCP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823960" y="1920240"/>
            <a:ext cx="18288" cy="1645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6"/>
          <p:cNvSpPr/>
          <p:nvPr/>
        </p:nvSpPr>
        <p:spPr>
          <a:xfrm>
            <a:off x="9006840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✖ DISADVANTAGES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006840" y="2103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Dedicated servers start at $57/mo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006840" y="25146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Inefficient for deep SQL JOINs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006840" y="2926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High RAM consumption if unindexed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1520" y="3886200"/>
            <a:ext cx="5239512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3886200"/>
            <a:ext cx="5239512" cy="384048"/>
          </a:xfrm>
          <a:prstGeom prst="roundRect">
            <a:avLst>
              <a:gd name="adj" fmla="val 28571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3941064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Microsoft Azure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43434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✔ ADVANTAGES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Cheapest entry plan ($5/mo Basic)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14400" y="49194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Native Power BI &amp; Office sync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14400" y="52669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Active Directory enterprise auth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14400" y="56144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Serverless pauses off-hours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337560" y="4389120"/>
            <a:ext cx="18288" cy="1645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Text 39"/>
          <p:cNvSpPr/>
          <p:nvPr/>
        </p:nvSpPr>
        <p:spPr>
          <a:xfrm>
            <a:off x="3520440" y="4343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✖ DISADVANTAGES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520440" y="45720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Basic plan capped at 2 GB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520440" y="49834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Complex portal navigation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520440" y="53949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Steep price jump on high vCores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17920" y="3886200"/>
            <a:ext cx="5239512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3886200"/>
            <a:ext cx="5239512" cy="384048"/>
          </a:xfrm>
          <a:prstGeom prst="roundRect">
            <a:avLst>
              <a:gd name="adj" fmla="val 2857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3941064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Amazon AWS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00800" y="43434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✔ ADVANTAGES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080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DynamoDB 25 GB free forever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00800" y="49194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99.999% proven global uptime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00800" y="52669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Infinite compute scalability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400800" y="56144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VPC enterprise data fortress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823960" y="4389120"/>
            <a:ext cx="18288" cy="1645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4" name="Text 52"/>
          <p:cNvSpPr/>
          <p:nvPr/>
        </p:nvSpPr>
        <p:spPr>
          <a:xfrm>
            <a:off x="9006840" y="4343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✖ DISADVANTAGES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006840" y="45720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Requires DevOps/Cloud engineers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006840" y="49834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Risk of surprise bills (egress/IOPS)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9006840" y="53949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No built-in Auth or UI dashboard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Text 5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CONFIDENTIAL | Cloud Database Architecture &amp; Pricing Evaluation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62863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5 of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CLIENT ADVISORY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Recommendations for Clients (What &amp; Why)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10725912" cy="1115568"/>
          </a:xfrm>
          <a:prstGeom prst="roundRect">
            <a:avLst>
              <a:gd name="adj" fmla="val 9836"/>
            </a:avLst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270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Web / Mobile Startup or MVP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👉 SUGGEST: SUPABASE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0" y="150876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Cuts development time by 40%: Auth, APIs, and File Uploads are built-in.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0" y="181965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Costs $0 to build and launch; smooth step to $25/mo when traffic grows.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0" y="213055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Standard PostgreSQL protects client from vendor lock-in.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10725912" cy="1115568"/>
          </a:xfrm>
          <a:prstGeom prst="roundRect">
            <a:avLst>
              <a:gd name="adj" fmla="val 9836"/>
            </a:avLst>
          </a:prstGeom>
          <a:solidFill>
            <a:srgbClr val="F0FDF4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614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E-Commerce, Store Catalogs &amp; Media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108960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08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👉 SUGGEST: MONGODB ATLAS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0" y="27432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Product catalogs have changing attributes; JSON documents never require table restructuring.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305409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Built-in search engine eliminates need for costly external Elasticsearch.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33649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Automated 3-server replication ensures store checkout never goes offline.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886200"/>
            <a:ext cx="10725912" cy="1115568"/>
          </a:xfrm>
          <a:prstGeom prst="roundRect">
            <a:avLst>
              <a:gd name="adj" fmla="val 9836"/>
            </a:avLst>
          </a:prstGeom>
          <a:solidFill>
            <a:srgbClr val="EFF6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9959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Enterprise Corporate &amp; .NET Stack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4343400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343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👉 SUGGEST: MICROSOFT AZURE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74720" y="39776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Direct connection to Microsoft Active Directory, C# .NET, and Power BI reports.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0" y="428853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Cheapest entry plan in the cloud ($4.99/mo Basic tier) for small business tools.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0" y="45994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Full corporate compliance (HIPAA, SOC 2, ISO) out of the box.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5120640"/>
            <a:ext cx="10725912" cy="1115568"/>
          </a:xfrm>
          <a:prstGeom prst="roundRect">
            <a:avLst>
              <a:gd name="adj" fmla="val 9836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2303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High-Scale Microservices &amp; Heavy IoT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" y="5577840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577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👉 SUGGEST: AMAZON AWS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4720" y="52120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Handles millions of simultaneous transactions with single-digit millisecond latency.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74720" y="552297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DynamoDB provides 25 GB free forever with zero server maintenance.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74720" y="58338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Global data center network with military-grade isolated VPC security.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CONFIDENTIAL | Cloud Database Architecture &amp; Pricing Evaluation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2863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6 of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EXECUTIVE PITCH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Summary: The 60-Second Client Pitch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10725912" cy="1463040"/>
          </a:xfrm>
          <a:prstGeom prst="roundRect">
            <a:avLst>
              <a:gd name="adj" fmla="val 9375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THE WINNING RECOMMENDATION FOR 80% OF NEW CLIENTS: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F172A"/>
                </a:solidFill>
              </a:rPr>
              <a:t>"Start with SUPABASE: It delivers the fastest time-to-market, costs $0 to build, and offers a predictable flat $25/month price with zero vendor lock-in."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3410712" cy="237744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337560"/>
            <a:ext cx="3044952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375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Massive Cost Savings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931920"/>
            <a:ext cx="2862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</a:rPr>
              <a:t>Free Tier provides 50,000 active users and 500 MB storage at $0. Moving to production is only $25/mo without surprise usage spikes.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3108960"/>
            <a:ext cx="3410712" cy="237744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3337560"/>
            <a:ext cx="3044952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3375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Fast Delivery Velocity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3931920"/>
            <a:ext cx="2862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</a:rPr>
              <a:t>Authentication, storage buckets, and instant REST APIs come pre-built. Clients save 3 to 6 weeks of custom backend engineering.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3108960"/>
            <a:ext cx="3410712" cy="237744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3337560"/>
            <a:ext cx="3044952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33375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100% Future-Proof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3931920"/>
            <a:ext cx="2862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</a:rPr>
              <a:t>Powered by pure standard PostgreSQL. If the client expands into an enterprise later, their data moves to AWS or Azure with 1 click.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5669280"/>
            <a:ext cx="10725912" cy="59436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66928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ACTIONABLE NEXT STEP: Deploy a 7-day Proof of Concept (POC) on Supabase Free Tier at zero cost to validate client requirements.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CONFIDENTIAL | Cloud Database Architecture &amp; Pricing Evaluation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2863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7 of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Enterprise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Database Strategy: Supabase, Azure, AWS &amp; MongoDB</dc:title>
  <dc:subject>PptxGenJS Presentation</dc:subject>
  <dc:creator>Cloud Architecture Advisory</dc:creator>
  <cp:lastModifiedBy>Cloud Architecture Advisory</cp:lastModifiedBy>
  <cp:revision>1</cp:revision>
  <dcterms:created xsi:type="dcterms:W3CDTF">2026-09-08T08:28:04Z</dcterms:created>
  <dcterms:modified xsi:type="dcterms:W3CDTF">2026-09-08T08:28:04Z</dcterms:modified>
</cp:coreProperties>
</file>