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10728655" cy="5212080"/>
          </a:xfrm>
          <a:prstGeom prst="roundRect">
            <a:avLst>
              <a:gd name="adj" fmla="val 3509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1188720"/>
            <a:ext cx="3200400" cy="320040"/>
          </a:xfrm>
          <a:prstGeom prst="roundRect">
            <a:avLst>
              <a:gd name="adj" fmla="val 28571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STRATEGY &amp; SECURITY DECK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Database Evaluation: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Anti-Hacking Security &amp; Pricing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30632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Business &amp; Cyber-Defense Assessment of Supabase, MongoDB Atlas, Microsoft Azure, and Amazon AWS for Leadership &amp; Client Advisory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2313432" cy="1280160"/>
          </a:xfrm>
          <a:prstGeom prst="roundRect">
            <a:avLst>
              <a:gd name="adj" fmla="val 8571"/>
            </a:avLst>
          </a:prstGeom>
          <a:solidFill>
            <a:srgbClr val="0B1329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97764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4297680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CF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 BaaS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4553712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Auth, Storage &amp; RLS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3840480"/>
            <a:ext cx="2313432" cy="1280160"/>
          </a:xfrm>
          <a:prstGeom prst="roundRect">
            <a:avLst>
              <a:gd name="adj" fmla="val 8571"/>
            </a:avLst>
          </a:prstGeom>
          <a:solidFill>
            <a:srgbClr val="0B1329"/>
          </a:solidFill>
          <a:ln w="19050">
            <a:solidFill>
              <a:srgbClr val="00ED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97764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 Atlas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4297680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D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NoSQL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4553712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Field Encryption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2313432" cy="1280160"/>
          </a:xfrm>
          <a:prstGeom prst="roundRect">
            <a:avLst>
              <a:gd name="adj" fmla="val 8571"/>
            </a:avLst>
          </a:prstGeom>
          <a:solidFill>
            <a:srgbClr val="0B1329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97764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4297680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SQL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4553712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Directory &amp; Threat Def.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0" y="3840480"/>
            <a:ext cx="2313432" cy="1280160"/>
          </a:xfrm>
          <a:prstGeom prst="roundRect">
            <a:avLst>
              <a:gd name="adj" fmla="val 8571"/>
            </a:avLst>
          </a:prstGeom>
          <a:solidFill>
            <a:srgbClr val="0B1329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977640"/>
            <a:ext cx="2313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AWS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78240" y="4297680"/>
            <a:ext cx="2313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Infrastructure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69680" y="4553712"/>
            <a:ext cx="2130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Isolated VPC &amp; KMS Encryption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97280" y="548640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Prepared for Management Review &amp; Client Pitching | 2026 Edition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PLATFORM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4 Database Options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389888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2224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All-in-One Rocket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95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32688" y="24963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standard PostgreSQL database (no emulation).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31546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32095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MODULES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32688" y="34107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User Logins (Google, Apple, Email), File Storage, and auto REST APIs.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68680" y="40690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23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BENEFIT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32688" y="43251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Cuts backend development time by 40% for new web/mobile apps.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49834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50383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PORTABILITY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32688" y="52395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vendor lock-in. Full standard SQL dumps can be migrated anytime.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1389888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11880" y="1737360"/>
            <a:ext cx="2224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Flexible Filing Cabinet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118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2295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75888" y="24963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Document-based NoSQL (stores data as JSON documents).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11880" y="31546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75888" y="32095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MODULES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75888" y="34107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Google-style Search Engine, 3-Node auto-replication cluster.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11880" y="40690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75888" y="4123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BENEFIT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75888" y="43251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can have totally different specs without breaking database tables.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11880" y="49834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50383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75888" y="52395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identically across AWS, Microsoft Azure, and Google Cloud.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1389888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1737360"/>
            <a:ext cx="2224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Corporate Suite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550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9088" y="2295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419088" y="24963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Database (T-SQL engine) &amp; Azure Database for PostgreSQL.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55080" y="31546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32095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MODULES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19088" y="34107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sync with Microsoft 365, Excel, Power BI dashboards, and C# .NET.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355080" y="40690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4123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BENEFIT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19088" y="43251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Cheapest entry price ($5/mo Basic tier) for corporate back-office apps.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55080" y="49834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50383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TIER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419088" y="52395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Tied to corporate Microsoft Active Directory / Entra ID logins.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61120" y="1325880"/>
            <a:ext cx="2499055" cy="4846320"/>
          </a:xfrm>
          <a:prstGeom prst="roundRect">
            <a:avLst>
              <a:gd name="adj" fmla="val 4391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61120" y="1325880"/>
            <a:ext cx="2499055" cy="777240"/>
          </a:xfrm>
          <a:prstGeom prst="roundRect">
            <a:avLst>
              <a:gd name="adj" fmla="val 1411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098280" y="1389888"/>
            <a:ext cx="2224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9098280" y="1737360"/>
            <a:ext cx="22247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Industrial Powerhouse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098280" y="22402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62288" y="22951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TECHNOLOGY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9162288" y="24963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RDS (Relational Postgres/MySQL) &amp; DynamoDB (NoSQL).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9098280" y="31546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62288" y="32095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MODULES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9162288" y="34107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Multi-Availability Zone auto-failover, isolated VPC firewall subnets.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9098280" y="40690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62288" y="41239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BENEFIT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162288" y="43251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DynamoDB gives 25 GB free forever with single-digit millisecond latency.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098280" y="4983480"/>
            <a:ext cx="2224735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162288" y="503834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9162288" y="523951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millions of transactions per second for large banks and tech giants.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of 10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ARCHITECTURE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Architecture: How Users Connect to Each Database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137160" cy="111556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99032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 ARCHITECTURE (Direct &amp; All-in-One BaaS)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1673352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70078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App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89280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Client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37560" y="167335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94760" y="1673352"/>
            <a:ext cx="34747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0" y="17007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&amp; Auth Gateway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94760" y="18928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Kong + GoTrue + Storage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0" y="1673352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0" y="1673352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700784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Database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772400" y="189280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 Level Security (RLS)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2167128"/>
            <a:ext cx="10149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ADVANTAGE: No custom backend servers needed. Built-in security enforces permissions at database level.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2578608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2578608"/>
            <a:ext cx="137160" cy="1115568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2651760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 ARCHITECTURE (Multi-Cloud Auto-Replication)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05840" y="2926080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29535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" y="3145536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Client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7560" y="29260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794760" y="2926080"/>
            <a:ext cx="34747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95351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Server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94760" y="3145536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/ Python API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2926080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772400" y="2926080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295351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3-Node Replica Cluster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772400" y="314553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Auto-copies data across 3 servers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05840" y="3419856"/>
            <a:ext cx="10149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ADVANTAGE: 100% High Availability. If one server dies, another takes over in under 2 seconds automatically.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1520" y="3831336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3831336"/>
            <a:ext cx="137160" cy="111556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3904488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 ARCHITECTURE (Corporate Protected Network)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" y="4178808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2062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App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5840" y="439826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/ Office 365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37560" y="417880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794760" y="4178808"/>
            <a:ext cx="34747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79476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Entra ID &amp; Firewall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794760" y="43982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Directory + IP Rules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315200" y="4178808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772400" y="4178808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0" y="420624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SQL Database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772400" y="43982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sync with Power BI &amp; Excel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05840" y="4672584"/>
            <a:ext cx="10149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ADVANTAGE: Deep corporate authentication. Employees log in using company single-sign-on credentials.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31520" y="5084064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31520" y="5084064"/>
            <a:ext cx="137160" cy="11155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1005840" y="5157216"/>
            <a:ext cx="9601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 ARCHITECTURE (Enterprise Fortress &amp; Extreme Scale)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05840" y="5431536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54589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High-Traffic App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05840" y="5650992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Millions of Visitors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337560" y="543153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794760" y="5431536"/>
            <a:ext cx="3474720" cy="438912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94760" y="54589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Gateway &amp; IAM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794760" y="56509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+ Security Groups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5431536"/>
            <a:ext cx="411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➔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772400" y="5431536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0" y="545896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RDS / DynamoDB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772400" y="56509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530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SSD High IOPS Storage Cluster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005840" y="5925312"/>
            <a:ext cx="10149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ADVANTAGE: Maximum bank-grade perimeter defense. Database is completely invisible to public internet.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of 10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CYBERSECURITY ASSESSMENT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Security in the Hacker's Eye: How Cyberattacks Happen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SQL Injection &amp; Data Tampering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828800"/>
            <a:ext cx="48764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928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05840" y="21122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Attackers inject malicious query fragments into form fields or APIs to dump or delete database tables.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14400" y="2862072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98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DANGER: Complete database exfiltration, credential loss, and compliance fines.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0" y="1325880"/>
            <a:ext cx="5242255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Port Scanning &amp; Public Exposure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48764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89280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492240" y="211226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bots scan internet IP ranges for open ports (5432 for Postgres, 3306 for MySQL, 27017 for Mongo).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0" y="2862072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8986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DANGER: Ransomware groups lock databases with weak admin passwords within 15 minutes.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3794760"/>
            <a:ext cx="5242255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Broken Authorization &amp; Leaked Keys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4297680"/>
            <a:ext cx="48764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36168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458114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Attackers inspect frontend mobile or web JavaScript code for hardcoded database connection secrets.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" y="5330952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367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DANGER: Unauthorized actors read sensitive customer records directly without going through login.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794760"/>
            <a:ext cx="5242255" cy="228600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Network Man-in-the-Middle (Eavesdropping)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297680"/>
            <a:ext cx="4876495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361688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HACKERS ATTACK: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92240" y="458114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Hackers intercept unencrypted traffic traveling between application servers and the cloud database.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5330952"/>
            <a:ext cx="4876495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367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DANGER: Passwords, credit cards, and PII stolen in transit over public WiFi and routers.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of 10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DEFENSE IN DEPTH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Anti-Hacking Defenses: How Each Database Protects Client Data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7160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 DEFENSE STACK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8105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17647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(RLS): 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78992" y="19110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engine enforces that User A can never query or view User B's records, even if the API endpoint is hacked.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22677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22219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Role Verification: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078992" y="23682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database query requires a cryptographically signed JSON Web Token; anonymous queries are blocked.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14400" y="27249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26791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Direct Port Exposure: 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78992" y="28254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apps interact via encrypted HTTPS / Kong API Gateway. Raw PostgreSQL port 5432 stays shielded.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14400" y="3182112"/>
            <a:ext cx="109728" cy="10972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078992" y="31363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Storage (AES-256):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78992" y="32826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files, WAL logs, and file storage buckets are encrypted at rest with AES-256.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32588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37160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 DEFENSE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810512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17647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Client-Side Field Level Encryption (CSFLE): 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65392" y="19110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Sensitive data (credit cards, SSN) is encrypted in memory on the app before reaching Mongo; even DB admins cannot read it.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2267712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8" name="Text 26"/>
          <p:cNvSpPr/>
          <p:nvPr/>
        </p:nvSpPr>
        <p:spPr>
          <a:xfrm>
            <a:off x="6565392" y="22219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Access Whitelisting: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565392" y="23682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Clusters reject 100% of connection attempts by default unless the client's IP is explicitly registered in the firewall.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00800" y="2724912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1" name="Text 29"/>
          <p:cNvSpPr/>
          <p:nvPr/>
        </p:nvSpPr>
        <p:spPr>
          <a:xfrm>
            <a:off x="6565392" y="26791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TLS 1.3 Encryption: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565392" y="28254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incoming and outgoing traffic is forced over modern TLS 1.3. Plaintext connections are immediately dropped.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00800" y="3182112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4" name="Text 32"/>
          <p:cNvSpPr/>
          <p:nvPr/>
        </p:nvSpPr>
        <p:spPr>
          <a:xfrm>
            <a:off x="6565392" y="313639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(RBAC): 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565392" y="328269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 granular user privileges ensuring apps only have Read/Write access to specific collections.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" y="379476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840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 DEFENSE STACK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14400" y="42793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0" name="Text 38"/>
          <p:cNvSpPr/>
          <p:nvPr/>
        </p:nvSpPr>
        <p:spPr>
          <a:xfrm>
            <a:off x="1078992" y="42336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Defender for Cloud: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78992" y="43799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AI-driven threat intelligence detects SQL injection attacks, anomalous login locations, and suspicious query dumps.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14400" y="47365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3" name="Text 41"/>
          <p:cNvSpPr/>
          <p:nvPr/>
        </p:nvSpPr>
        <p:spPr>
          <a:xfrm>
            <a:off x="1078992" y="46908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 ID (Active Directory) Auth: 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78992" y="48371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Eliminates hardcoded database passwords entirely; uses enterprise multi-factor authentication (MFA).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" y="51937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6" name="Text 44"/>
          <p:cNvSpPr/>
          <p:nvPr/>
        </p:nvSpPr>
        <p:spPr>
          <a:xfrm>
            <a:off x="1078992" y="51480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Encrypted Technology: 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078992" y="52943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Protects sensitive data at rest, in transit, and even while active in server memory from virtualization attacks.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14400" y="5650992"/>
            <a:ext cx="109728" cy="10972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49" name="Text 47"/>
          <p:cNvSpPr/>
          <p:nvPr/>
        </p:nvSpPr>
        <p:spPr>
          <a:xfrm>
            <a:off x="1078992" y="56052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Link Endpoints: 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78992" y="57515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Keeps database traffic exclusively on Microsoft's private global fiber network, off the public internet.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179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3794760"/>
            <a:ext cx="5242255" cy="365760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0" y="3840480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 DEFENSE STACK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400800" y="42793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5" name="Text 53"/>
          <p:cNvSpPr/>
          <p:nvPr/>
        </p:nvSpPr>
        <p:spPr>
          <a:xfrm>
            <a:off x="6565392" y="42336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Private Subnet Isolation: 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565392" y="43799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has NO public IP address. It resides in an isolated subnet reachable ONLY by verified internal app servers.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400800" y="47365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8" name="Text 56"/>
          <p:cNvSpPr/>
          <p:nvPr/>
        </p:nvSpPr>
        <p:spPr>
          <a:xfrm>
            <a:off x="6565392" y="46908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IAM Database Authentication: 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565392" y="48371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Short-lived temporary access tokens replace database passwords, preventing credential leaks.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400800" y="51937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1" name="Text 59"/>
          <p:cNvSpPr/>
          <p:nvPr/>
        </p:nvSpPr>
        <p:spPr>
          <a:xfrm>
            <a:off x="6565392" y="51480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KMS Master Encryption Keys: 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565392" y="52943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security module (FIPS 140-2 Level 3) manages encryption keys; data is unreadable if drives are stolen.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400800" y="5650992"/>
            <a:ext cx="109728" cy="1097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4" name="Text 62"/>
          <p:cNvSpPr/>
          <p:nvPr/>
        </p:nvSpPr>
        <p:spPr>
          <a:xfrm>
            <a:off x="6565392" y="5605272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GuardDuty &amp; CloudTrail: 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6565392" y="5751576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Logs every single administrative access and automatically alerts security teams to brute-force attempts.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of 10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SECURITY IMPLEMENTATION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Anti-Hacking Checklist: Mandatory Controls We Implement for Clients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LEVEL DEFENSE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075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057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2039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 Whitelisting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1560" y="2313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100% of public internet traffic; permit only client application IP ranges.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218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200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3182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TLS 1.3 / SSL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51560" y="3456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Mandate encryption in transit with strong ciphers; reject unencrypted plain connections.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4361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343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VPC Peering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1560" y="4599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 database traffic through dedicated private cloud subnets with zero external exposure.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QUERY LEVEL DEFENSE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075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057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039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Security (RLS)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2313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strict tenant data separation at the database engine level.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218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4709160" y="3200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3182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Parameterized Queries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3456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dynamic SQL concatenation; eliminate SQL injection risks at the code boundary.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4361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4343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3776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AES-256 Storage Encryption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4599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hardware-accelerated encryption for data at rest and all daily snapshots.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046720" y="1325880"/>
            <a:ext cx="3413455" cy="4206240"/>
          </a:xfrm>
          <a:prstGeom prst="roundRect">
            <a:avLst>
              <a:gd name="adj" fmla="val 3215"/>
            </a:avLst>
          </a:prstGeom>
          <a:solidFill>
            <a:srgbClr val="F8FAFC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1325880"/>
            <a:ext cx="3413455" cy="457200"/>
          </a:xfrm>
          <a:prstGeom prst="roundRect">
            <a:avLst>
              <a:gd name="adj" fmla="val 24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046720" y="1325880"/>
            <a:ext cx="3413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&amp; IDENTITY DEFENSE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229600" y="1965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66760" y="2075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7" name="Text 45"/>
          <p:cNvSpPr/>
          <p:nvPr/>
        </p:nvSpPr>
        <p:spPr>
          <a:xfrm>
            <a:off x="8366760" y="2057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595360" y="2039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of Least Privilege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366760" y="2313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Applications use read-only or restricted accounts; admin passwords never stored in code.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229600" y="3108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66760" y="3218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/>
          <p:nvPr/>
        </p:nvSpPr>
        <p:spPr>
          <a:xfrm>
            <a:off x="8366760" y="3200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95360" y="3182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Multi-Factor Auth (MFA)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66760" y="3456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Mandatory hardware key / authenticator MFA for all engineers accessing cloud consoles.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229600" y="4251960"/>
            <a:ext cx="3047695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66760" y="4361688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7" name="Text 55"/>
          <p:cNvSpPr/>
          <p:nvPr/>
        </p:nvSpPr>
        <p:spPr>
          <a:xfrm>
            <a:off x="8366760" y="4343400"/>
            <a:ext cx="1645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✔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595360" y="432511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Daily Backups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366760" y="45994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point-in-time recovery copies stored across independent geographic zones.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31520" y="566928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66928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SECURITY GUARANTEE: With these 9 layers configured, client database assets meet SOC 2, HIPAA, and GDPR compliance standards.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of 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COST &amp; CAPACITY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Pricing, Storage &amp; User Limits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28655" cy="475488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828800"/>
                <a:gridCol w="1645920"/>
                <a:gridCol w="1828800"/>
                <a:gridCol w="1858975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Platform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Tier Quota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Active Users (Free)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Paid Price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 in Paid Plan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Production / Scale Cost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 MB (Free Forever)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credit card required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50,000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(5 GB transfer)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(Pro Flat Plan)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 GB included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(+$0.125/GB auto-expand)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$599 / mo (Team Tier)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100k+ MAU, SOC2, SLA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580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MongoDB Atlas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512 MB (M0 Sandbox)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Forever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~15,000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(500 connections)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$9 – $25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(M2 / M5 Shared)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GB – 5 GB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 daily snapshots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$57 – $400+ / mo (Dedicated)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4 TB NVMe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284C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Azure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32 GB Free (12 Months)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100k vCore-sec free/mo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~25,000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(Serverless autosuspend)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$4.99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(Basic Tier - 5 DTU)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GB max (Basic)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GB in Standard ($15/mo)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$75 – $250+ / mo (Standard/vCore)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100 TB on Hyperscale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Amazon AWS (RDS)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GB Free (12 Mos)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750 hrs db.t4g.micro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~20,000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(~80 max connections)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 – $35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(db.t4g.small instance)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GB – 100 GB SSD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(+$0.115/GB storage)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$150 – $350+ / mo (Multi-AZ)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High-availability dual server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AWS DynamoDB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GB Free Forever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200M requests/mo free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100,000+ MAU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(Extreme throughput)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 – $5 / month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(On-Demand Pay-per-use)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GB included free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(+$0.25/GB extra)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Pay-as-you-scale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$1.25 per million writes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of 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TRADE-OFF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Advantages &amp; Disadvantages of Each Platform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Supabase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ADVANTAGES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setup; live in 2 mins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1440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 &amp; File Storage included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credit card needed to start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14400" y="3054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 open-source Postgres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82880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DISADVANTAGES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Free tier pauses after 7 days idle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423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data transfer incurs fees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2044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Less mature than 15-yr clouds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32588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38074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MongoDB Atlas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17830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ADVANTAGES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schema rigidity (JSON)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2359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full-text search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00800" y="27066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 3-node disaster backup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30540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Works across AWS, Azure, GCP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823960" y="182880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90068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DISADVANTAGES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006840" y="20116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Dedicated servers start at $57/mo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006840" y="24231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Inefficient for deep SQL JOINs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9006840" y="28346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High RAM consumption if unindexed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Microsoft Azure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14400" y="4251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ADVANTAGES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144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Cheapest entry plan ($5/mo Basic)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14400" y="4828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Power BI &amp; Office sync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14400" y="51755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Active Directory enterprise auth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14400" y="55229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Serverless pauses off-hours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37560" y="429768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352044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DISADVANTAGES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20440" y="4480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plan capped at 2 GB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520440" y="4892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Complex portal navigation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520440" y="5303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Steep price jump on high vCores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17920" y="3794760"/>
            <a:ext cx="5242255" cy="233172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3794760"/>
            <a:ext cx="5242255" cy="384048"/>
          </a:xfrm>
          <a:prstGeom prst="roundRect">
            <a:avLst>
              <a:gd name="adj" fmla="val 28571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849624"/>
            <a:ext cx="4876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Amazon AWS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400800" y="4251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ADVANTAGES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00800" y="4480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DynamoDB 25 GB free forever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400800" y="4828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99.999% proven global uptime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400800" y="517550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Infinite compute scalability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400800" y="55229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VPC enterprise data fortress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823960" y="4297680"/>
            <a:ext cx="18288" cy="1645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Text 52"/>
          <p:cNvSpPr/>
          <p:nvPr/>
        </p:nvSpPr>
        <p:spPr>
          <a:xfrm>
            <a:off x="9006840" y="4251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DISADVANTAGES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006840" y="44805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Requires DevOps/Cloud engineers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06840" y="48920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Risk of surprise bills (egress/IOPS)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006840" y="5303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built-in Auth or UI dashboard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of 10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CLIENT ADVISORY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Recommendations for Clients (What to Suggest &amp; Why)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356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/ Mobile Startup or MVP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178308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SUPABASE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66160" y="14173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Cuts development time by 40%: Auth, APIs, and File Uploads are built-in.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66160" y="172821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Costs $0 to build and launch; smooth step to $25/mo when traffic grows.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20391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Standard PostgreSQL protects client from vendor lock-in.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578608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0FDF4"/>
          </a:solidFill>
          <a:ln w="15240">
            <a:solidFill>
              <a:srgbClr val="1580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6883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E-Commerce, Store Catalogs &amp; Media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035808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MONGODB ATLAS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267004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 catalogs have changing attributes; JSON documents never require table restructuring.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9809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Built-in search engine eliminates need for costly external Elasticsearch.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32918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3-server replication ensures store checkout never goes offline.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831336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EFF6FF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410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Corporate &amp; .NET Stack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60120" y="4288536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2885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MICROSOFT AZURE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66160" y="39227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connection to Microsoft Active Directory, C# .NET, and Power BI reports.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423367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Cheapest entry plan in the cloud ($4.99/mo Basic tier) for small business tools.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454456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corporate compliance (HIPAA, SOC 2, ISO) out of the box.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084064"/>
            <a:ext cx="10728655" cy="1115568"/>
          </a:xfrm>
          <a:prstGeom prst="roundRect">
            <a:avLst>
              <a:gd name="adj" fmla="val 8197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937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High-Scale Microservices &amp; Heavy IoT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0120" y="5541264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55412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👉 SUGGEST: AMAZON AWS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51755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Handles millions of simultaneous transactions with single-digit millisecond latency.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66160" y="548640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DynamoDB provides 25 GB free forever with zero server maintenance.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6160" y="579729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Global data center network with military-grade isolated VPC security.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of 10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2377440" cy="256032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004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4ED8"/>
                </a:solidFill>
              </a:rPr>
              <a:t>EXECUTIVE PITCH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621792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The 60-Second Client Pitch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28655" cy="13716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630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WINNING RECOMMENDATION FOR 80% OF NEW CLIENTS: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"Start with SUPABASE: It delivers the fastest time-to-market, costs $0 to build, and offers a predictable flat $25/month price with zero vendor lock-in."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Massive Cost Savings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Tier provides 50,000 active users and 500 MB storage at $0. Moving to production is only $25/mo without surprise usage spikes.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891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Fast Delivery Velocity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Authentication, storage buckets, and instant REST APIs come pre-built. Clients save 3 to 6 weeks of custom backend engineering.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46720" y="2926080"/>
            <a:ext cx="3413455" cy="246888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3108960"/>
            <a:ext cx="3047695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3108960"/>
            <a:ext cx="304769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100% Future-Proof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3657600"/>
            <a:ext cx="29562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Powered by pure standard PostgreSQL. If the client expands into an enterprise later, their data moves to AWS or Azure with 1 click.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5623560"/>
            <a:ext cx="10728655" cy="594360"/>
          </a:xfrm>
          <a:prstGeom prst="roundRect">
            <a:avLst>
              <a:gd name="adj" fmla="val 1538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62356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ACTIONABLE NEXT STEP: Deploy a 7-day Proof of Concept (POC) on Supabase Free Tier at zero cost to validate client requirements.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6355080"/>
            <a:ext cx="10728655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6419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| Enterprise Cloud Database Architecture, Security &amp; Pricing Evaluation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628632" y="6419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of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Database Evaluation: Architecture, Security &amp; Pricing</dc:title>
  <dc:subject>PptxGenJS Presentation</dc:subject>
  <dc:creator>Cloud Architecture &amp; Cybersecurity Advisory</dc:creator>
  <cp:lastModifiedBy>Cloud Architecture &amp; Cybersecurity Advisory</cp:lastModifiedBy>
  <cp:revision>1</cp:revision>
  <dcterms:created xsi:type="dcterms:W3CDTF">2026-09-08T08:38:36Z</dcterms:created>
  <dcterms:modified xsi:type="dcterms:W3CDTF">2026-09-08T08:38:36Z</dcterms:modified>
</cp:coreProperties>
</file>