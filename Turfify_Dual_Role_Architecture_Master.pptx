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2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40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98343" y="-790492"/>
            <a:ext cx="3200400" cy="3407797"/>
          </a:xfrm>
          <a:prstGeom prst="ellipse">
            <a:avLst/>
          </a:prstGeom>
          <a:solidFill>
            <a:srgbClr val="13224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ARCHITECTURE BLUEPRINT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Dual-Role Marketplace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Database Systems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a complete separation of concerns between Turf Owners (B2B Management)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Players (B2C Match Discovery) with real-time PostgreSQL synchronization.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7548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4754880"/>
            <a:ext cx="73152" cy="10058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CONSOLE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5166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Slot Engine &amp; Ledger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47548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43400" y="475488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2628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B2C PLAYER 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5166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Booking &amp; Digital Passes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7548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18120" y="475488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0100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5166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 + RLS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FOUNDATIONS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Dual-Role Paradigm: Two Separate Worlds in One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502920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🏟️ The Turf Owner Experience (B2B Partner)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Persona: 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Manager / Turf Facility Entrepreneur
</a:t>
            </a: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Business Goal:
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Maximize slot occupancy rate, reduce ground idle time, record walk-in cash players, and reconcile weekly direct bank settlements.
</a:t>
            </a: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Interaction Flow:
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Checks 16-hour live timetable grid (6 AM - 11 PM)
• Blocks slots for maintenance, heavy rains, or coaching camps
• Logs instant offline walk-ins without creating double-booking errors
• Tracks daily turnover and gross payout amounts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21208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0292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4652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The Player Experience (B2C Consumer)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Persona: 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Recreational Football, Cricket &amp; Badminton Athletes
</a:t>
            </a: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Consumer Goal:
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nearby high-quality turfs, secure the preferred game time slot with friends, split match costs, and arrive hassle-free.
</a:t>
            </a:r>
            <a:r>
              <a:rPr lang="en-US" sz="10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Interaction Flow:
</a:t>
            </a: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Filters grounds by sport, location, price, and customer rating
• Books available green slot with instant online digital advance payment
• Shares squad invite link via WhatsApp with pitch details &amp; directions
• Displays digital QR ground pass at reception for instant entry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Console: Operations, Slots &amp; Revenue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507492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Business Metrics &amp; KPIs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Today's Turnover (₹9,600 live tracking)
• Ground Occupancy Rate (75% of day slots filled)
• Active Grounds status (Pitches A &amp; B operational)
• Player Footfall Counter (42 Online + Walk-in players)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074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Live Slot Matrix Grid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1-hour blocks from morning till night
• Color-coded state machine: Available, Booked, Walk-in
• Instant toggle: 1-click conversion from available to walk-in
• Admin override: Lock slots for ground maintenance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5074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Ground Portfolio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Facility registration: Sport category, pitch dimensions
• Dynamic rate control: Peak night rates vs off-peak rates
• Amenities declaration: Floodlights, bibs, shower, parking
• High-definition court photography gallery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63640" y="3749040"/>
            <a:ext cx="507492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Customer Ledger &amp; Settlement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251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historical booking ledger with contact phones
• Payment channel breakdown (UPI/Card vs Cash Counter)
• Weekly automated bank payout calculations
• Platform fee deduction audit &amp; tax invoices
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EXPERIENCE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Portal: Gamification, Match Countdown &amp; Booking History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6692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54864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The Hero Match Countdown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Anchor of the Player Experience
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player logs in, the very first visual is their imminent game:
</a:t>
            </a: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Countdown Badge: </a:t>
            </a:r>
            <a:r>
              <a:rPr lang="en-US" sz="10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'Next Kickoff in 4 Hours'
</a:t>
            </a: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Venue &amp; Pitch Identifier: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Arena Sports Hub — Pitch A (7v7 Football)
</a:t>
            </a: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Geolocation Link: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Google Maps navigation button directly to the ground
</a:t>
            </a: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Squad WhatsApp Share: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Copies match invite code &amp; kickoff time for team group chat
</a:t>
            </a:r>
            <a:r>
              <a:rPr lang="en-US" sz="1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QR Access Pass: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counter arguments; verified instant check-in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32588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4572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463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Player Stats &amp; Loyalty 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182880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Matches Played: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matches (Ranked top 5% active in Bangalore)
</a:t>
            </a: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Turfify Coins: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450 pts earned (Redeemable for ₹200 off next match)
</a:t>
            </a: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Preferred Sport Tag: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Curates recommendations for FIFA-certified astroturfs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5120" y="3794760"/>
            <a:ext cx="47548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66560" y="3794760"/>
            <a:ext cx="4572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3931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Booked Slots &amp; 1-Click Rebooking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429768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Reservation Ledger: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confirmed, upcoming, and completed slots
</a:t>
            </a: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Self-Service Cancellation: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cancellation compliant with refund cut-off rules
</a:t>
            </a: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Saved Venues Quick-Rebook: </a:t>
            </a: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favorite regular turfs without searching again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Comparison: Turf Owner vs Player Experience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10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728654" cy="4572001"/>
        </p:xfrm>
        <a:graphic>
          <a:graphicData uri="http://schemas.openxmlformats.org/drawingml/2006/table">
            <a:tbl>
              <a:tblPr/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🏟️ Turf Owner Console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⚽ Player / Gamer Portal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Purpose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Maximize slot revenue, manage grounds &amp; operations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Discover venues, book match slots, rally friends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Screen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16-Hour Dynamic Timetable Matrix &amp; Gross Turnover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Hero Kickoff Countdown Card &amp; Venue Map Link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Slot Control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 offline walk-ins, block slots for maintenance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 green slots, pay advance deposit online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Data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revenue, weekly bank payouts, platform commission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Slot receipts, loyalty coins, match pass downloads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Catalog 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 new grounds, set hourly rates &amp; peak pricing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by location, sport, rating, and amenities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3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Security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Restricted to verified turf owners via RLS policies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consumer authentication with personal privacy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Schema &amp; Role Segregation (PostgreSQL)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242316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profiles (auth.users)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identity &amp; dual roles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 (UUID, Primary Key)
• role ('owner' | 'player')
• full_name, phone_number
• business_name (if owner)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29000" y="13258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20440" y="1325880"/>
            <a:ext cx="242316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0" y="1463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turfs (Facilities)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catalogs per owner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id, owner_id (FK profiles.id)
• name, sport_type, location
• price_per_hour (Peak/Off-peak)
• amenities (Array), image_urls
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4231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080" y="1463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slots (Hourly Matrix)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schedule per ground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id, turf_id (FK turfs.id)
• slot_date, start_time, end_time
• status ('available', 'booked', 'blocked')
• is_walkin (Boolean)
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823960" y="132588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915400" y="1325880"/>
            <a:ext cx="242316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052560" y="1463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bookings (Reservations)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transactional ledger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961120" y="210312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B1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id, slot_id, turf_id, player_id
• total_amount, platform_fee
• payment_status ('paid', 'counter')
• entry_pass_code, created_at
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4617720"/>
            <a:ext cx="10728655" cy="1508760"/>
          </a:xfrm>
          <a:prstGeom prst="roundRect">
            <a:avLst>
              <a:gd name="adj" fmla="val 606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" y="4617720"/>
            <a:ext cx="10545775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60120" y="475488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PostgreSQL Row Level Security (RLS) Policy Architecture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5029200"/>
            <a:ext cx="101800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Multi-Tenant Isolation: </a:t>
            </a:r>
            <a:r>
              <a:rPr lang="en-US" sz="900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must NEVER see another facility's revenue or customer phone directory.
</a:t>
            </a: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Owner Policy: </a:t>
            </a: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'owner_manage_own' ON turfs FOR ALL USING (auth.uid() = owner_id);
</a:t>
            </a: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Player Policy: </a:t>
            </a: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'player_read_turfs' ON turfs FOR SELECT USING (true); -- Public ground discovery
</a:t>
            </a: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Booking Policy: </a:t>
            </a: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'player_own_bookings' ON bookings FOR ALL USING (auth.uid() = player_id);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TOPOLOGY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Front-End, Auth Gatekeeper &amp; Backend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PRESENTATION &amp; CLIENT HUBS (DECOUPLED FRONTENDS)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1709928"/>
            <a:ext cx="3200400" cy="886968"/>
          </a:xfrm>
          <a:prstGeom prst="roundRect">
            <a:avLst>
              <a:gd name="adj" fmla="val 6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97280" y="1709928"/>
            <a:ext cx="301752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1764792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Public Portal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(index.html)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Discovery &amp; Booking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709928"/>
            <a:ext cx="3200400" cy="886968"/>
          </a:xfrm>
          <a:prstGeom prst="roundRect">
            <a:avLst>
              <a:gd name="adj" fmla="val 6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1709928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1764792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/ Gamer Hub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(player-dashboard.html)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Passes, Squad Link, Stats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0" y="1709928"/>
            <a:ext cx="3200400" cy="886968"/>
          </a:xfrm>
          <a:prstGeom prst="roundRect">
            <a:avLst>
              <a:gd name="adj" fmla="val 6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1040" y="1709928"/>
            <a:ext cx="301752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21040" y="1764792"/>
            <a:ext cx="3017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Console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(owner-dashboard.html)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Slots, Walk-ins, Ledger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97180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AUTHENTICATION GATEWAY &amp; ROLE ROUTING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5840" y="335584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97280" y="3355848"/>
            <a:ext cx="39319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3410712"/>
            <a:ext cx="3931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Auth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(Phone OTP / Social OAuth)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Cookie &amp; Refresh Token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3355848"/>
            <a:ext cx="5669280" cy="795528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23560" y="3355848"/>
            <a:ext cx="5486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23560" y="3410712"/>
            <a:ext cx="54864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Token Engine &amp; Role Claims Guard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claims.role == 'owner' ➔ /owner-dashboard.html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claims.role == 'player' ➔ /player-dashboard.html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526280"/>
            <a:ext cx="1072865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0120" y="4617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PERSISTENCE, ROW-LEVEL SECURITY &amp; PUB/SUB REALTIME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" y="4910328"/>
            <a:ext cx="3291840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97280" y="4910328"/>
            <a:ext cx="3108960" cy="36576"/>
          </a:xfrm>
          <a:prstGeom prst="rect">
            <a:avLst/>
          </a:prstGeom>
          <a:solidFill>
            <a:srgbClr val="0B13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97280" y="4965192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Database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 multi-tenant data isolation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 | turfs | slots | bookings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4910328"/>
            <a:ext cx="3291840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00600" y="4910328"/>
            <a:ext cx="310896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4965192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WebSocket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slot status broadcast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(Available ➔ Walk-in ➔ Booked)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12480" y="4910328"/>
            <a:ext cx="3291840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503920" y="4910328"/>
            <a:ext cx="310896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03920" y="4965192"/>
            <a:ext cx="3108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&amp; Settlement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photos, entry passes QR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bank payouts pipeline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Conflict Engine: Real-Time Synchronization Lifecycle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23774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Discovery &amp; Selection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DEVICE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14400" y="2148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Status: Available 🟢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Player browses turf catalog and selects Friday 7:00 PM slot for ₹1,200 at Arena Hub.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534924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Initiates checkout intent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56432" y="132588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547872" y="1325880"/>
            <a:ext cx="23774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85032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Optimistic DB Lock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39312" y="1783080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39312" y="1783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GATEKEEPER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39312" y="2148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39312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Status: Holding 🟡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39312" y="26517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applies a temporary 5-minute row lock to prevent other players from grabbing the same slot.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9312" y="534924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39312" y="5349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UPI / Card gateway open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81344" y="132588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72784" y="1325880"/>
            <a:ext cx="23774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9944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Webhook &amp; Commit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64224" y="1783080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64224" y="1783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WEBHOOK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364224" y="2148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64224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Status: Booked 🔴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64224" y="26517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succeeds. Webhook commits transaction into bookings table, updates slot to 'booked', issues Pass QR.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64224" y="534924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64224" y="5349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Revenue ledger credited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06256" y="132588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997696" y="1325880"/>
            <a:ext cx="237744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34856" y="1463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Realtime WebSocket Push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089136" y="1783080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089136" y="1783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 OWNER CONSOLE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089136" y="2148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089136" y="2148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Broadcast: postgres_changes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089136" y="26517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Realtime sends WebSocket event. Owner's screen and other players' views turn slot RED without page reload!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89136" y="534924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089136" y="5349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Zero double-booking error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" y="32004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PLAYBOOK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3570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Playbook: Connecting Turfify to Supabase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362895" y="411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62895" y="411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10545775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Project &amp; Database Provisioning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Supabase project (Free Tier or Shared Postgres prefix)    • Run migration script for tables: profiles, turfs, slots, bookings    • Enable Row Level Security (RLS) on all tables with strict tenant isolation    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532888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2532888"/>
            <a:ext cx="10545775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Authentication &amp; Role Router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44368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Include @supabase/supabase-js CDN script in index.html and dashboards    • Configure custom user metadata: user_metadata: { role: 'owner' | 'player' }    • Direct auth callback redirect to player-dashboard.html or owner-dashboard.html   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739896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" y="3739896"/>
            <a:ext cx="10545775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3877056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Store Engine Adapter Swap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51376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Replace store.js localStorage CRUD functions with Supabase query builder    • turfs: supabase.from('turfs').select('*').eq('owner_id', user.id)    • bookings: supabase.from('bookings').insert([bookingData])   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946904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2960" y="4946904"/>
            <a:ext cx="10545775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5084064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Realtime Subscription Listening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358384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Subscribe to slot changes: supabase.channel('public:slots').on('postgres_changes', ...)    • Automatically re-color slot matrix when offline walk-in is created by owner    • Live revenue counter increment when players pay online    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Dual-Role Platform Architecture &amp; Database Integration Blueprint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59775" y="6446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Sports Marketplace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OUTCOMES &amp; PLATFORM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Strict Dual-Role Separation Drives Turfify Growth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73152" cy="1325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For Turf Owners: Peace of Mind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counter friction and phone chaos. Owners gain an automated revenue ledger, preventing walk-in double booking and ensuring guaranteed weekly bank payouts.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73152" cy="1325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3000" y="3429000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For Players: Zero Hassle Kickoffs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Gamified match tracking, clear countdowns, instant digital entry passes, and WhatsApp team coordination turn match night into a frictionless sports experience.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131D33"/>
          </a:solidFill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4754880"/>
            <a:ext cx="73152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43000" y="4937760"/>
            <a:ext cx="9814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For Engineering: Bulletproof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portals with PostgreSQL Row-Level Security guarantee that consumer accounts and business consoles never compromise data confidentiality or scalability.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2700">
            <a:solidFill>
              <a:srgbClr val="23355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Turfify — Next Generation Sports Marketplace Architecture •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1941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Turfify Tech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Turfify Dual-Role Architecture &amp; Database Systems Blueprint</dc:title>
  <dc:subject>PptxGenJS Presentation</dc:subject>
  <dc:creator>Turfify Sports Engineering</dc:creator>
  <cp:lastModifiedBy>shahul hameed</cp:lastModifiedBy>
  <cp:revision>2</cp:revision>
  <dcterms:created xsi:type="dcterms:W3CDTF">2026-09-09T19:44:48Z</dcterms:created>
  <dcterms:modified xsi:type="dcterms:W3CDTF">2026-09-09T19:48:50Z</dcterms:modified>
</cp:coreProperties>
</file>