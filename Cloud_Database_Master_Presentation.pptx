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8655" cy="5394960"/>
          </a:xfrm>
          <a:prstGeom prst="roundRect">
            <a:avLst>
              <a:gd name="adj" fmla="val 2542"/>
            </a:avLst>
          </a:prstGeom>
          <a:solidFill>
            <a:srgbClr val="131D33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97280"/>
            <a:ext cx="3108960" cy="320040"/>
          </a:xfrm>
          <a:prstGeom prst="roundRect">
            <a:avLst>
              <a:gd name="adj" fmla="val 22857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STRATEGY &amp; SECURITY REVIEW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Database Evaluation: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Architecture, Security &amp; Pricing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29718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Comparative Assessment of Supabase, MongoDB Atlas, Microsoft Azure &amp; AWS for Client Decision Makers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749040"/>
            <a:ext cx="2316175" cy="1371600"/>
          </a:xfrm>
          <a:prstGeom prst="roundRect">
            <a:avLst>
              <a:gd name="adj" fmla="val 8000"/>
            </a:avLst>
          </a:prstGeom>
          <a:solidFill>
            <a:srgbClr val="0A1020"/>
          </a:solidFill>
          <a:ln w="19050">
            <a:solidFill>
              <a:srgbClr val="3ECF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886200"/>
            <a:ext cx="2316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206240"/>
            <a:ext cx="23161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C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BaaS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4526280"/>
            <a:ext cx="2041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Auth, Storage &amp; RLS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0" y="3749040"/>
            <a:ext cx="2316175" cy="1371600"/>
          </a:xfrm>
          <a:prstGeom prst="roundRect">
            <a:avLst>
              <a:gd name="adj" fmla="val 8000"/>
            </a:avLst>
          </a:prstGeom>
          <a:solidFill>
            <a:srgbClr val="0A1020"/>
          </a:solidFill>
          <a:ln w="19050">
            <a:solidFill>
              <a:srgbClr val="00ED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886200"/>
            <a:ext cx="2316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Atlas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4206240"/>
            <a:ext cx="23161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D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NoSQL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94760" y="4526280"/>
            <a:ext cx="2041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Flexible JSON &amp; Multi-Cloud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7920" y="3749040"/>
            <a:ext cx="2316175" cy="1371600"/>
          </a:xfrm>
          <a:prstGeom prst="roundRect">
            <a:avLst>
              <a:gd name="adj" fmla="val 8000"/>
            </a:avLst>
          </a:prstGeom>
          <a:solidFill>
            <a:srgbClr val="0A1020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886200"/>
            <a:ext cx="2316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Azure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4206240"/>
            <a:ext cx="23161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SQL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4526280"/>
            <a:ext cx="2041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Directory &amp; Power BI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778240" y="3749040"/>
            <a:ext cx="2316175" cy="1371600"/>
          </a:xfrm>
          <a:prstGeom prst="roundRect">
            <a:avLst>
              <a:gd name="adj" fmla="val 8000"/>
            </a:avLst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3886200"/>
            <a:ext cx="2316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AWS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78240" y="4206240"/>
            <a:ext cx="23161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Infrastructure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4526280"/>
            <a:ext cx="2041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Isolated VPC &amp; DynamoDB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97280" y="557784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Strategic Advisory Edition | Ready for Client Presentation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28600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Understanding the 4 Database Platforms at a Glance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499055" cy="4846320"/>
          </a:xfrm>
          <a:prstGeom prst="roundRect">
            <a:avLst>
              <a:gd name="adj" fmla="val 4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2499055" cy="777240"/>
          </a:xfrm>
          <a:prstGeom prst="roundRect">
            <a:avLst>
              <a:gd name="adj" fmla="val 1411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17320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Supabase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737360"/>
            <a:ext cx="22247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All-in-One Rocket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68680" y="22402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313432"/>
            <a:ext cx="204185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Real PostgreSQL engine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68680" y="3172968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246120"/>
            <a:ext cx="204185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TOOLS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Logins, Storage &amp; instant APIs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8680" y="4105656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178808"/>
            <a:ext cx="204185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SAVINGS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Cuts backend build time by 40%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68680" y="5038344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111496"/>
            <a:ext cx="204185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LOCK-IN RISK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Zero; standard SQL export anytime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74720" y="1325880"/>
            <a:ext cx="2499055" cy="4846320"/>
          </a:xfrm>
          <a:prstGeom prst="roundRect">
            <a:avLst>
              <a:gd name="adj" fmla="val 4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325880"/>
            <a:ext cx="2499055" cy="777240"/>
          </a:xfrm>
          <a:prstGeom prst="roundRect">
            <a:avLst>
              <a:gd name="adj" fmla="val 1411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1417320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MongoDB Atlas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11880" y="1737360"/>
            <a:ext cx="22247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Flexible Filing Cabinet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11880" y="22402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2313432"/>
            <a:ext cx="204185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NoSQL (flexible JSON)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11880" y="3172968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3246120"/>
            <a:ext cx="204185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TOOLS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Full-text search &amp; 3-node cluster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11880" y="4105656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4178808"/>
            <a:ext cx="204185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AGILITY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product attributes easily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11880" y="5038344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5111496"/>
            <a:ext cx="204185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on AWS, Azure, and Google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217920" y="1325880"/>
            <a:ext cx="2499055" cy="4846320"/>
          </a:xfrm>
          <a:prstGeom prst="roundRect">
            <a:avLst>
              <a:gd name="adj" fmla="val 4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1325880"/>
            <a:ext cx="2499055" cy="777240"/>
          </a:xfrm>
          <a:prstGeom prst="roundRect">
            <a:avLst>
              <a:gd name="adj" fmla="val 14118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1417320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Microsoft Azure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1737360"/>
            <a:ext cx="22247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Corporate Suite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55080" y="22402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2313432"/>
            <a:ext cx="204185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SQL &amp; PostgreSQL Flexible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355080" y="3172968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246120"/>
            <a:ext cx="204185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TOOLS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BI, Excel &amp; Office 365 sync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355080" y="4105656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4178808"/>
            <a:ext cx="204185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ENTRY COST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Cheapest entry tier ($5/mo Basic)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355080" y="5038344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5111496"/>
            <a:ext cx="204185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Directory single sign-on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961120" y="1325880"/>
            <a:ext cx="2499055" cy="4846320"/>
          </a:xfrm>
          <a:prstGeom prst="roundRect">
            <a:avLst>
              <a:gd name="adj" fmla="val 4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61120" y="1325880"/>
            <a:ext cx="2499055" cy="777240"/>
          </a:xfrm>
          <a:prstGeom prst="roundRect">
            <a:avLst>
              <a:gd name="adj" fmla="val 1411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98280" y="1417320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Amazon AWS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098280" y="1737360"/>
            <a:ext cx="22247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Industrial Powerhouse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098280" y="22402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89720" y="2313432"/>
            <a:ext cx="204185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RDS &amp; DynamoDB (NoSQL)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098280" y="3172968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89720" y="3246120"/>
            <a:ext cx="204185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TOOLS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Multi-Zone auto failover &amp; VPC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9098280" y="4105656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89720" y="4178808"/>
            <a:ext cx="204185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CAPACITY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DynamoDB: 25 GB free forever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098280" y="5038344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89720" y="5111496"/>
            <a:ext cx="204185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LIMIT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Handles millions of transactions/sec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53"/>
          <p:cNvSpPr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Enterprise Cloud Database Architecture &amp; Security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of 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28600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Architecture: How Client Apps Connect to Each Database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137160" cy="11155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399032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SUPABASE ARCHITECTURE (Direct &amp; All-in-One Engine)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1673352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9164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/ Mobile App
</a:t>
            </a:r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Interface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37560" y="167335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94760" y="1673352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69164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Kong API Gateway
</a:t>
            </a:r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+ Storage + REST API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0" y="167335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0" y="1673352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691640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Engine
</a:t>
            </a:r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Row-Level Security (RLS)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05840" y="2185416"/>
            <a:ext cx="10241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BENEFIT: No separate backend servers needed. Client communicates directly with secured API.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520" y="2578608"/>
            <a:ext cx="10728655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578608"/>
            <a:ext cx="137160" cy="11155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651760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MONGODB ATLAS ARCHITECTURE (Multi-Cloud Auto-Replication)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05840" y="292608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294436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/ Mobile App
</a:t>
            </a:r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Interface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29260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94760" y="292608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294436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Server API
</a:t>
            </a:r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/ Python / Java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0" y="29260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72400" y="292608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2944368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3-Node Replica Set
</a:t>
            </a:r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auto-copied across 3 nodes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05840" y="3438144"/>
            <a:ext cx="10241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BENEFIT: 100% High Availability. If one physical server crashes, another takes over in 2 seconds.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1520" y="3831336"/>
            <a:ext cx="10728655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3831336"/>
            <a:ext cx="137160" cy="111556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3904488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MICROSOFT AZURE ARCHITECTURE (Corporate Protected Network)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05840" y="4178808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419709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Client
</a:t>
            </a:r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/ Office 365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37560" y="417880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794760" y="4178808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4197096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Entra ID
</a:t>
            </a:r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Firewall + Active Directory MFA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315200" y="417880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772400" y="4178808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0" y="4197096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SQL Database
</a:t>
            </a:r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sync with Power BI &amp; Excel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05840" y="4690872"/>
            <a:ext cx="10241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BENEFIT: Tied directly into corporate employee single sign-on logins and automated executive reporting.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31520" y="5084064"/>
            <a:ext cx="10728655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" y="5084064"/>
            <a:ext cx="137160" cy="11155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4" name="Text 42"/>
          <p:cNvSpPr/>
          <p:nvPr/>
        </p:nvSpPr>
        <p:spPr>
          <a:xfrm>
            <a:off x="1005840" y="5157216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AMAZON AWS ARCHITECTURE (Enterprise Fortress &amp; Extreme Scale)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05840" y="5431536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544982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High-Traffic App
</a:t>
            </a:r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Millions of Visitors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337560" y="543153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794760" y="5431536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94760" y="5449824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VPC Gateway &amp; IAM
</a:t>
            </a:r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Subnet + Security Groups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315200" y="543153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772400" y="5431536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0" y="5449824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RDS / Dynamo
</a:t>
            </a:r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SSD High IOPS Storage Cluster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05840" y="5943600"/>
            <a:ext cx="10241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BENEFIT: Maximum isolated network security. The database has no public IP and is invisible to the internet.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53"/>
          <p:cNvSpPr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Enterprise Cloud Database Architecture &amp; Security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of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28600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CYBERSECURITY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Security in the Hacker's Eye: How Cyberattacks Happen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5242255" cy="384048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80744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SQL Injection &amp; Data Tampering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4876495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92808"/>
            <a:ext cx="469361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HACKERS ATTACK: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Attackers inject malicious query commands into input boxes or APIs to dump or delete full database tables.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4400" y="2926080"/>
            <a:ext cx="4876495" cy="594360"/>
          </a:xfrm>
          <a:prstGeom prst="roundRect">
            <a:avLst>
              <a:gd name="adj" fmla="val 1230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953512"/>
            <a:ext cx="469361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DANGER LEVEL: CRITICAL | Exfiltration of user passwords, database drop, and massive compliance fines.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FECA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325880"/>
            <a:ext cx="5242255" cy="384048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380744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Port Scanning &amp; Public Exposure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4876495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892808"/>
            <a:ext cx="469361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HACKERS ATTACK: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scanner bots probe public IPs on ports 5432 (Postgres), 3306 (MySQL), and 27017 (Mongo).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0" y="2926080"/>
            <a:ext cx="4876495" cy="594360"/>
          </a:xfrm>
          <a:prstGeom prst="roundRect">
            <a:avLst>
              <a:gd name="adj" fmla="val 1230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953512"/>
            <a:ext cx="469361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DANGER LEVEL: CRITICAL | Ransomware attackers lock unsecured servers with weak passwords in minutes.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379476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FECA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794760"/>
            <a:ext cx="5242255" cy="384048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849624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Broken Authorization &amp; Leaked Keys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4297680"/>
            <a:ext cx="4876495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361688"/>
            <a:ext cx="469361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HACKERS ATTACK: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Hackers reverse-engineer mobile or web frontend JavaScript to extract hardcoded database API secrets.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4400" y="5394960"/>
            <a:ext cx="4876495" cy="594360"/>
          </a:xfrm>
          <a:prstGeom prst="roundRect">
            <a:avLst>
              <a:gd name="adj" fmla="val 1230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422392"/>
            <a:ext cx="469361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DANGER LEVEL: HIGH | Rogue actors bypass the application UI and read sensitive customer data directly.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17920" y="379476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FECA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794760"/>
            <a:ext cx="5242255" cy="384048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849624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Network Man-in-the-Middle (Eavesdropping)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4297680"/>
            <a:ext cx="4876495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361688"/>
            <a:ext cx="469361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HACKERS ATTACK: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Unencrypted network packets traveling between apps and cloud databases are intercepted on public WiFi.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00800" y="5394960"/>
            <a:ext cx="4876495" cy="594360"/>
          </a:xfrm>
          <a:prstGeom prst="roundRect">
            <a:avLst>
              <a:gd name="adj" fmla="val 1230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5422392"/>
            <a:ext cx="469361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DANGER LEVEL: HIGH | Passwords, credit cards, and confidential PII are stolen in transit.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Enterprise Cloud Database Architecture &amp; Security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of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28600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 DEFENSE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Anti-Hacking Defenses: How Each Platform Secures Client Data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5242255" cy="365760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71600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SUPABASE DEFENSE STACK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764792"/>
            <a:ext cx="4876495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Row-Level Security (RLS): </a:t>
            </a:r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engine prevents User A from querying User B's rows, even if API is breached.
</a:t>
            </a:r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JWT Token Signatures: </a:t>
            </a:r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database query requires a cryptographically signed JSON Web Token; no anonymous leaks.
</a:t>
            </a:r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Zero Direct Port Exposure: </a:t>
            </a:r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port 5432 is shielded; all traffic routes through encrypted Kong HTTPS Gateway.
</a:t>
            </a:r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AES-256 Storage Encryption: </a:t>
            </a:r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files, WAL logs, and file storage buckets are encrypted at rest with AES-256.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325880"/>
            <a:ext cx="5242255" cy="365760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371600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MONGODB ATLAS DEFENSE STACK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0" y="1764792"/>
            <a:ext cx="4876495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Client-Side Field Encryption (CSFLE): </a:t>
            </a:r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PII and credit cards encrypted in app memory before network transit; admins cannot view plaintext.
</a:t>
            </a:r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Default IP Whitelisting: </a:t>
            </a:r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blocks 100% of external connection requests unless IP address is explicitly whitelisted.
</a:t>
            </a:r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Enforced TLS 1.3 Encryption: </a:t>
            </a:r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connections must use modern TLS 1.3 ciphers; unencrypted connections dropped instantly.
</a:t>
            </a:r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Role-Based Access Control (RBAC): </a:t>
            </a:r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user permissions ensuring applications only access their authorized collections.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794760"/>
            <a:ext cx="5242255" cy="365760"/>
          </a:xfrm>
          <a:prstGeom prst="roundRect">
            <a:avLst>
              <a:gd name="adj" fmla="val 3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840480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MICROSOFT AZURE DEFENSE STACK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4233672"/>
            <a:ext cx="4876495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Defender for Cloud AI: </a:t>
            </a:r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AI behavioral monitoring flags anomalous login locations, query dumps, and SQL injections.
</a:t>
            </a:r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Entra ID (Active Directory): </a:t>
            </a:r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hardcoded DB passwords using company single-sign-on and Multi-Factor Auth (MFA).
</a:t>
            </a:r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Always Encrypted Tech: </a:t>
            </a:r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Protects sensitive data at rest, in transit, and even inside server memory chips from virtualization hacks.
</a:t>
            </a:r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Azure Private Link: </a:t>
            </a:r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Keeps all database traffic exclusively inside Microsoft's private global fiber network.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379476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794760"/>
            <a:ext cx="5242255" cy="365760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840480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AMAZON AWS DEFENSE STACK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4233672"/>
            <a:ext cx="4876495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VPC Subnet Isolation: </a:t>
            </a:r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has NO public IP address; sits in a private subnet reachable ONLY by verified app servers.
</a:t>
            </a:r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IAM Database Authentication: </a:t>
            </a:r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Short-lived temporary access tokens replace static passwords, completely eliminating password theft.
</a:t>
            </a:r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AWS KMS Hardware Modules: </a:t>
            </a:r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FIPS 140-2 Level 3 hardware security modules manage rotating encryption keys automatically.
</a:t>
            </a:r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GuardDuty &amp; CloudTrail: </a:t>
            </a:r>
            <a:pPr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every single administrative access attempt and triggers automated lockdown on brute-force.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Enterprise Cloud Database Architecture &amp; Security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of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28600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IMPLEMENTATION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Anti-Hacking Checklist: Mandatory Security Controls We Implement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413455" cy="4206240"/>
          </a:xfrm>
          <a:prstGeom prst="roundRect">
            <a:avLst>
              <a:gd name="adj" fmla="val 3215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3413455" cy="457200"/>
          </a:xfrm>
          <a:prstGeom prst="roundRect">
            <a:avLst>
              <a:gd name="adj" fmla="val 24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3413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NETWORK LEVEL DEFENSE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965960"/>
            <a:ext cx="3047695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057400"/>
            <a:ext cx="27733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Strict IP Whitelisting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100% of public internet; permit only client app server IP addresses.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3047695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200400"/>
            <a:ext cx="27733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Enforced TLS 1.3 / SSL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Mandate encrypted transit with modern ciphers; reject unencrypted connections.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4251960"/>
            <a:ext cx="3047695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343400"/>
            <a:ext cx="27733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Private VPC Peering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database traffic through dedicated private subnets with zero external exposure.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1325880"/>
            <a:ext cx="3413455" cy="4206240"/>
          </a:xfrm>
          <a:prstGeom prst="roundRect">
            <a:avLst>
              <a:gd name="adj" fmla="val 3215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325880"/>
            <a:ext cx="3413455" cy="457200"/>
          </a:xfrm>
          <a:prstGeom prst="roundRect">
            <a:avLst>
              <a:gd name="adj" fmla="val 24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325880"/>
            <a:ext cx="3413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DATA &amp; QUERY LEVEL DEFENSE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965960"/>
            <a:ext cx="3047695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057400"/>
            <a:ext cx="27733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Row-Level Security (RLS)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strict tenant data separation directly inside the database engine.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3108960"/>
            <a:ext cx="3047695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200400"/>
            <a:ext cx="27733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Parameterized Queries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dynamic SQL concatenation; completely eliminate SQL injection vulnerability.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4251960"/>
            <a:ext cx="3047695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4343400"/>
            <a:ext cx="27733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AES-256 Storage Encryption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 hardware-accelerated encryption for data at rest and all backups.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0" y="1325880"/>
            <a:ext cx="3413455" cy="4206240"/>
          </a:xfrm>
          <a:prstGeom prst="roundRect">
            <a:avLst>
              <a:gd name="adj" fmla="val 3215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1325880"/>
            <a:ext cx="3413455" cy="457200"/>
          </a:xfrm>
          <a:prstGeom prst="roundRect">
            <a:avLst>
              <a:gd name="adj" fmla="val 24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1325880"/>
            <a:ext cx="3413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ACCESS &amp; IDENTITY DEFENSE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0" y="1965960"/>
            <a:ext cx="3047695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2057400"/>
            <a:ext cx="27733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Least Privilege Principle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 use restricted accounts; master passwords are never stored in source code.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229600" y="3108960"/>
            <a:ext cx="3047695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3200400"/>
            <a:ext cx="27733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Multi-Factor Auth (MFA)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Mandatory hardware key / authenticator MFA for all engineers accessing consoles.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29600" y="4251960"/>
            <a:ext cx="3047695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4343400"/>
            <a:ext cx="27733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Automated Daily Backups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Encrypted point-in-time recovery copies stored across separate geographic zones.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1520" y="5669280"/>
            <a:ext cx="10728655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SECURITY GUARANTEE: With these 9 controls configured, database assets fully satisfy SOC 2, HIPAA, and GDPR standards.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Enterprise Cloud Database Architecture &amp; Security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of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28600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&amp; CAPACITY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Side-by-Side Pricing, Storage &amp; Active User Limits</a:t>
            </a:r>
            <a:endParaRPr lang="en-US" sz="2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0728655" cy="4754880"/>
        </p:xfrm>
        <a:graphic>
          <a:graphicData uri="http://schemas.openxmlformats.org/drawingml/2006/table">
            <a:tbl>
              <a:tblPr/>
              <a:tblGrid>
                <a:gridCol w="1645920"/>
                <a:gridCol w="1920240"/>
                <a:gridCol w="1828800"/>
                <a:gridCol w="1645920"/>
                <a:gridCol w="1828800"/>
                <a:gridCol w="185897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Platform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 Tier Quota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 Users (Free)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Entry Paid Price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Storage in Paid Plan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Production / Scale Cost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Supabase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500 MB (Free Forever)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credit card required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 to 50,000 MAU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(5 GB transfer included)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$25 / month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(Pro Flat Plan)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 GB included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(+$0.125/GB auto-expand)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$599 / mo (Team Tier)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100k+ MAU, SOC2, SLA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MongoDB Atlas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512 MB (M0 Sandbox)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 Forever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~15,000 MAU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(500 connections)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$9 – $25 / month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(M2 / M5 Shared)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GB – 5 GB SSD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 daily snapshots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$57 – $400+ / mo (Dedicated)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 to 4 TB NVMe SSD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Azure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 GB Free (12 Months)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100k vCore-sec free/mo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~25,000 MAU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(Serverless autosuspend)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$4.99 / month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(Basic Tier - 5 DTU)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GB max (Basic)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250 GB in Standard ($15/mo)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$75 – $250+ / mo (Standard/vCore)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 to 100 TB on Hyperscale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Amazon AWS (RDS)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 GB Free (12 Mos)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750 hrs db.t4g.micro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~20,000 MAU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(~80 max connections)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$15 – $35 / month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(db.t4g.small instance)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 GB – 100 GB SSD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(+$0.115/GB storage)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$150 – $350+ / mo (Multi-AZ)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High-availability dual server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AWS DynamoDB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 GB Free Forever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200M requests/mo free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100,000+ MAU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(Extreme throughput)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 – $5 / month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(On-Demand Pay-per-use)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 GB included free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(+$0.25/GB extra)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Pay-as-you-scale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$1.25 per million writes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Enterprise Cloud Database Architecture &amp; Security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of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28600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TRADE-OFF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Advantages &amp; Disadvantages of Each Platform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5242255" cy="384048"/>
          </a:xfrm>
          <a:prstGeom prst="roundRect">
            <a:avLst>
              <a:gd name="adj" fmla="val 2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80744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Supabase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ADVANTAGES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setup; live in 2 mins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Auth &amp; File Storage included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credit card needed to start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 open-source Postgres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18288" cy="1645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78308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DISADVANTAGES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Free tier pauses after 7 days idle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 data transfer incurs fees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Less mature than 15-yr clouds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25880"/>
            <a:ext cx="5242255" cy="384048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380744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MongoDB Atlas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178308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ADVANTAGES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schema rigidity (JSON)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Built-in full-text search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 3-node disaster backup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Works across AWS, Azure, GCP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823960" y="1828800"/>
            <a:ext cx="18288" cy="1645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Text 15"/>
          <p:cNvSpPr/>
          <p:nvPr/>
        </p:nvSpPr>
        <p:spPr>
          <a:xfrm>
            <a:off x="9006840" y="178308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DISADVANTAGES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Dedicated servers start at $57/mo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Inefficient for deep SQL JOINs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 RAM consumption if unindexed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79476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794760"/>
            <a:ext cx="5242255" cy="384048"/>
          </a:xfrm>
          <a:prstGeom prst="roundRect">
            <a:avLst>
              <a:gd name="adj" fmla="val 28571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849624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Microsoft Azure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42519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ADVANTAGES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Cheapest entry plan ($5/mo Basic)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Native Power BI &amp; Office sync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Active Directory enterprise auth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Serverless pauses off-hours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4297680"/>
            <a:ext cx="18288" cy="1645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425196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DISADVANTAGES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Basic plan capped at 2 GB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Complex portal navigation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Steep price jump on high vCores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379476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794760"/>
            <a:ext cx="5242255" cy="384048"/>
          </a:xfrm>
          <a:prstGeom prst="roundRect">
            <a:avLst>
              <a:gd name="adj" fmla="val 2857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849624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Amazon AWS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0" y="42519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ADVANTAGES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DynamoDB 25 GB free forever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99.999% proven global uptime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Infinite compute scalability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VPC enterprise data fortress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823960" y="4297680"/>
            <a:ext cx="18288" cy="1645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Text 27"/>
          <p:cNvSpPr/>
          <p:nvPr/>
        </p:nvSpPr>
        <p:spPr>
          <a:xfrm>
            <a:off x="9006840" y="425196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DISADVANTAGES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Requires DevOps/Cloud engineers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Risk of surprise bills (egress/IOPS)
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built-in Auth or UI dashboard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Enterprise Cloud Database Architecture &amp; Security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 of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28600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ADVISORY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Recommendations for Clients (What to Suggest &amp; Why)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1115568"/>
          </a:xfrm>
          <a:prstGeom prst="roundRect">
            <a:avLst>
              <a:gd name="adj" fmla="val 8197"/>
            </a:avLst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356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/ Mobile Startup or MVP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" y="1801368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013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👉 SUGGEST: SUPABASE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417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Cuts development time by 40%: User Auth, File Storage, and APIs are built-in.
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Costs $0 to build and test; smooth step to flat $25/mo when traffic grows.
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Standard PostgreSQL protects client from vendor lock-in.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731520" y="2578608"/>
            <a:ext cx="10728655" cy="1115568"/>
          </a:xfrm>
          <a:prstGeom prst="roundRect">
            <a:avLst>
              <a:gd name="adj" fmla="val 8197"/>
            </a:avLst>
          </a:prstGeom>
          <a:solidFill>
            <a:srgbClr val="F0FDF4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8833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E-Commerce, Store Catalogs &amp; Media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3054096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05409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👉 SUGGEST: MONGODB ATLAS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2670048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Product catalogs have changing attributes; JSON documents never require table restructuring.
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Built-in search engine eliminates need for costly external Elasticsearch.
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Automated 3-server replication ensures store checkout never goes offline.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31520" y="3831336"/>
            <a:ext cx="10728655" cy="1115568"/>
          </a:xfrm>
          <a:prstGeom prst="roundRect">
            <a:avLst>
              <a:gd name="adj" fmla="val 8197"/>
            </a:avLst>
          </a:prstGeom>
          <a:solidFill>
            <a:srgbClr val="F0F9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94106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Corporate &amp; .NET Stack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" y="4306824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30682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👉 SUGGEST: MICROSOFT AZURE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3922776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Direct connection to Microsoft Active Directory, C# .NET, and Power BI reports.
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Cheapest entry plan in the cloud ($4.99/mo Basic tier) for small business tools.
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Full corporate compliance (HIPAA, SOC 2, ISO) out of the box.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31520" y="5084064"/>
            <a:ext cx="10728655" cy="1115568"/>
          </a:xfrm>
          <a:prstGeom prst="roundRect">
            <a:avLst>
              <a:gd name="adj" fmla="val 8197"/>
            </a:avLst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1937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High-Scale Microservices &amp; Heavy IoT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0120" y="5559552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5595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👉 SUGGEST: AMAZON AWS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5175504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Handles millions of simultaneous transactions with single-digit millisecond latency.
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DynamoDB provides 25 GB free forever with zero server maintenance.
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Global data center network with military-grade isolated VPC security.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Enterprise Cloud Database Architecture &amp; Security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 of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28600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PITCH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Summary: The 60-Second Client Pitch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13716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101800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WINNING RECOMMENDATION FOR 80% OF NEW CLIENT PROJECTS:
</a:t>
            </a:r>
            <a:pPr indent="0" marL="0">
              <a:lnSpc>
                <a:spcPct val="120000"/>
              </a:lnSpc>
              <a:buNone/>
            </a:pPr>
            <a:r>
              <a:rPr lang="en-US" sz="1350" b="1" i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"Start with SUPABASE: It delivers the fastest time-to-market, costs $0 to build, and offers a predictable flat $25/month price with zero vendor lock-in."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3413455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108960"/>
            <a:ext cx="3047695" cy="384048"/>
          </a:xfrm>
          <a:prstGeom prst="roundRect">
            <a:avLst>
              <a:gd name="adj" fmla="val 1904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08960"/>
            <a:ext cx="30476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Massive Cost Savings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3657600"/>
            <a:ext cx="295625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Tier provides 50,000 active users and 500 MB storage at $0. Moving to production is only $25/mo without surprise usage spikes.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2926080"/>
            <a:ext cx="3413455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3108960"/>
            <a:ext cx="3047695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108960"/>
            <a:ext cx="30476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Fast Delivery Velocity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3657600"/>
            <a:ext cx="295625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Authentication, storage buckets, and instant REST APIs come pre-built. Clients save 3 to 6 weeks of custom backend engineering.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0" y="2926080"/>
            <a:ext cx="3413455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3108960"/>
            <a:ext cx="3047695" cy="384048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3108960"/>
            <a:ext cx="30476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100% Future-Proof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75320" y="3657600"/>
            <a:ext cx="295625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Powered by pure standard PostgreSQL. If the client expands into an enterprise later, their data moves to AWS or Azure with 1 click.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5623560"/>
            <a:ext cx="10728655" cy="594360"/>
          </a:xfrm>
          <a:prstGeom prst="roundRect">
            <a:avLst>
              <a:gd name="adj" fmla="val 15385"/>
            </a:avLst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623560"/>
            <a:ext cx="103628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ACTIONABLE NEXT STEP: Deploy a 7-day Proof of Concept (POC) on Supabase Free Tier at zero cost to validate client requirements.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Enterprise Cloud Database Architecture &amp; Security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 of 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Enterprise Technology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Database Strategy &amp; Anti-Hacking Security Review</dc:title>
  <dc:subject>PptxGenJS Presentation</dc:subject>
  <dc:creator>Cloud Architecture Advisory</dc:creator>
  <cp:lastModifiedBy>Cloud Architecture Advisory</cp:lastModifiedBy>
  <cp:revision>1</cp:revision>
  <dcterms:created xsi:type="dcterms:W3CDTF">2026-09-08T08:48:27Z</dcterms:created>
  <dcterms:modified xsi:type="dcterms:W3CDTF">2026-09-08T08:48:27Z</dcterms:modified>
</cp:coreProperties>
</file>