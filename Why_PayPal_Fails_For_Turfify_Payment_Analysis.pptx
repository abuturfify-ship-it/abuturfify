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05840"/>
            <a:ext cx="3840480" cy="347472"/>
          </a:xfrm>
          <a:prstGeom prst="roundRect">
            <a:avLst>
              <a:gd name="adj" fmla="val 21053"/>
            </a:avLst>
          </a:prstGeom>
          <a:solidFill>
            <a:srgbClr val="002244"/>
          </a:solidFill>
          <a:ln w="19050">
            <a:solidFill>
              <a:srgbClr val="0079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EVALUATION: DOMESTIC MARKETPLACE REPORT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72865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PayPal Fails For Turfify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Indian Sports Marketplaces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Architectural &amp; Regulatory Analysis: RBI Domestic Shutdown (2021), Zero UPI Integration,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Exorbitant 5% Transaction Fees, and the Superiority of Razorpay Route for Hyper-Local Commerce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2545004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4480560"/>
            <a:ext cx="2270684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663440"/>
            <a:ext cx="217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 STATUS (APRIL 2021)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2179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Domestic Ops Shut Down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53949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Cross-border export only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59404" y="4480560"/>
            <a:ext cx="2545004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6564" y="4480560"/>
            <a:ext cx="2270684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642284" y="4663440"/>
            <a:ext cx="217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INTENT INTEGRATION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42284" y="4937760"/>
            <a:ext cx="2179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 Support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42284" y="53949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GPay / PhonePe / Paytm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7288" y="4480560"/>
            <a:ext cx="2545004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4448" y="4480560"/>
            <a:ext cx="2270684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370168" y="4663440"/>
            <a:ext cx="217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TAKE-RATE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70168" y="4937760"/>
            <a:ext cx="2179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4.4% - 5.0% + Fixed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70168" y="53949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Destroys platform margin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171" y="4480560"/>
            <a:ext cx="2545004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331" y="4480560"/>
            <a:ext cx="2270684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051" y="4663440"/>
            <a:ext cx="217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ENGINE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098051" y="4937760"/>
            <a:ext cx="2179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/ Cashfree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98051" y="53949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INR, Splits &amp; UPI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Architecture Series • Specialized Addendum: Global Gateway Feasibility Study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743200" cy="27432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BREAKDOWN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Five Fatal Roadblocks Disqualifying PayPal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/ 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25880"/>
            <a:ext cx="91440" cy="8046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1490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1435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Legally Blocked for Domestic INR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1709928"/>
            <a:ext cx="9722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April 2021, PayPal permanently shuttered its domestic Indian payment aggregation business under RBI regulatory constraints. It is legally barred from handling peer-to-peer or domestic INR payments.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221992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221992"/>
            <a:ext cx="91440" cy="8046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23865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386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2331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UPI Ecosystem Support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2606040"/>
            <a:ext cx="9722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85% of Bangalore sports bookings happen via UPI (GPay, PhonePe, Paytm). PayPal has NO native UPI Intent, meaning Indian players cannot scan and pay in 5 seconds.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118104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118104"/>
            <a:ext cx="91440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32826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3227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Exorbitant 5% Transaction Fees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3502152"/>
            <a:ext cx="9722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Domestic gateways charge ~2%. PayPal levies 4.4% to 5.0% plus flat currency conversion margins, which completely wipes out Turfify's entire 10% platform take-rate.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4014216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014216"/>
            <a:ext cx="91440" cy="8046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Shape 26"/>
          <p:cNvSpPr/>
          <p:nvPr/>
        </p:nvSpPr>
        <p:spPr>
          <a:xfrm>
            <a:off x="960120" y="4178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54480" y="4123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Marketplace Payout Splits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54480" y="4398264"/>
            <a:ext cx="9722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lacks an Indian vendor routing engine (like Razorpay Route). It cannot automatically split 90% to the turf owner's Indian current account with automated TDS 194-O deduction.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1520" y="4910328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4910328"/>
            <a:ext cx="91440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Shape 32"/>
          <p:cNvSpPr/>
          <p:nvPr/>
        </p:nvSpPr>
        <p:spPr>
          <a:xfrm>
            <a:off x="960120" y="5074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54480" y="5020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 Friction &amp; Checkout Drop-off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54480" y="5294376"/>
            <a:ext cx="9722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forces users to either create a PayPal login or enter credit card credentials. This alienates mobile-first millennial and Gen-Z turf players who only carry their smartphones.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1520" y="5943600"/>
            <a:ext cx="10728655" cy="411480"/>
          </a:xfrm>
          <a:prstGeom prst="roundRect">
            <a:avLst>
              <a:gd name="adj" fmla="val 13333"/>
            </a:avLst>
          </a:prstGeom>
          <a:solidFill>
            <a:srgbClr val="1E1B4B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594360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VERDICT: PayPal is not merely 'inferior' for Turfify — it is technically and legally INCOMPATIBLE for domestic Indian bookings.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Payment Gateway Comparative Study: Why PayPal Fails for Domestic Indian Marketplaces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34095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Architecture Advisory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743200" cy="27432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LANDSCAPE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Regulatory Reality: PayPal Shuts Domestic India (2021)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/ 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1206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493776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April 2021 RBI Policy Shift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1828800"/>
            <a:ext cx="4663440" cy="100584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9202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PAYPAL INDIA STATEMENT (FEB 2021):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97280" y="217627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"From 1 April 2021, we will focus all our efforts on delivering more international sales for Indian businesses, and shift focus away from our domestic products in India."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3017520"/>
            <a:ext cx="4663440" cy="713232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0906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Pre-2021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33101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attempted domestic checkout partnerships with BookMyShow, Swiggy, and MakeMyTrip.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60120" y="3822192"/>
            <a:ext cx="4663440" cy="713232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9534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 Strict Mandates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41148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 enforced mandatory domestic data localization, 2FA, tokenization, and strict Payment Aggregator (PA) license requirements.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60120" y="4626864"/>
            <a:ext cx="4663440" cy="713232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70001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1, 2021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491947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officially exited domestic payments in India due to fierce UPI zero-MDR competition and high regulatory compliance costs.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60120" y="5431536"/>
            <a:ext cx="4663440" cy="713232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5046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 Day Status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572414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in India operates STRICTLY as an Online Payment Gateway Service Provider (OPGSP) for cross-border exports only.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1325880"/>
            <a:ext cx="5333695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325880"/>
            <a:ext cx="5150815" cy="457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463040"/>
            <a:ext cx="4876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If Turfify Integrates PayPal?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18288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190195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Error: Domestic INR Payments Disallowed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46520" y="2148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 player in Bangalore attempts to pay a Bangalore turf venue in Indian Rupees (INR) via PayPal, the API throws an error: 'Domestic currency transactions not permitted for this account type'.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309360" y="288036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9535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Currency Forced into Foreign FX (USD/EUR)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46520" y="3200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bypass this, you would have to convert ₹1,500 into ~$18.00 USD. The Indian player's bank will slap an extra 3.5% Forex markup fee plus international transaction SMS warnings.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309360" y="393192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0050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Regulatory Violation of FEMA &amp; PSS Act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46520" y="4251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local Indian ground rentals in foreign currencies between domestic Indian citizens violates the Foreign Exchange Management Act (FEMA) and Reserve Bank of India mandates.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309360" y="498348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505663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Account Freeze &amp; Fund Hold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46520" y="53035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PayPal's automated risk engine flags domestic merchant volume operating disguised as export services, triggering an automatic 180-day reserve hold on platform funds.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Payment Gateway Comparative Study: Why PayPal Fails for Domestic Indian Marketplaces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534095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Architecture Advisory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743200" cy="27432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EXPERIENCE &amp; CONVERSION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UPI Blindspot: Where 85%+ of Turfify's Audience Lives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/ 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1206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49377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Indian Sports Booking Reality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182880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13+ Billion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UPI transactions processed across India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82880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377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local turf &amp; box-cricket reservations are paid via UPI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60120" y="306324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2004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Seconds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611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time to complete a UPI Intent checkout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0" y="306324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2004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97.8%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20440" y="3611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transaction success rate on Indian banking rails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60120" y="448056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5720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RAZORPAY'S NATIVE UPI INTENT: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48463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 player taps 'Pay Now' on Turfify, the app automatically triggers deep links to Google Pay, PhonePe, or Paytm. The player authenticates with their 4/6-digit UPI PIN, and the turf is booked in 5 seconds without typing passwords.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0" y="1325880"/>
            <a:ext cx="5333695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325880"/>
            <a:ext cx="5150815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463040"/>
            <a:ext cx="4876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PayPal's Legacy Checkout Friction in India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182880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190195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No UPI App Deep-Linking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46520" y="2148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cannot launch Google Pay or PhonePe. The user is redirected to an external web browser window, breaking mobile app flow.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309360" y="288036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9535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Mandatory PayPal Account / Card Typing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46520" y="3200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Players are prompted to log into PayPal or type in 16-digit credit card numbers, CVVs, and expiry dates — something turf players rarely carry onto grounds.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309360" y="393192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0050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3D Secure / OTP Drop-off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46520" y="4251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International gateway redirects to domestic Indian 3DS OTP pages fail frequently due to latency timeouts, causing over 40% checkout drop-offs.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309360" y="498348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505663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Player Hesitation &amp; Distrust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46520" y="5303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students and local cricket squads seeing a foreign PayPal screen assume the site is either scam-prone or will charge them hidden dollar fees.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Payment Gateway Comparative Study: Why PayPal Fails for Domestic Indian Marketplaces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534095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Architecture Advisory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743200" cy="27432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COMPARISON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Economics Trap: How PayPal Destroys Marketplace Margins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/ 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1206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493776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/ Cashfree (Domestic Rail)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1828800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8288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Booking Value (Player Pays)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06240" y="182880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₹1,500.00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2395728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39572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Processing Fee (2.0% Flat)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06240" y="239572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₹30.00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0120" y="2962656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96265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GST on Gateway Fee (18% of ₹30)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06240" y="296265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₹5.40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0120" y="3529584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52958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Payment Processing Cost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06240" y="352958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₹35.40 (2.36%)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0120" y="4096512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ECFDF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09651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10% Platform Commission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06240" y="409651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₹150.00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0120" y="4663440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F0FDF4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6634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Profit Retained by Turfify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06240" y="466344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₹114.60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0120" y="5230368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2303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Net Payout (Settled to Bank)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06240" y="523036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₹1,350.00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1325880"/>
            <a:ext cx="5333695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325880"/>
            <a:ext cx="5150815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1463040"/>
            <a:ext cx="4876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(Cross-Border Export Rail)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55080" y="1828800"/>
            <a:ext cx="48463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182880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Booking Value (Converted to USD)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692640" y="18288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₹1,500.00 (~$18.00)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2395728"/>
            <a:ext cx="4846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39572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PayPal Transaction Fee (4.4%)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692640" y="23957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₹66.00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55080" y="2962656"/>
            <a:ext cx="4846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96265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Fixed Transaction Surcharge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692640" y="29626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₹25.00 ($0.30)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3529584"/>
            <a:ext cx="4846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352958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Currency Conversion Spread (3.0% - 4.0%)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692640" y="35295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₹52.50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55080" y="4096512"/>
            <a:ext cx="4846320" cy="475488"/>
          </a:xfrm>
          <a:prstGeom prst="roundRect">
            <a:avLst>
              <a:gd name="adj" fmla="val 9615"/>
            </a:avLst>
          </a:prstGeom>
          <a:solidFill>
            <a:srgbClr val="FEF2F2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409651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Payment Processing Cost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692640" y="409651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₹143.50 (9.57%)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55080" y="4663440"/>
            <a:ext cx="48463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46634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10% Platform Commission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692640" y="46634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₹150.00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55080" y="5230368"/>
            <a:ext cx="4846320" cy="475488"/>
          </a:xfrm>
          <a:prstGeom prst="roundRect">
            <a:avLst>
              <a:gd name="adj" fmla="val 9615"/>
            </a:avLst>
          </a:prstGeom>
          <a:solidFill>
            <a:srgbClr val="FEF2F2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523036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Net Retained Profit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692640" y="523036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₹6.50 (ALMOST ZERO)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Payment Gateway Comparative Study: Why PayPal Fails for Domestic Indian Marketplaces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534095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Architecture Advisory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743200" cy="27432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PAYOUT &amp; TAX COMPLIANCE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Split Architecture: Razorpay Route vs PayPal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/ 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1072865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25880"/>
            <a:ext cx="9144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17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10% / 90% Instant Split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182880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828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Wins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023360" y="1435608"/>
            <a:ext cx="3566160" cy="82296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4904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ROUTE ENGINE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60520" y="16733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NATIVE: Razorpay Route programmatically routes 90% to owner account and 10% to Turfify balance during order creation.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772400" y="1435608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14904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LIMITATION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909560" y="167335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UNSUPPORTED: Cannot route funds between two domestic Indian bank accounts programmatically.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31520" y="2468880"/>
            <a:ext cx="1072865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468880"/>
            <a:ext cx="9144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Tax Compliance (TDS Sec 194-O)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" y="297180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2971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Wins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23360" y="2578608"/>
            <a:ext cx="3566160" cy="82296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26334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ROUTE ENGINE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160520" y="28163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AUTOMATED: Deducts 1% mandatory TDS on marketplace gross and auto-generates Form 16A quarterly.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7772400" y="2578608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26334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LIMITATION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909560" y="281635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/ NIL: No Indian income tax TDS compliance mechanisms for e-commerce operators.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31520" y="3611880"/>
            <a:ext cx="1072865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3611880"/>
            <a:ext cx="9144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3703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Settlement Timelines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0120" y="411480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4114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Wins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23360" y="3721608"/>
            <a:ext cx="3566160" cy="82296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7764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ROUTE ENGINE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160520" y="39593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T+1 / T+2: Funds settle into turf owner's local HDFC, ICICI, SBI bank accounts automatically at 04:00 AM.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7772400" y="3721608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09560" y="37764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LIMITATION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909560" y="395935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T+3 to T+7: Cross-border auto-sweep requires EEFC / FIRC certificates and bank clearance delays.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731520" y="4754880"/>
            <a:ext cx="1072865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4754880"/>
            <a:ext cx="9144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" y="4846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Cancellation &amp; Refunds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60120" y="525780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/>
        </p:spPr>
      </p:sp>
      <p:sp>
        <p:nvSpPr>
          <p:cNvPr id="45" name="Text 43"/>
          <p:cNvSpPr/>
          <p:nvPr/>
        </p:nvSpPr>
        <p:spPr>
          <a:xfrm>
            <a:off x="960120" y="5257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Wins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23360" y="4864608"/>
            <a:ext cx="3566160" cy="82296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60520" y="49194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ROUTE ENGINE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160520" y="51023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UPI: Refunds hit the player's UPI VPA in 60 seconds via RazorpayX.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7772400" y="4864608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9560" y="49194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LIMITATION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909560" y="510235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SLOW: Takes 5-10 business days, and foreign currency exchange spread is usually lost.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Payment Gateway Comparative Study: Why PayPal Fails for Domestic Indian Marketplaces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34095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Architecture Advisory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743200" cy="27432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EXCEPTIONS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DOES PayPal Make Sense? The Only 3 Valid Use Cases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/ 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3454298" cy="480060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3271418" cy="45720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463040"/>
            <a:ext cx="3088538" cy="320040"/>
          </a:xfrm>
          <a:prstGeom prst="roundRect">
            <a:avLst>
              <a:gd name="adj" fmla="val 1428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630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7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TURFIFY LAUNCHES IN UAE (DUBAI), UK, USA, OR SINGAPORE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Global Expansion (Turfify International)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2514600"/>
            <a:ext cx="308853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5176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PROFILE: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2980944"/>
            <a:ext cx="73152" cy="73152"/>
          </a:xfrm>
          <a:prstGeom prst="ellipse">
            <a:avLst/>
          </a:prstGeom>
          <a:solidFill>
            <a:srgbClr val="0079C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926080"/>
            <a:ext cx="29513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markets like the US and UK, PayPal has 40%+ consumer penetration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14400" y="3849624"/>
            <a:ext cx="73152" cy="73152"/>
          </a:xfrm>
          <a:prstGeom prst="ellipse">
            <a:avLst/>
          </a:prstGeom>
          <a:solidFill>
            <a:srgbClr val="0079C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794760"/>
            <a:ext cx="29513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international multi-currency settlement (USD, EUR, GBP, AED)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14400" y="4718304"/>
            <a:ext cx="73152" cy="73152"/>
          </a:xfrm>
          <a:prstGeom prst="ellipse">
            <a:avLst/>
          </a:prstGeom>
          <a:solidFill>
            <a:srgbClr val="0079C1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663440"/>
            <a:ext cx="29513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and PayPal are the dominant consumer payment standards abroad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4368698" y="1325880"/>
            <a:ext cx="3454298" cy="480060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0138" y="1325880"/>
            <a:ext cx="3271418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4551578" y="1463040"/>
            <a:ext cx="3088538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1578" y="14630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OVERSEAS INDIANS BOOKING COACHING OR TOURNAMENTS BACK HOME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51578" y="192024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Expat &amp; NRI Tournament Bookings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51578" y="2514600"/>
            <a:ext cx="308853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1578" y="265176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PROFILE: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51578" y="29809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4688738" y="2926080"/>
            <a:ext cx="29513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NRI father in California paying to enroll his son in a 3-week cricket academy in Bangalore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551578" y="384962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4688738" y="3794760"/>
            <a:ext cx="29513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Allows payment with US Chase or Amex cards without foreign currency rejection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551578" y="471830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3" name="Text 31"/>
          <p:cNvSpPr/>
          <p:nvPr/>
        </p:nvSpPr>
        <p:spPr>
          <a:xfrm>
            <a:off x="4688738" y="4663440"/>
            <a:ext cx="29513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receives funds as export revenue under legal RBI OPGSP guidelines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005877" y="1325880"/>
            <a:ext cx="3454298" cy="480060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97317" y="1325880"/>
            <a:ext cx="327141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Shape 34"/>
          <p:cNvSpPr/>
          <p:nvPr/>
        </p:nvSpPr>
        <p:spPr>
          <a:xfrm>
            <a:off x="8188757" y="1463040"/>
            <a:ext cx="3088538" cy="320040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8757" y="14630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BRANDS SPONSORING LOCAL AMATEUR TOURNAMENTS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188757" y="192024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Multinational Corporate Sponsorships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188757" y="2514600"/>
            <a:ext cx="308853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8757" y="2651760"/>
            <a:ext cx="30885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PROFILE: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88757" y="2980944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8325917" y="2926080"/>
            <a:ext cx="29513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foreign tech firm (e.g., US headquarters) funding an inter-corporate futsal cup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8188757" y="3849624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8325917" y="3794760"/>
            <a:ext cx="29513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International B2B invoicing with automated currency conversion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8188757" y="4718304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8325917" y="4663440"/>
            <a:ext cx="29513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High-ticket invoice processing ($5,000+) where 4% fee is acceptable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Payment Gateway Comparative Study: Why PayPal Fails for Domestic Indian Marketplaces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534095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Architecture Advisory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743200" cy="27432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COMPARATIVE BENCHMARK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Head-to-Head Matrix: PayPal vs Razorpay vs Cashfree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/ 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25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METRIC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0" y="1325880"/>
            <a:ext cx="2468880" cy="411480"/>
          </a:xfrm>
          <a:prstGeom prst="roundRect">
            <a:avLst>
              <a:gd name="adj" fmla="val 11111"/>
            </a:avLst>
          </a:prstGeom>
          <a:solidFill>
            <a:srgbClr val="00308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25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(WINNER)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869680" y="1325880"/>
            <a:ext cx="2590495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1325880"/>
            <a:ext cx="25904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CASHFREE (RUNNER-UP)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1810512"/>
            <a:ext cx="2926080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8105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Domestic Indian Transactions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657600" y="1810512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8105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SHUT DOWN (Apr 2021)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126480" y="1810512"/>
            <a:ext cx="2743200" cy="50292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8105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100% Fully Supported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869680" y="1810512"/>
            <a:ext cx="2590495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1810512"/>
            <a:ext cx="2407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100% Fully Supported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31520" y="2377440"/>
            <a:ext cx="2926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377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Intent (GPay, PhonePe, Paytm)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657600" y="2377440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ZERO SUPPORT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126480" y="2377440"/>
            <a:ext cx="2743200" cy="50292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377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Flawless Native Intent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869680" y="2377440"/>
            <a:ext cx="2590495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0" y="2377440"/>
            <a:ext cx="2407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Native Intent &amp; QR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731520" y="2944368"/>
            <a:ext cx="2926080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2944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Transaction Fees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3657600" y="2944368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2944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4.4% - 5.0% + Fixed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126480" y="2944368"/>
            <a:ext cx="2743200" cy="50292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9443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2.0% + 18% GST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869680" y="2944368"/>
            <a:ext cx="2590495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0" y="2944368"/>
            <a:ext cx="2407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1.90% - 2.0% + GST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31520" y="3511296"/>
            <a:ext cx="2926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351129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Vendor Splits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3657600" y="3511296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35112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Not Available in India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126480" y="3511296"/>
            <a:ext cx="2743200" cy="50292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5112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Razorpay Route (10%/90%)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8869680" y="3511296"/>
            <a:ext cx="2590495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0" y="3511296"/>
            <a:ext cx="2407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Cashfree Easy Split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731520" y="4078224"/>
            <a:ext cx="2926080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40782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TDS (Sec 194-O) Automated Filing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3657600" y="4078224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0" y="40782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 Support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126480" y="4078224"/>
            <a:ext cx="2743200" cy="50292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40782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Automated Quarterly Reports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8869680" y="4078224"/>
            <a:ext cx="2590495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61120" y="4078224"/>
            <a:ext cx="2407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Automated Reports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731520" y="4645152"/>
            <a:ext cx="29260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46451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Player Refund Rail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3657600" y="4645152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46451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5 - 10 Days via Banking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6126480" y="4645152"/>
            <a:ext cx="2743200" cy="50292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46451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60 Sec via RazorpayX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8869680" y="4645152"/>
            <a:ext cx="2590495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61120" y="4645152"/>
            <a:ext cx="2407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60 Sec via Instant Payouts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731520" y="5212080"/>
            <a:ext cx="2926080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2960" y="5212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Drop-Off Risk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3657600" y="5212080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49040" y="5212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VERY HIGH (&gt;40%)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6126480" y="5212080"/>
            <a:ext cx="2743200" cy="50292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LOWEST (&lt;3%)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8869680" y="5212080"/>
            <a:ext cx="2590495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61120" y="5212080"/>
            <a:ext cx="2407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VERY LOW (&lt;4%)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Payment Gateway Comparative Study: Why PayPal Fails for Domestic Indian Marketplaces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534095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Architecture Advisory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DECISION MATRIX &amp; ARCHITECTURAL VERDICT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Verdict: The Optimal Gateway Architecture for Turfify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227168" cy="4389120"/>
          </a:xfrm>
          <a:prstGeom prst="roundRect">
            <a:avLst>
              <a:gd name="adj" fmla="val 2083"/>
            </a:avLst>
          </a:prstGeom>
          <a:solidFill>
            <a:srgbClr val="11182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4952848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467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DOMESTIC STACK (100% PRODUCTION RECOMMENDED)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Razorpay + Cashfree Backup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249631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423160"/>
            <a:ext cx="449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UPI Intent: 5-second checkout via Google Pay, PhonePe, Paytm with 97%+ bank success.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005840" y="336499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291840"/>
            <a:ext cx="449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Route: Instant, automated 10% platform fee deduction &amp; 90% owner bank transfer.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005840" y="423367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160520"/>
            <a:ext cx="449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2% MDR: Protects Turfify unit economics and maximizes venue owner goodwill.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005840" y="510235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5029200"/>
            <a:ext cx="449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RBI Compliance: Complete data localization, domestic Indian bank payouts, and Sec 194-O tax handling.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33008" y="1371600"/>
            <a:ext cx="5227168" cy="4389120"/>
          </a:xfrm>
          <a:prstGeom prst="roundRect">
            <a:avLst>
              <a:gd name="adj" fmla="val 2083"/>
            </a:avLst>
          </a:prstGeom>
          <a:solidFill>
            <a:srgbClr val="111827"/>
          </a:solidFill>
          <a:ln w="19050">
            <a:solidFill>
              <a:srgbClr val="0079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0168" y="1371600"/>
            <a:ext cx="4952848" cy="54864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19" name="Text 17"/>
          <p:cNvSpPr/>
          <p:nvPr/>
        </p:nvSpPr>
        <p:spPr>
          <a:xfrm>
            <a:off x="6507328" y="1554480"/>
            <a:ext cx="467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SECONDARY / FUTURE CONDITIONAL STACK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07328" y="1828800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PayPal strictly for Phase 3 International Expansion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07328" y="2496312"/>
            <a:ext cx="91440" cy="91440"/>
          </a:xfrm>
          <a:prstGeom prst="ellipse">
            <a:avLst/>
          </a:prstGeom>
          <a:solidFill>
            <a:srgbClr val="0079C1"/>
          </a:solidFill>
          <a:ln/>
        </p:spPr>
      </p:sp>
      <p:sp>
        <p:nvSpPr>
          <p:cNvPr id="22" name="Text 20"/>
          <p:cNvSpPr/>
          <p:nvPr/>
        </p:nvSpPr>
        <p:spPr>
          <a:xfrm>
            <a:off x="6690208" y="2423160"/>
            <a:ext cx="431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enable PayPal for domestic INR: Disallowed by RBI and will crash domestic checkout.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507328" y="3364992"/>
            <a:ext cx="91440" cy="91440"/>
          </a:xfrm>
          <a:prstGeom prst="ellipse">
            <a:avLst/>
          </a:prstGeom>
          <a:solidFill>
            <a:srgbClr val="0079C1"/>
          </a:solidFill>
          <a:ln/>
        </p:spPr>
      </p:sp>
      <p:sp>
        <p:nvSpPr>
          <p:cNvPr id="24" name="Text 22"/>
          <p:cNvSpPr/>
          <p:nvPr/>
        </p:nvSpPr>
        <p:spPr>
          <a:xfrm>
            <a:off x="6690208" y="3291840"/>
            <a:ext cx="431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as a Secondary Toggle later: Only show 'Pay with PayPal (USD/EUR)' for overseas users.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507328" y="4233672"/>
            <a:ext cx="91440" cy="91440"/>
          </a:xfrm>
          <a:prstGeom prst="ellipse">
            <a:avLst/>
          </a:prstGeom>
          <a:solidFill>
            <a:srgbClr val="0079C1"/>
          </a:solidFill>
          <a:ln/>
        </p:spPr>
      </p:sp>
      <p:sp>
        <p:nvSpPr>
          <p:cNvPr id="26" name="Text 24"/>
          <p:cNvSpPr/>
          <p:nvPr/>
        </p:nvSpPr>
        <p:spPr>
          <a:xfrm>
            <a:off x="6690208" y="4160520"/>
            <a:ext cx="431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Cater to NRIs &amp; Foreign Tourists: Great for international coaching camps and overseas tournament sponsors.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507328" y="5102352"/>
            <a:ext cx="91440" cy="91440"/>
          </a:xfrm>
          <a:prstGeom prst="ellipse">
            <a:avLst/>
          </a:prstGeom>
          <a:solidFill>
            <a:srgbClr val="0079C1"/>
          </a:solidFill>
          <a:ln/>
        </p:spPr>
      </p:sp>
      <p:sp>
        <p:nvSpPr>
          <p:cNvPr id="28" name="Text 26"/>
          <p:cNvSpPr/>
          <p:nvPr/>
        </p:nvSpPr>
        <p:spPr>
          <a:xfrm>
            <a:off x="6690208" y="5029200"/>
            <a:ext cx="431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Impact on Domestic MVP: Zero developer hours should be spent integrating PayPal for Bangalore launch.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31520" y="612648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Architecture Series • Architectural Evaluation Complete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Turfify Technologies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PayPal Fails for Domestic Marketplaces: The Turfify Evaluation</dc:title>
  <dc:subject>PptxGenJS Presentation</dc:subject>
  <dc:creator>Turfify FinTech &amp; Platform Engineering</dc:creator>
  <cp:lastModifiedBy>Turfify FinTech &amp; Platform Engineering</cp:lastModifiedBy>
  <cp:revision>1</cp:revision>
  <dcterms:created xsi:type="dcterms:W3CDTF">2026-09-11T14:30:57Z</dcterms:created>
  <dcterms:modified xsi:type="dcterms:W3CDTF">2026-09-11T14:30:57Z</dcterms:modified>
</cp:coreProperties>
</file>