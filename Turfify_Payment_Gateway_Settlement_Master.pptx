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0584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1E1B4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FINTECH &amp; TRANSACTIONAL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7286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Gateway, Automated Splits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Financial Settlement Masterclass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Razorpay/UPI Integration, Marketplace Escrow Splits (10% / 90%),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Webhooks, Zero-Overbooking Concurrency &amp; Optimal Cancellation Strategies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480560"/>
            <a:ext cx="2270684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&amp; GATEWAY RAILS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UPI / Stripe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3D-Secure 2.0 &amp; Instant Flow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9404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6564" y="4480560"/>
            <a:ext cx="227068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TAKE-RATE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42284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 Turfify / 90% Owner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Split Routing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7288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4448" y="4480560"/>
            <a:ext cx="2270684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370168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GUARD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70168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 Soft Lock TTL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0168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double-booking guarantee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171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331" y="4480560"/>
            <a:ext cx="227068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051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 MODEL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98051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Tiered Dynamic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051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dispute &amp; refund matrix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Series • Module 04: Financial Engineering &amp; Payout Settlement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BLUEPRINT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Financial Pillars of Marketplace Integrity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545004" cy="402336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236212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1. Checkout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2179244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10512"/>
            <a:ext cx="20878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friction-free checkout converting players in under 30 seconds.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60120" y="272491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5176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Order creation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" y="322783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15468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Intent &amp; Deep-linking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373075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65760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Tokenized Cards &amp; NetBanking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0120" y="423367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16052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Secure 2.0 authentication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59404" y="1325880"/>
            <a:ext cx="2545004" cy="402336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0844" y="1325880"/>
            <a:ext cx="2362124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688004" y="146304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 2. Split Economics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42284" y="1783080"/>
            <a:ext cx="2179244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8004" y="1810512"/>
            <a:ext cx="20878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manual intervention: splits are calculated &amp; routed at transaction time.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88004" y="27249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870884" y="265176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10% platform fee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88004" y="322783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870884" y="315468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Turf Owner net payout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88004" y="37307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870884" y="365760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T+1/T+2 Escrow batch payout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88004" y="42336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870884" y="416052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TDS (Sec 194-O) compliance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7288" y="1325880"/>
            <a:ext cx="2545004" cy="402336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8728" y="1325880"/>
            <a:ext cx="2362124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415888" y="146304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3. Concurrency Lock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70168" y="1783080"/>
            <a:ext cx="2179244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5888" y="1810512"/>
            <a:ext cx="20878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race conditions when multiple players select the same prime-time slot.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15888" y="272491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598768" y="265176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slot reservation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15888" y="32278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6598768" y="315468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 Soft-Lock countdown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15888" y="373075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6598768" y="365760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expiration engine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15888" y="423367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598768" y="416052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duplicate bookings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915171" y="1325880"/>
            <a:ext cx="2545004" cy="402336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06611" y="1325880"/>
            <a:ext cx="236212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9143771" y="146304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4. Policy &amp; Refunds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98051" y="1783080"/>
            <a:ext cx="2179244" cy="6858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3771" y="1810512"/>
            <a:ext cx="20878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cancellation rules protecting player trust and venue operational cash flow.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143771" y="272491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9326651" y="265176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Time-tiered dynamic policy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43771" y="322783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5" name="Text 53"/>
          <p:cNvSpPr/>
          <p:nvPr/>
        </p:nvSpPr>
        <p:spPr>
          <a:xfrm>
            <a:off x="9326651" y="315468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loss mitigation for turfs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43771" y="373075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7" name="Text 55"/>
          <p:cNvSpPr/>
          <p:nvPr/>
        </p:nvSpPr>
        <p:spPr>
          <a:xfrm>
            <a:off x="9326651" y="365760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Turfify wallet credit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143771" y="42336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9" name="Text 57"/>
          <p:cNvSpPr/>
          <p:nvPr/>
        </p:nvSpPr>
        <p:spPr>
          <a:xfrm>
            <a:off x="9326651" y="4160520"/>
            <a:ext cx="19049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Rainout/Force Majeure rules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31520" y="5532120"/>
            <a:ext cx="10728655" cy="64008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" y="553212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PRINCIPLE: Money must never exist in an indeterminate state. Every transaction is tied to an explicit idempotency key, order state machine, and double-entry ledger entry.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PROTOCOL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Flow: Razorpay / UPI Intent Lifecycle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545004" cy="393192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236212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1463040"/>
            <a:ext cx="1630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App -&gt; Backend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 Checkout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286000"/>
            <a:ext cx="217924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47802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423160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clicks 'Pay Now' for 7-8 PM slot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3099816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044952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calls `/api/checkout/create-order`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3721608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66744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verifies slot is AVAILABLE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288536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sets slot state: `PENDING_PAYMENT` (Starts 10m TTL)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59404" y="1325880"/>
            <a:ext cx="2545004" cy="393192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0844" y="1325880"/>
            <a:ext cx="2362124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3642284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42284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36644" y="1463040"/>
            <a:ext cx="1630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-&gt; Razorpay API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42284" y="1874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Generation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42284" y="2286000"/>
            <a:ext cx="217924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2284" y="247802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779444" y="2423160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invokes `razorpay.orders.create()`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42284" y="309981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779444" y="3044952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Amount: ₹150,000 (paise = ₹1,500)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42284" y="372160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779444" y="3666744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Passes metadata: `turf_id`, `slot_id`, `player_id`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42284" y="4343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3779444" y="4288536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secure `order_id` (e.g. `order_K9v8f12`)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87288" y="1325880"/>
            <a:ext cx="2545004" cy="393192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8728" y="1325880"/>
            <a:ext cx="2362124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70168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6370168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64528" y="1463040"/>
            <a:ext cx="1630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Device -&gt; Gateway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70168" y="1874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Payment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70168" y="2286000"/>
            <a:ext cx="217924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70168" y="2478024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507328" y="2423160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opens Razorpay Checkout modal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70168" y="3099816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507328" y="3044952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Options: GPay, PhonePe, Paytm, Cards, NetBanking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70168" y="37216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6507328" y="3666744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completes UPI PIN / OTP authentication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70168" y="4343400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6507328" y="4288536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authorizes and debits player account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915171" y="1325880"/>
            <a:ext cx="2545004" cy="393192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6611" y="1325880"/>
            <a:ext cx="236212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5" name="Shape 53"/>
          <p:cNvSpPr/>
          <p:nvPr/>
        </p:nvSpPr>
        <p:spPr>
          <a:xfrm>
            <a:off x="9098051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9098051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692411" y="1463040"/>
            <a:ext cx="1630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-&gt; Turfify Backend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9098051" y="1874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&amp; Release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098051" y="2286000"/>
            <a:ext cx="217924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98051" y="2478024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1" name="Text 59"/>
          <p:cNvSpPr/>
          <p:nvPr/>
        </p:nvSpPr>
        <p:spPr>
          <a:xfrm>
            <a:off x="9235211" y="2423160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dispatches signed Webhook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98051" y="3099816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3" name="Text 61"/>
          <p:cNvSpPr/>
          <p:nvPr/>
        </p:nvSpPr>
        <p:spPr>
          <a:xfrm>
            <a:off x="9235211" y="3044952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validates HMAC-SHA256 signature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098051" y="372160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5" name="Text 63"/>
          <p:cNvSpPr/>
          <p:nvPr/>
        </p:nvSpPr>
        <p:spPr>
          <a:xfrm>
            <a:off x="9235211" y="3666744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confirmed `BOOKED`, Booking status `CONFIRMED`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098051" y="4343400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9235211" y="4288536"/>
            <a:ext cx="2042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WhatsApp &amp; SMS confirmation dispatched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1520" y="544068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31104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5840" y="548640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FINTECH RULE: NEVER trust client-side onSuccess callbacks to finalize bookings!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05840" y="580644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user closes the browser tab immediately after UPI PIN entry, the frontend callback terminates prematurely. The server-to-server Razorpay Webhook is the SOLE authoritative source of truth for booking confirmation.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Split Economics &amp; Automated Payouts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48463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66344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₹1,500 Weekend Evening Booking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7830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Booking Value (Player Pays)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0" y="17830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₹1,500.00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228600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2860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Processing Fee (2% + 18% GST)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0" y="22860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₹35.40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78892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7889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Settled Amount in Escrow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0" y="27889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₹1,464.60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29184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2918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Commission (10% of Gross)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0" y="3291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₹150.00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7947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 on Platform Commission (18% on ₹150)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0" y="37947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₹27.00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429768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E0E7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2976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Net Retained Revenue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0" y="4297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₹123.00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80060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8006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TDS Deducted under Sec 194-O (1%)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23360" y="48006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₹15.00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530352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035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Turf Owner Payout (Settled to Bank)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0" y="53035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₹1,299.60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52160" y="1325880"/>
            <a:ext cx="560801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325880"/>
            <a:ext cx="5425135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1463040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Payout Mechanics (Razorpay Route / Stripe Connect)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35040" y="1828800"/>
            <a:ext cx="5242255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9019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Linked Accounts Onboarding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1579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Turf Owner completes automated KYC and links their business bank account. Razorpay assigns a dedicated `acc_xxxx` identifier.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2852928"/>
            <a:ext cx="5242255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926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Instant Programmatic Transfers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1821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`/orders` creation, transfers payload is supplied: 90% is routed to owner's linked account and 10% is held in Turfify primary balance.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35040" y="3877056"/>
            <a:ext cx="5242255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9502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Settlement Timelines (T+1 vs T+2)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4206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are held in escrow until slot match time completes. If no dispute or rainout occurs, batch payout triggers automatically at 04:00 AM daily.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4901184"/>
            <a:ext cx="5242255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9743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Regulatory Tax Compliance (Sec 194-O)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52303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Indian tax law, e-commerce marketplaces must deduct 1% TDS on gross sales before paying operators. Turfify auto-generates Form 16A quarterly.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INTEGRITY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Control: The 10-Minute Soft-Lock Engine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Prime-Time Concurrency Race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9202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Friday 8:00 PM Slot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A and Player B both click 'Book' at 07:59:01 PM. If both pay without slot-locking, the owner gets ₹3,000 for one turf, resulting in ground fights, refund penalties, and brand damage.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3063240"/>
            <a:ext cx="466344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1363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Drop-off 1: User Abandons Modal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closes browser or changes mind. Slot must NOT remain frozen forever.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3977640"/>
            <a:ext cx="466344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50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Drop-off 2: Bank OTP Timeout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server delays SMS OTP past 300s window. Payment gateway marks order failed.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" y="4892040"/>
            <a:ext cx="466344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65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Drop-off 3: Insufficient Funds / Decline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5212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declines or UPI limit exceeded. Slot should release immediately.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Redis / Postgres Row-Lock + TTL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18288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Slot Reservation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10312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B0F1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1214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slots SET status = 'LOCKED', locked_until = NOW() + INTERVAL '10 min', locked_by = player_id WHERE id = slot_id AND status = 'AVAILABLE';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09360" y="27066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ONE transaction can claim the row. Player B instantly gets 'Slot temporarily held by another player'.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32004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Visual Countdown (9:59 ... 0:00)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47472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B0F1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4930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warning: 'Complete payment within 10:00 to guarantee your turf reservation.'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0" y="40782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checkout urgency and prevents artificial hoarding.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4572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Garbage Collector Cron (TTL Releaser)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84632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0B0F1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8646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cron.schedule('*/1 * * * *', async () =&gt;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slots SET status = 'AVAILABLE', locked_by = NULL WHERE status = 'LOCKED' AND locked_until &lt; NOW();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09360" y="54498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every 60s. Unlocks abandoned slots back to the public pool with zero admin overhead.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SECURITY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Security: HMAC Signatures &amp; Idempotency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Signature Verification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Turfify verifies incoming webhooks genuinely originate from Razorpay: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2194560"/>
            <a:ext cx="4663440" cy="3017520"/>
          </a:xfrm>
          <a:prstGeom prst="roundRect">
            <a:avLst>
              <a:gd name="adj" fmla="val 1818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2402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crypto = require('crypto');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app.post('/api/webhooks/razorpay', (req, res) =&gt;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secret = process.env.RAZORPAY_WEBHOOK_SECRET;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signature = req.headers['x-razorpay-signature'];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rawBody = req.rawBody; // MUST use unparsed buffer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expectedSignature = crypto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.createHmac('sha256', secret)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.update(rawBody)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.digest('hex');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(signature !== expectedSignature)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res.status(400).send('Invalid signature attempt');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Safe to process event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handlePaymentSuccess(req.body);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res.status(200).json({ status: 'ok' });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960120" y="5349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Key: Signature mismatch immediately rejects spoofed attacks or replay injections.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Idempotency: Preventing Double-Credits &amp; Double-Booking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562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Webhooks Retry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gateways guarantee at-least-once delivery. If our API response takes &gt;5000ms due to database load, Razorpay automatically retries the same webhook 5 times.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9077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Disaster Without Idempotency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3154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duplicate webhook triggers a second booking confirmation email, duplicate owner payouts, or corrupted financial ledger statements.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309360" y="38862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9593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Unique Event Idempotency Key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record `idempotency_key = event_id + order_id` in a Redis cache with a 24-hour TTL before executing business logic.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309360" y="493776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50109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Letter Queue (DLQ) &amp; Fallback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5257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our database crashes mid-webhook, the payload routes to an Amazon SQS / BullMQ DLQ for automated retry with exponential backoff.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STRATEGY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Dilemma: Full Refund vs Cancellation Deductions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327141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FOR BUSINESS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Model 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Full Refund Anytime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56032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Maximum player trust on first booking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14400" y="3319272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Zero customer support ticket friction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 / RISKS: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4032504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Players book 3 turfs on Friday and cancel 2 at the last hour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14400" y="4507992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Turf Owners face massive revenue loss with vacant grounds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Turf owners will abandon Turfify to return to cash/phone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368698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60138" y="1325880"/>
            <a:ext cx="327141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1578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1578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USER RETENTION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1578" y="18745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Model 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51578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Zero-Refund Policy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51578" y="256032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1578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51578" y="2880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Guarantees 100% owner earnings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551578" y="3319272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Zero refund transaction overhead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551578" y="3803904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 / RISKS: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51578" y="4032504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Players hesitate to book advance slots (&gt;48 hours)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551578" y="4507992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High payment gateway chargeback disputes &amp; bad Google reviews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551578" y="49834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Competitors with flexible rescheduling will steal users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005877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7317" y="1325880"/>
            <a:ext cx="327141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Shape 36"/>
          <p:cNvSpPr/>
          <p:nvPr/>
        </p:nvSpPr>
        <p:spPr>
          <a:xfrm>
            <a:off x="8188757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757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 RECOMMENDED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88757" y="18745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Model 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88757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Time-Tiered Policy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8757" y="256032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8757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88757" y="288036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Balances player flexibility with owner financial protection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188757" y="3319272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Scales deduction as match kickoff approaches (&lt;6h = no refund)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8188757" y="3758184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Offers 100% refund in 'Turfify Wallet Credits' to prevent cash outflow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8188757" y="4242816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 / RISKS: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188757" y="4471416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 Requires automated time-delta calculation engine in backend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POLICY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Master Cancellation Policy: Fair Multi-Tier Matrix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25880"/>
            <a:ext cx="109728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17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&gt; 24 Hours Before Kickoff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Generous Advance Notice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63440" y="1709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Bank Refund OR 100% Turfify Credits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5087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138160" y="1709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(Slot easily re-booked by other players)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468880"/>
            <a:ext cx="109728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6 to 24 Hours Before Kickoff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2834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Short Notice Cancellation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60604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517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63440" y="2852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Bank Refund OR 60% Turfify Credits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6517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13816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receives 40% of slot value as compensation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611880"/>
            <a:ext cx="109728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703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&lt; 6 Hours Before Kickoff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3977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Last-Minute No-Show / Cancellation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374904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947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63440" y="3995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Refund (Strict Non-Refundable)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3749040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37947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138160" y="3995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receives 85% payout; Turfify keeps 15%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" y="4754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754880"/>
            <a:ext cx="109728" cy="10241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840" y="4846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Ground Unplayable / Rainout / Owner Fault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5840" y="5120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Force Majeure / Venue Cancellation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489204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9377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663440" y="5138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Immediate Full Refund + ₹100 Bonus Credit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46720" y="4892040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49377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138160" y="5138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payout + Owner receives warning / penalty on rating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1520" y="6035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WIN-WIN INCENTIVE: Giving 100% refund as 'Turfify Wallet Credits' prevents payment gateway fee leakage while locking the capital inside our sports ecosystem!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Execution Rails: Speed, Gateway Fees &amp; Economics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327141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SPEED: 5 to 7 Business Days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1: Original Source (Bank / Card)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42316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032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COST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retains 2% processing fee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" y="358444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waits days, calls customer support repeatedly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LIQUIDITY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440740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exits Turfify escrow account back to banking rail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68680" y="5029200"/>
            <a:ext cx="3179978" cy="868680"/>
          </a:xfrm>
          <a:prstGeom prst="roundRect">
            <a:avLst>
              <a:gd name="adj" fmla="val 5263"/>
            </a:avLst>
          </a:prstGeom>
          <a:solidFill>
            <a:srgbClr val="0B0F1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30885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razorpay.payments.refund(payment_id, { amount: refundPaise });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368698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60138" y="1325880"/>
            <a:ext cx="327141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1578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1578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SPEED: Under 60 Seconds (Instant IMPS)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51578" y="192024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2: Instant UPI Payout (Razorpay X)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51578" y="242316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1578" y="256032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COST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51578" y="276148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₹4 - ₹6 payout API fee paid by platform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551578" y="338328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51578" y="358444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sees immediate credit notification on phone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51578" y="420624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LIQUIDITY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51578" y="440740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exits platform immediately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505858" y="5029200"/>
            <a:ext cx="3179978" cy="868680"/>
          </a:xfrm>
          <a:prstGeom prst="roundRect">
            <a:avLst>
              <a:gd name="adj" fmla="val 5263"/>
            </a:avLst>
          </a:prstGeom>
          <a:solidFill>
            <a:srgbClr val="0B0F19"/>
          </a:solidFill>
          <a:ln/>
        </p:spPr>
      </p:sp>
      <p:sp>
        <p:nvSpPr>
          <p:cNvPr id="35" name="Text 33"/>
          <p:cNvSpPr/>
          <p:nvPr/>
        </p:nvSpPr>
        <p:spPr>
          <a:xfrm>
            <a:off x="4551578" y="5074920"/>
            <a:ext cx="30885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razorpayX.payouts.create({ fund_account_id, mode: 'UPI' });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005877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7317" y="1325880"/>
            <a:ext cx="327141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Shape 36"/>
          <p:cNvSpPr/>
          <p:nvPr/>
        </p:nvSpPr>
        <p:spPr>
          <a:xfrm>
            <a:off x="8188757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757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SPEED: Immediate (0 Seconds)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88757" y="1920240"/>
            <a:ext cx="30885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3: Turfify Wallet Credits (Recommended)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88757" y="242316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8757" y="256032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COST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188757" y="276148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Gateway Fees (Zero transaction cost)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188757" y="338328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8757" y="358444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can immediately rebook another turf or date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188757" y="4206240"/>
            <a:ext cx="30885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LIQUIDITY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8757" y="440740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cash outflow! 100% of capital remains in platform bank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143037" y="5029200"/>
            <a:ext cx="3179978" cy="868680"/>
          </a:xfrm>
          <a:prstGeom prst="roundRect">
            <a:avLst>
              <a:gd name="adj" fmla="val 5263"/>
            </a:avLst>
          </a:prstGeom>
          <a:solidFill>
            <a:srgbClr val="0B0F19"/>
          </a:solidFill>
          <a:ln/>
        </p:spPr>
      </p:sp>
      <p:sp>
        <p:nvSpPr>
          <p:cNvPr id="49" name="Text 47"/>
          <p:cNvSpPr/>
          <p:nvPr/>
        </p:nvSpPr>
        <p:spPr>
          <a:xfrm>
            <a:off x="8188757" y="5074920"/>
            <a:ext cx="30885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db.wallets.increment({ user_id, balance: fullBookingAmount });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&amp; INVOICING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Invoicing &amp; Two-Tier GST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Dual-Invoice Legal Structure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Indian GST marketplace rules, an aggregator cannot invoice the entire venue rental under its own GSTIN unless registered as principal. Turfify implements a clean split-invoice model: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2560320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560320"/>
            <a:ext cx="91440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517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1: Turfify Platform Convenience Fee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29077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Issuer: Turfify Technologies Pvt Ltd -&gt; Player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" y="31272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Treatment: 18% GST (SAC Code: 998314 - E-commerce facilitation)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₹150 Platform Fee + ₹27 GST = ₹177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" y="3931920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93192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023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2: Sports Facility Ground Rental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" y="42793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Issuer: Turf Owner Business -&gt; Player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" y="44988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Treatment: Subject to Owner's GST registration status (Exempt if &lt;₹40L turnover)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" y="4773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₹1,350 Ground Rental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PDF Invoicing &amp; Accounting Flow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9019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GSTIN Capture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2148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players enter company GSTIN at checkout for B2B input tax credit (ITC).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309360" y="288036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9535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Headless PDF Generation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3200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generates tamper-evident PDF with QR code, digital signature, and unique serial invoice number (`TFY-26-XXXX`).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309360" y="393192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0050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WhatsApp &amp; Email Dispatch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download link sent via WhatsApp Business API within 10 seconds of payment.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309360" y="498348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0566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Monthly GSTR-1 &amp; GSTR-8 Filing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4652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automated JSON reports for chartered accountants detailing TCS (Tax Collected at Source) under GST law.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Detection, Chargeback Defense &amp; Escrow Protection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/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2728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509000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81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Friendly Fraud (Disputed Show)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4815688" cy="6858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87452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VULNERABILITY: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51560" y="2075688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plays 60-min match, then calls bank claiming 'unauthorized credit card transaction'.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4815688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65176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ARCHITECTURAL DEFENSE: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51560" y="2862072"/>
            <a:ext cx="463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Geotagged Turf Check-in &amp; Owner QR verification logs stored in Dispute Evidence Vault.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87288" y="1325880"/>
            <a:ext cx="52728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325880"/>
            <a:ext cx="509000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15888" y="1463040"/>
            <a:ext cx="481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Testing &amp; Bot Hoarding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5888" y="1828800"/>
            <a:ext cx="4815688" cy="6858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187452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VULNERABILITY: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07328" y="2075688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Malicious scrapers lock all Friday 7-9 PM slots using dummy checkout cards to sabotage rival turfs.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15888" y="2606040"/>
            <a:ext cx="4815688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265176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ARCHITECTURAL DEFENSE: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07328" y="2862072"/>
            <a:ext cx="463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Turnstile captcha + IP velocity limit: Max 2 pending reservations per account.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52728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703320"/>
            <a:ext cx="509000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840480"/>
            <a:ext cx="481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 Venue Operator Cancellations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4206240"/>
            <a:ext cx="4815688" cy="6858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25196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VULNERABILITY: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51560" y="4453128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takes online booking, then accepts cash on ground and cancels online booking.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60120" y="4983480"/>
            <a:ext cx="4815688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02920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ARCHITECTURAL DEFENSE: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51560" y="5239512"/>
            <a:ext cx="463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Penalties deducted from owner's pending payout escrow + automated venue suspension.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87288" y="3703320"/>
            <a:ext cx="52728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8728" y="3703320"/>
            <a:ext cx="509000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6415888" y="3840480"/>
            <a:ext cx="481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Chargeback Fee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5888" y="4206240"/>
            <a:ext cx="4815688" cy="6858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39" name="Text 37"/>
          <p:cNvSpPr/>
          <p:nvPr/>
        </p:nvSpPr>
        <p:spPr>
          <a:xfrm>
            <a:off x="6507328" y="425196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VULNERABILITY: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07328" y="4453128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 levy ₹500 + GST fine on every lost chargeback dispute.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15888" y="4983480"/>
            <a:ext cx="4815688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07328" y="5029200"/>
            <a:ext cx="463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ARCHITECTURAL DEFENSE: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07328" y="5239512"/>
            <a:ext cx="463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Evidence Dossier sent to Razorpay within 24 hours containing IP, phone, and match logs.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Financial Engineering, Payment Gateway &amp; Settlement Masterclass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ENGINEERING SUMMARY &amp; DEPLOYMENT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Financial Infrastructure: Production Milestones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54298" cy="4389120"/>
          </a:xfrm>
          <a:prstGeom prst="roundRect">
            <a:avLst>
              <a:gd name="adj" fmla="val 264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317997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1 - 2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Foundation (MVP)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331720"/>
            <a:ext cx="2997098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DELIVERABLES: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28163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7432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standard UPI &amp; card checkout modal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0120" y="35021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4290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 SHA-256 webhook signature validator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41879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1148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10-minute soft-lock TTL countdown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48737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8006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dual invoice PDF generation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68698" y="1371600"/>
            <a:ext cx="3454298" cy="4389120"/>
          </a:xfrm>
          <a:prstGeom prst="roundRect">
            <a:avLst>
              <a:gd name="adj" fmla="val 264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5858" y="1371600"/>
            <a:ext cx="3179978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298" y="15544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3 - 4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97298" y="18288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Automated Marketplace Split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97298" y="2331720"/>
            <a:ext cx="2997098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7298" y="24688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DELIVERABLES: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97298" y="28163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80178" y="27432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linked accounts for turf owners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97298" y="35021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80178" y="34290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10% take-rate deduction &amp; 90% payout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7298" y="41879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4780178" y="41148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Tiered Cancellation Policy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97298" y="48737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4780178" y="48006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Turfify Wallet credits refund system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05877" y="1371600"/>
            <a:ext cx="3454298" cy="4389120"/>
          </a:xfrm>
          <a:prstGeom prst="roundRect">
            <a:avLst>
              <a:gd name="adj" fmla="val 264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43037" y="1371600"/>
            <a:ext cx="3179978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8234477" y="15544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5 - 6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34477" y="18288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Scale, Risk &amp; Optimization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34477" y="2331720"/>
            <a:ext cx="2997098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4477" y="2468880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34477" y="28163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8417357" y="27432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TDS 194-O quarterly filing exports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34477" y="35021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8417357" y="34290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 Evidence Vault &amp; chargeback automations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34477" y="41879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8417357" y="41148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surge pricing &amp; prime-time deposit holds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34477" y="48737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8417357" y="4800600"/>
            <a:ext cx="27684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Micro-insurance add-on (rainout / injury protection)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61264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Financial Infrastructure Blueprint • Designed for High-Throughput Sports Venue Operations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Turfify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Gateway, Automated Splits &amp; Financial Settlement Masterclass</dc:title>
  <dc:subject>PptxGenJS Presentation</dc:subject>
  <dc:creator>Turfify Fintech &amp; Platform Engineering</dc:creator>
  <cp:lastModifiedBy>Turfify Fintech &amp; Platform Engineering</cp:lastModifiedBy>
  <cp:revision>1</cp:revision>
  <dcterms:created xsi:type="dcterms:W3CDTF">2026-09-11T13:38:18Z</dcterms:created>
  <dcterms:modified xsi:type="dcterms:W3CDTF">2026-09-11T13:38:18Z</dcterms:modified>
</cp:coreProperties>
</file>