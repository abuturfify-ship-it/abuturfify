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563EB"/>
          </a:solidFill>
          <a:ln/>
        </p:spPr>
      </p:sp>
      <p:sp>
        <p:nvSpPr>
          <p:cNvPr id="3" name="Shape 1"/>
          <p:cNvSpPr/>
          <p:nvPr/>
        </p:nvSpPr>
        <p:spPr>
          <a:xfrm>
            <a:off x="731520" y="1005840"/>
            <a:ext cx="3840480" cy="347472"/>
          </a:xfrm>
          <a:prstGeom prst="roundRect">
            <a:avLst>
              <a:gd name="adj" fmla="val 21053"/>
            </a:avLst>
          </a:prstGeom>
          <a:solidFill>
            <a:srgbClr val="1E293B"/>
          </a:solidFill>
          <a:ln w="19050">
            <a:solidFill>
              <a:srgbClr val="3B82F6"/>
            </a:solidFill>
            <a:prstDash val="solid"/>
          </a:ln>
        </p:spPr>
      </p:sp>
      <p:sp>
        <p:nvSpPr>
          <p:cNvPr id="4" name="Text 2"/>
          <p:cNvSpPr/>
          <p:nvPr/>
        </p:nvSpPr>
        <p:spPr>
          <a:xfrm>
            <a:off x="731520" y="1005840"/>
            <a:ext cx="3840480" cy="347472"/>
          </a:xfrm>
          <a:prstGeom prst="rect">
            <a:avLst/>
          </a:prstGeom>
          <a:noFill/>
          <a:ln/>
        </p:spPr>
        <p:txBody>
          <a:bodyPr wrap="square" rtlCol="0" anchor="ctr"/>
          <a:lstStyle/>
          <a:p>
            <a:pPr algn="ctr" indent="0" marL="0">
              <a:buNone/>
            </a:pPr>
            <a:r>
              <a:rPr lang="en-US" sz="850" b="1" dirty="0">
                <a:solidFill>
                  <a:srgbClr val="93C5FD"/>
                </a:solidFill>
                <a:latin typeface="Segoe UI" pitchFamily="34" charset="0"/>
                <a:ea typeface="Segoe UI" pitchFamily="34" charset="-122"/>
                <a:cs typeface="Segoe UI" pitchFamily="34" charset="-120"/>
              </a:rPr>
              <a:t>TURFIFY FINTECH DECISION MATRIX • MODULE 05</a:t>
            </a:r>
            <a:endParaRPr lang="en-US" sz="850" dirty="0"/>
          </a:p>
        </p:txBody>
      </p:sp>
      <p:sp>
        <p:nvSpPr>
          <p:cNvPr id="5" name="Text 3"/>
          <p:cNvSpPr/>
          <p:nvPr/>
        </p:nvSpPr>
        <p:spPr>
          <a:xfrm>
            <a:off x="731520" y="1554480"/>
            <a:ext cx="10728655"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Segoe UI" pitchFamily="34" charset="0"/>
                <a:ea typeface="Segoe UI" pitchFamily="34" charset="-122"/>
                <a:cs typeface="Segoe UI" pitchFamily="34" charset="-120"/>
              </a:rPr>
              <a:t>Payment Gateway Selection:</a:t>
            </a:r>
            <a:endParaRPr lang="en-US" sz="3400" dirty="0"/>
          </a:p>
          <a:p>
            <a:pPr indent="0" marL="0">
              <a:lnSpc>
                <a:spcPct val="110000"/>
              </a:lnSpc>
              <a:buNone/>
            </a:pPr>
            <a:r>
              <a:rPr lang="en-US" sz="3400" b="1" dirty="0">
                <a:solidFill>
                  <a:srgbClr val="FFFFFF"/>
                </a:solidFill>
                <a:latin typeface="Segoe UI" pitchFamily="34" charset="0"/>
                <a:ea typeface="Segoe UI" pitchFamily="34" charset="-122"/>
                <a:cs typeface="Segoe UI" pitchFamily="34" charset="-120"/>
              </a:rPr>
              <a:t>Why Razorpay is #1 for Turfify</a:t>
            </a:r>
            <a:endParaRPr lang="en-US" sz="3400" dirty="0"/>
          </a:p>
        </p:txBody>
      </p:sp>
      <p:sp>
        <p:nvSpPr>
          <p:cNvPr id="6" name="Text 4"/>
          <p:cNvSpPr/>
          <p:nvPr/>
        </p:nvSpPr>
        <p:spPr>
          <a:xfrm>
            <a:off x="731520" y="3383280"/>
            <a:ext cx="10728655" cy="777240"/>
          </a:xfrm>
          <a:prstGeom prst="rect">
            <a:avLst/>
          </a:prstGeom>
          <a:noFill/>
          <a:ln/>
        </p:spPr>
        <p:txBody>
          <a:bodyPr wrap="square" rtlCol="0" anchor="ctr"/>
          <a:lstStyle/>
          <a:p>
            <a:pPr indent="0" marL="0">
              <a:lnSpc>
                <a:spcPct val="120000"/>
              </a:lnSpc>
              <a:buNone/>
            </a:pPr>
            <a:r>
              <a:rPr lang="en-US" sz="1400" dirty="0">
                <a:solidFill>
                  <a:srgbClr val="94A3B8"/>
                </a:solidFill>
                <a:latin typeface="Segoe UI" pitchFamily="34" charset="0"/>
                <a:ea typeface="Segoe UI" pitchFamily="34" charset="-122"/>
                <a:cs typeface="Segoe UI" pitchFamily="34" charset="-120"/>
              </a:rPr>
              <a:t>Evaluating Razorpay vs. Cashfree, PhonePe, Stripe India &amp; Paytm:</a:t>
            </a:r>
            <a:endParaRPr lang="en-US" sz="1400" dirty="0"/>
          </a:p>
          <a:p>
            <a:pPr indent="0" marL="0">
              <a:lnSpc>
                <a:spcPct val="120000"/>
              </a:lnSpc>
              <a:buNone/>
            </a:pPr>
            <a:r>
              <a:rPr lang="en-US" sz="1400" dirty="0">
                <a:solidFill>
                  <a:srgbClr val="94A3B8"/>
                </a:solidFill>
                <a:latin typeface="Segoe UI" pitchFamily="34" charset="0"/>
                <a:ea typeface="Segoe UI" pitchFamily="34" charset="-122"/>
                <a:cs typeface="Segoe UI" pitchFamily="34" charset="-120"/>
              </a:rPr>
              <a:t>Marketplace Splits (10%/90%), UPI Success Rates, 60-Sec Instant Refunds &amp; Production Blueprint</a:t>
            </a:r>
            <a:endParaRPr lang="en-US" sz="1400" dirty="0"/>
          </a:p>
        </p:txBody>
      </p:sp>
      <p:sp>
        <p:nvSpPr>
          <p:cNvPr id="7" name="Shape 5"/>
          <p:cNvSpPr/>
          <p:nvPr/>
        </p:nvSpPr>
        <p:spPr>
          <a:xfrm>
            <a:off x="731520" y="4480560"/>
            <a:ext cx="2545004" cy="1463040"/>
          </a:xfrm>
          <a:prstGeom prst="roundRect">
            <a:avLst>
              <a:gd name="adj" fmla="val 6250"/>
            </a:avLst>
          </a:prstGeom>
          <a:solidFill>
            <a:srgbClr val="111827"/>
          </a:solidFill>
          <a:ln w="12700">
            <a:solidFill>
              <a:srgbClr val="1E293B"/>
            </a:solidFill>
            <a:prstDash val="solid"/>
          </a:ln>
        </p:spPr>
      </p:sp>
      <p:sp>
        <p:nvSpPr>
          <p:cNvPr id="8" name="Shape 6"/>
          <p:cNvSpPr/>
          <p:nvPr/>
        </p:nvSpPr>
        <p:spPr>
          <a:xfrm>
            <a:off x="868680" y="4480560"/>
            <a:ext cx="2270684" cy="45720"/>
          </a:xfrm>
          <a:prstGeom prst="rect">
            <a:avLst/>
          </a:prstGeom>
          <a:solidFill>
            <a:srgbClr val="059669"/>
          </a:solidFill>
          <a:ln/>
        </p:spPr>
      </p:sp>
      <p:sp>
        <p:nvSpPr>
          <p:cNvPr id="9" name="Text 7"/>
          <p:cNvSpPr/>
          <p:nvPr/>
        </p:nvSpPr>
        <p:spPr>
          <a:xfrm>
            <a:off x="914400" y="4663440"/>
            <a:ext cx="2179244" cy="228600"/>
          </a:xfrm>
          <a:prstGeom prst="rect">
            <a:avLst/>
          </a:prstGeom>
          <a:noFill/>
          <a:ln/>
        </p:spPr>
        <p:txBody>
          <a:bodyPr wrap="square" rtlCol="0" anchor="ctr"/>
          <a:lstStyle/>
          <a:p>
            <a:pPr indent="0" marL="0">
              <a:buNone/>
            </a:pPr>
            <a:r>
              <a:rPr lang="en-US" sz="800" b="1" dirty="0">
                <a:solidFill>
                  <a:srgbClr val="94A3B8"/>
                </a:solidFill>
                <a:latin typeface="Segoe UI" pitchFamily="34" charset="0"/>
                <a:ea typeface="Segoe UI" pitchFamily="34" charset="-122"/>
                <a:cs typeface="Segoe UI" pitchFamily="34" charset="-120"/>
              </a:rPr>
              <a:t>THE OUTRIGHT WINNER</a:t>
            </a:r>
            <a:endParaRPr lang="en-US" sz="800" dirty="0"/>
          </a:p>
        </p:txBody>
      </p:sp>
      <p:sp>
        <p:nvSpPr>
          <p:cNvPr id="10" name="Text 8"/>
          <p:cNvSpPr/>
          <p:nvPr/>
        </p:nvSpPr>
        <p:spPr>
          <a:xfrm>
            <a:off x="914400" y="4937760"/>
            <a:ext cx="2179244" cy="41148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Razorpay 🥇</a:t>
            </a:r>
            <a:endParaRPr lang="en-US" sz="1300" dirty="0"/>
          </a:p>
        </p:txBody>
      </p:sp>
      <p:sp>
        <p:nvSpPr>
          <p:cNvPr id="11" name="Text 9"/>
          <p:cNvSpPr/>
          <p:nvPr/>
        </p:nvSpPr>
        <p:spPr>
          <a:xfrm>
            <a:off x="914400" y="5394960"/>
            <a:ext cx="2179244" cy="36576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Marketplace standard in India</a:t>
            </a:r>
            <a:endParaRPr lang="en-US" sz="900" dirty="0"/>
          </a:p>
        </p:txBody>
      </p:sp>
      <p:sp>
        <p:nvSpPr>
          <p:cNvPr id="12" name="Shape 10"/>
          <p:cNvSpPr/>
          <p:nvPr/>
        </p:nvSpPr>
        <p:spPr>
          <a:xfrm>
            <a:off x="3459404" y="4480560"/>
            <a:ext cx="2545004" cy="1463040"/>
          </a:xfrm>
          <a:prstGeom prst="roundRect">
            <a:avLst>
              <a:gd name="adj" fmla="val 6250"/>
            </a:avLst>
          </a:prstGeom>
          <a:solidFill>
            <a:srgbClr val="111827"/>
          </a:solidFill>
          <a:ln w="12700">
            <a:solidFill>
              <a:srgbClr val="1E293B"/>
            </a:solidFill>
            <a:prstDash val="solid"/>
          </a:ln>
        </p:spPr>
      </p:sp>
      <p:sp>
        <p:nvSpPr>
          <p:cNvPr id="13" name="Shape 11"/>
          <p:cNvSpPr/>
          <p:nvPr/>
        </p:nvSpPr>
        <p:spPr>
          <a:xfrm>
            <a:off x="3596564" y="4480560"/>
            <a:ext cx="2270684" cy="45720"/>
          </a:xfrm>
          <a:prstGeom prst="rect">
            <a:avLst/>
          </a:prstGeom>
          <a:solidFill>
            <a:srgbClr val="2563EB"/>
          </a:solidFill>
          <a:ln/>
        </p:spPr>
      </p:sp>
      <p:sp>
        <p:nvSpPr>
          <p:cNvPr id="14" name="Text 12"/>
          <p:cNvSpPr/>
          <p:nvPr/>
        </p:nvSpPr>
        <p:spPr>
          <a:xfrm>
            <a:off x="3642284" y="4663440"/>
            <a:ext cx="2179244" cy="228600"/>
          </a:xfrm>
          <a:prstGeom prst="rect">
            <a:avLst/>
          </a:prstGeom>
          <a:noFill/>
          <a:ln/>
        </p:spPr>
        <p:txBody>
          <a:bodyPr wrap="square" rtlCol="0" anchor="ctr"/>
          <a:lstStyle/>
          <a:p>
            <a:pPr indent="0" marL="0">
              <a:buNone/>
            </a:pPr>
            <a:r>
              <a:rPr lang="en-US" sz="800" b="1" dirty="0">
                <a:solidFill>
                  <a:srgbClr val="94A3B8"/>
                </a:solidFill>
                <a:latin typeface="Segoe UI" pitchFamily="34" charset="0"/>
                <a:ea typeface="Segoe UI" pitchFamily="34" charset="-122"/>
                <a:cs typeface="Segoe UI" pitchFamily="34" charset="-120"/>
              </a:rPr>
              <a:t>MARKETPLACE SPLIT</a:t>
            </a:r>
            <a:endParaRPr lang="en-US" sz="800" dirty="0"/>
          </a:p>
        </p:txBody>
      </p:sp>
      <p:sp>
        <p:nvSpPr>
          <p:cNvPr id="15" name="Text 13"/>
          <p:cNvSpPr/>
          <p:nvPr/>
        </p:nvSpPr>
        <p:spPr>
          <a:xfrm>
            <a:off x="3642284" y="4937760"/>
            <a:ext cx="2179244" cy="41148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Razorpay Route</a:t>
            </a:r>
            <a:endParaRPr lang="en-US" sz="1300" dirty="0"/>
          </a:p>
        </p:txBody>
      </p:sp>
      <p:sp>
        <p:nvSpPr>
          <p:cNvPr id="16" name="Text 14"/>
          <p:cNvSpPr/>
          <p:nvPr/>
        </p:nvSpPr>
        <p:spPr>
          <a:xfrm>
            <a:off x="3642284" y="5394960"/>
            <a:ext cx="2179244" cy="36576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Automated 10% fee &amp; 90% payout</a:t>
            </a:r>
            <a:endParaRPr lang="en-US" sz="900" dirty="0"/>
          </a:p>
        </p:txBody>
      </p:sp>
      <p:sp>
        <p:nvSpPr>
          <p:cNvPr id="17" name="Shape 15"/>
          <p:cNvSpPr/>
          <p:nvPr/>
        </p:nvSpPr>
        <p:spPr>
          <a:xfrm>
            <a:off x="6187288" y="4480560"/>
            <a:ext cx="2545004" cy="1463040"/>
          </a:xfrm>
          <a:prstGeom prst="roundRect">
            <a:avLst>
              <a:gd name="adj" fmla="val 6250"/>
            </a:avLst>
          </a:prstGeom>
          <a:solidFill>
            <a:srgbClr val="111827"/>
          </a:solidFill>
          <a:ln w="12700">
            <a:solidFill>
              <a:srgbClr val="1E293B"/>
            </a:solidFill>
            <a:prstDash val="solid"/>
          </a:ln>
        </p:spPr>
      </p:sp>
      <p:sp>
        <p:nvSpPr>
          <p:cNvPr id="18" name="Shape 16"/>
          <p:cNvSpPr/>
          <p:nvPr/>
        </p:nvSpPr>
        <p:spPr>
          <a:xfrm>
            <a:off x="6324448" y="4480560"/>
            <a:ext cx="2270684" cy="45720"/>
          </a:xfrm>
          <a:prstGeom prst="rect">
            <a:avLst/>
          </a:prstGeom>
          <a:solidFill>
            <a:srgbClr val="6366F1"/>
          </a:solidFill>
          <a:ln/>
        </p:spPr>
      </p:sp>
      <p:sp>
        <p:nvSpPr>
          <p:cNvPr id="19" name="Text 17"/>
          <p:cNvSpPr/>
          <p:nvPr/>
        </p:nvSpPr>
        <p:spPr>
          <a:xfrm>
            <a:off x="6370168" y="4663440"/>
            <a:ext cx="2179244" cy="228600"/>
          </a:xfrm>
          <a:prstGeom prst="rect">
            <a:avLst/>
          </a:prstGeom>
          <a:noFill/>
          <a:ln/>
        </p:spPr>
        <p:txBody>
          <a:bodyPr wrap="square" rtlCol="0" anchor="ctr"/>
          <a:lstStyle/>
          <a:p>
            <a:pPr indent="0" marL="0">
              <a:buNone/>
            </a:pPr>
            <a:r>
              <a:rPr lang="en-US" sz="800" b="1" dirty="0">
                <a:solidFill>
                  <a:srgbClr val="94A3B8"/>
                </a:solidFill>
                <a:latin typeface="Segoe UI" pitchFamily="34" charset="0"/>
                <a:ea typeface="Segoe UI" pitchFamily="34" charset="-122"/>
                <a:cs typeface="Segoe UI" pitchFamily="34" charset="-120"/>
              </a:rPr>
              <a:t>UPI DOMINANCE</a:t>
            </a:r>
            <a:endParaRPr lang="en-US" sz="800" dirty="0"/>
          </a:p>
        </p:txBody>
      </p:sp>
      <p:sp>
        <p:nvSpPr>
          <p:cNvPr id="20" name="Text 18"/>
          <p:cNvSpPr/>
          <p:nvPr/>
        </p:nvSpPr>
        <p:spPr>
          <a:xfrm>
            <a:off x="6370168" y="4937760"/>
            <a:ext cx="2179244" cy="41148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98% Success Rate</a:t>
            </a:r>
            <a:endParaRPr lang="en-US" sz="1300" dirty="0"/>
          </a:p>
        </p:txBody>
      </p:sp>
      <p:sp>
        <p:nvSpPr>
          <p:cNvPr id="21" name="Text 19"/>
          <p:cNvSpPr/>
          <p:nvPr/>
        </p:nvSpPr>
        <p:spPr>
          <a:xfrm>
            <a:off x="6370168" y="5394960"/>
            <a:ext cx="2179244" cy="36576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Native GPay, PhonePe, Paytm</a:t>
            </a:r>
            <a:endParaRPr lang="en-US" sz="900" dirty="0"/>
          </a:p>
        </p:txBody>
      </p:sp>
      <p:sp>
        <p:nvSpPr>
          <p:cNvPr id="22" name="Shape 20"/>
          <p:cNvSpPr/>
          <p:nvPr/>
        </p:nvSpPr>
        <p:spPr>
          <a:xfrm>
            <a:off x="8915171" y="4480560"/>
            <a:ext cx="2545004" cy="1463040"/>
          </a:xfrm>
          <a:prstGeom prst="roundRect">
            <a:avLst>
              <a:gd name="adj" fmla="val 6250"/>
            </a:avLst>
          </a:prstGeom>
          <a:solidFill>
            <a:srgbClr val="111827"/>
          </a:solidFill>
          <a:ln w="12700">
            <a:solidFill>
              <a:srgbClr val="1E293B"/>
            </a:solidFill>
            <a:prstDash val="solid"/>
          </a:ln>
        </p:spPr>
      </p:sp>
      <p:sp>
        <p:nvSpPr>
          <p:cNvPr id="23" name="Shape 21"/>
          <p:cNvSpPr/>
          <p:nvPr/>
        </p:nvSpPr>
        <p:spPr>
          <a:xfrm>
            <a:off x="9052331" y="4480560"/>
            <a:ext cx="2270684" cy="45720"/>
          </a:xfrm>
          <a:prstGeom prst="rect">
            <a:avLst/>
          </a:prstGeom>
          <a:solidFill>
            <a:srgbClr val="D97706"/>
          </a:solidFill>
          <a:ln/>
        </p:spPr>
      </p:sp>
      <p:sp>
        <p:nvSpPr>
          <p:cNvPr id="24" name="Text 22"/>
          <p:cNvSpPr/>
          <p:nvPr/>
        </p:nvSpPr>
        <p:spPr>
          <a:xfrm>
            <a:off x="9098051" y="4663440"/>
            <a:ext cx="2179244" cy="228600"/>
          </a:xfrm>
          <a:prstGeom prst="rect">
            <a:avLst/>
          </a:prstGeom>
          <a:noFill/>
          <a:ln/>
        </p:spPr>
        <p:txBody>
          <a:bodyPr wrap="square" rtlCol="0" anchor="ctr"/>
          <a:lstStyle/>
          <a:p>
            <a:pPr indent="0" marL="0">
              <a:buNone/>
            </a:pPr>
            <a:r>
              <a:rPr lang="en-US" sz="800" b="1" dirty="0">
                <a:solidFill>
                  <a:srgbClr val="94A3B8"/>
                </a:solidFill>
                <a:latin typeface="Segoe UI" pitchFamily="34" charset="0"/>
                <a:ea typeface="Segoe UI" pitchFamily="34" charset="-122"/>
                <a:cs typeface="Segoe UI" pitchFamily="34" charset="-120"/>
              </a:rPr>
              <a:t>INSTANT REFUNDS</a:t>
            </a:r>
            <a:endParaRPr lang="en-US" sz="800" dirty="0"/>
          </a:p>
        </p:txBody>
      </p:sp>
      <p:sp>
        <p:nvSpPr>
          <p:cNvPr id="25" name="Text 23"/>
          <p:cNvSpPr/>
          <p:nvPr/>
        </p:nvSpPr>
        <p:spPr>
          <a:xfrm>
            <a:off x="9098051" y="4937760"/>
            <a:ext cx="2179244" cy="41148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60-Second UPI</a:t>
            </a:r>
            <a:endParaRPr lang="en-US" sz="1300" dirty="0"/>
          </a:p>
        </p:txBody>
      </p:sp>
      <p:sp>
        <p:nvSpPr>
          <p:cNvPr id="26" name="Text 24"/>
          <p:cNvSpPr/>
          <p:nvPr/>
        </p:nvSpPr>
        <p:spPr>
          <a:xfrm>
            <a:off x="9098051" y="5394960"/>
            <a:ext cx="2179244" cy="36576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RazorpayX payout rail</a:t>
            </a:r>
            <a:endParaRPr lang="en-US" sz="900" dirty="0"/>
          </a:p>
        </p:txBody>
      </p:sp>
      <p:sp>
        <p:nvSpPr>
          <p:cNvPr id="27" name="Text 25"/>
          <p:cNvSpPr/>
          <p:nvPr/>
        </p:nvSpPr>
        <p:spPr>
          <a:xfrm>
            <a:off x="731520" y="6309360"/>
            <a:ext cx="10728655"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Turfify Platform Architecture Series • Specialized Addendum: Strategic Payment Gateway Selection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EXECUTIVE DECISION</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The Verdict: Why Razorpay is the Outright Winner</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2 / 8</a:t>
            </a:r>
            <a:endParaRPr lang="en-US" sz="850" dirty="0"/>
          </a:p>
        </p:txBody>
      </p:sp>
      <p:sp>
        <p:nvSpPr>
          <p:cNvPr id="8" name="Shape 6"/>
          <p:cNvSpPr/>
          <p:nvPr/>
        </p:nvSpPr>
        <p:spPr>
          <a:xfrm>
            <a:off x="731520" y="1325880"/>
            <a:ext cx="2545004" cy="4023360"/>
          </a:xfrm>
          <a:prstGeom prst="roundRect">
            <a:avLst>
              <a:gd name="adj" fmla="val 3593"/>
            </a:avLst>
          </a:prstGeom>
          <a:solidFill>
            <a:srgbClr val="FFFFFF"/>
          </a:solidFill>
          <a:ln w="12700">
            <a:solidFill>
              <a:srgbClr val="E2E8F0"/>
            </a:solidFill>
            <a:prstDash val="solid"/>
          </a:ln>
        </p:spPr>
      </p:sp>
      <p:sp>
        <p:nvSpPr>
          <p:cNvPr id="9" name="Shape 7"/>
          <p:cNvSpPr/>
          <p:nvPr/>
        </p:nvSpPr>
        <p:spPr>
          <a:xfrm>
            <a:off x="822960" y="1325880"/>
            <a:ext cx="2362124" cy="45720"/>
          </a:xfrm>
          <a:prstGeom prst="rect">
            <a:avLst/>
          </a:prstGeom>
          <a:solidFill>
            <a:srgbClr val="2563EB"/>
          </a:solidFill>
          <a:ln/>
        </p:spPr>
      </p:sp>
      <p:sp>
        <p:nvSpPr>
          <p:cNvPr id="10" name="Shape 8"/>
          <p:cNvSpPr/>
          <p:nvPr/>
        </p:nvSpPr>
        <p:spPr>
          <a:xfrm>
            <a:off x="914400" y="1463040"/>
            <a:ext cx="502920" cy="274320"/>
          </a:xfrm>
          <a:prstGeom prst="roundRect">
            <a:avLst>
              <a:gd name="adj" fmla="val 16667"/>
            </a:avLst>
          </a:prstGeom>
          <a:solidFill>
            <a:srgbClr val="2563EB"/>
          </a:solidFill>
          <a:ln/>
        </p:spPr>
      </p:sp>
      <p:sp>
        <p:nvSpPr>
          <p:cNvPr id="11" name="Text 9"/>
          <p:cNvSpPr/>
          <p:nvPr/>
        </p:nvSpPr>
        <p:spPr>
          <a:xfrm>
            <a:off x="914400" y="1463040"/>
            <a:ext cx="502920" cy="274320"/>
          </a:xfrm>
          <a:prstGeom prst="rect">
            <a:avLst/>
          </a:prstGeom>
          <a:noFill/>
          <a:ln/>
        </p:spPr>
        <p:txBody>
          <a:bodyPr wrap="square" rtlCol="0" anchor="ctr"/>
          <a:lstStyle/>
          <a:p>
            <a:pPr algn="ctr" indent="0" marL="0">
              <a:buNone/>
            </a:pPr>
            <a:r>
              <a:rPr lang="en-US" sz="1000" b="1" dirty="0">
                <a:solidFill>
                  <a:srgbClr val="FFFFFF"/>
                </a:solidFill>
              </a:rPr>
              <a:t>01</a:t>
            </a:r>
            <a:endParaRPr lang="en-US" sz="1000" dirty="0"/>
          </a:p>
        </p:txBody>
      </p:sp>
      <p:sp>
        <p:nvSpPr>
          <p:cNvPr id="12" name="Text 10"/>
          <p:cNvSpPr/>
          <p:nvPr/>
        </p:nvSpPr>
        <p:spPr>
          <a:xfrm>
            <a:off x="1508760" y="1463040"/>
            <a:ext cx="457200" cy="27432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13" name="Text 11"/>
          <p:cNvSpPr/>
          <p:nvPr/>
        </p:nvSpPr>
        <p:spPr>
          <a:xfrm>
            <a:off x="914400" y="1874520"/>
            <a:ext cx="2179244"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Razorpay Route</a:t>
            </a:r>
            <a:endParaRPr lang="en-US" sz="1200" dirty="0"/>
          </a:p>
        </p:txBody>
      </p:sp>
      <p:sp>
        <p:nvSpPr>
          <p:cNvPr id="14" name="Text 12"/>
          <p:cNvSpPr/>
          <p:nvPr/>
        </p:nvSpPr>
        <p:spPr>
          <a:xfrm>
            <a:off x="914400" y="2194560"/>
            <a:ext cx="2179244" cy="32004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Built Specifically for Marketplaces</a:t>
            </a:r>
            <a:endParaRPr lang="en-US" sz="750" dirty="0"/>
          </a:p>
        </p:txBody>
      </p:sp>
      <p:sp>
        <p:nvSpPr>
          <p:cNvPr id="15" name="Shape 13"/>
          <p:cNvSpPr/>
          <p:nvPr/>
        </p:nvSpPr>
        <p:spPr>
          <a:xfrm>
            <a:off x="914400" y="2560320"/>
            <a:ext cx="2179244" cy="0"/>
          </a:xfrm>
          <a:prstGeom prst="line">
            <a:avLst/>
          </a:prstGeom>
          <a:noFill/>
          <a:ln w="12700">
            <a:solidFill>
              <a:srgbClr val="E2E8F0"/>
            </a:solidFill>
            <a:prstDash val="solid"/>
          </a:ln>
        </p:spPr>
      </p:sp>
      <p:sp>
        <p:nvSpPr>
          <p:cNvPr id="16" name="Shape 14"/>
          <p:cNvSpPr/>
          <p:nvPr/>
        </p:nvSpPr>
        <p:spPr>
          <a:xfrm>
            <a:off x="914400" y="2752344"/>
            <a:ext cx="73152" cy="73152"/>
          </a:xfrm>
          <a:prstGeom prst="ellipse">
            <a:avLst/>
          </a:prstGeom>
          <a:solidFill>
            <a:srgbClr val="2563EB"/>
          </a:solidFill>
          <a:ln/>
        </p:spPr>
      </p:sp>
      <p:sp>
        <p:nvSpPr>
          <p:cNvPr id="17" name="Text 15"/>
          <p:cNvSpPr/>
          <p:nvPr/>
        </p:nvSpPr>
        <p:spPr>
          <a:xfrm>
            <a:off x="1051560" y="2697480"/>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Most gateways only pay ONE bank account</a:t>
            </a:r>
            <a:endParaRPr lang="en-US" sz="820" dirty="0"/>
          </a:p>
        </p:txBody>
      </p:sp>
      <p:sp>
        <p:nvSpPr>
          <p:cNvPr id="18" name="Shape 16"/>
          <p:cNvSpPr/>
          <p:nvPr/>
        </p:nvSpPr>
        <p:spPr>
          <a:xfrm>
            <a:off x="914400" y="3374136"/>
            <a:ext cx="73152" cy="73152"/>
          </a:xfrm>
          <a:prstGeom prst="ellipse">
            <a:avLst/>
          </a:prstGeom>
          <a:solidFill>
            <a:srgbClr val="2563EB"/>
          </a:solidFill>
          <a:ln/>
        </p:spPr>
      </p:sp>
      <p:sp>
        <p:nvSpPr>
          <p:cNvPr id="19" name="Text 17"/>
          <p:cNvSpPr/>
          <p:nvPr/>
        </p:nvSpPr>
        <p:spPr>
          <a:xfrm>
            <a:off x="1051560" y="3319272"/>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Route automatically splits each payment at checkout</a:t>
            </a:r>
            <a:endParaRPr lang="en-US" sz="820" dirty="0"/>
          </a:p>
        </p:txBody>
      </p:sp>
      <p:sp>
        <p:nvSpPr>
          <p:cNvPr id="20" name="Shape 18"/>
          <p:cNvSpPr/>
          <p:nvPr/>
        </p:nvSpPr>
        <p:spPr>
          <a:xfrm>
            <a:off x="914400" y="3995928"/>
            <a:ext cx="73152" cy="73152"/>
          </a:xfrm>
          <a:prstGeom prst="ellipse">
            <a:avLst/>
          </a:prstGeom>
          <a:solidFill>
            <a:srgbClr val="2563EB"/>
          </a:solidFill>
          <a:ln/>
        </p:spPr>
      </p:sp>
      <p:sp>
        <p:nvSpPr>
          <p:cNvPr id="21" name="Text 19"/>
          <p:cNvSpPr/>
          <p:nvPr/>
        </p:nvSpPr>
        <p:spPr>
          <a:xfrm>
            <a:off x="1051560" y="3941064"/>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Instantly sends 10% to Turfify &amp; 90% to the Turf Owner</a:t>
            </a:r>
            <a:endParaRPr lang="en-US" sz="820" dirty="0"/>
          </a:p>
        </p:txBody>
      </p:sp>
      <p:sp>
        <p:nvSpPr>
          <p:cNvPr id="22" name="Shape 20"/>
          <p:cNvSpPr/>
          <p:nvPr/>
        </p:nvSpPr>
        <p:spPr>
          <a:xfrm>
            <a:off x="914400" y="4617720"/>
            <a:ext cx="73152" cy="73152"/>
          </a:xfrm>
          <a:prstGeom prst="ellipse">
            <a:avLst/>
          </a:prstGeom>
          <a:solidFill>
            <a:srgbClr val="2563EB"/>
          </a:solidFill>
          <a:ln/>
        </p:spPr>
      </p:sp>
      <p:sp>
        <p:nvSpPr>
          <p:cNvPr id="23" name="Text 21"/>
          <p:cNvSpPr/>
          <p:nvPr/>
        </p:nvSpPr>
        <p:spPr>
          <a:xfrm>
            <a:off x="1051560" y="4562856"/>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Automates Section 194-O TDS tax compliance</a:t>
            </a:r>
            <a:endParaRPr lang="en-US" sz="820" dirty="0"/>
          </a:p>
        </p:txBody>
      </p:sp>
      <p:sp>
        <p:nvSpPr>
          <p:cNvPr id="24" name="Shape 22"/>
          <p:cNvSpPr/>
          <p:nvPr/>
        </p:nvSpPr>
        <p:spPr>
          <a:xfrm>
            <a:off x="3459404" y="1325880"/>
            <a:ext cx="2545004" cy="4023360"/>
          </a:xfrm>
          <a:prstGeom prst="roundRect">
            <a:avLst>
              <a:gd name="adj" fmla="val 3593"/>
            </a:avLst>
          </a:prstGeom>
          <a:solidFill>
            <a:srgbClr val="FFFFFF"/>
          </a:solidFill>
          <a:ln w="12700">
            <a:solidFill>
              <a:srgbClr val="E2E8F0"/>
            </a:solidFill>
            <a:prstDash val="solid"/>
          </a:ln>
        </p:spPr>
      </p:sp>
      <p:sp>
        <p:nvSpPr>
          <p:cNvPr id="25" name="Shape 23"/>
          <p:cNvSpPr/>
          <p:nvPr/>
        </p:nvSpPr>
        <p:spPr>
          <a:xfrm>
            <a:off x="3550844" y="1325880"/>
            <a:ext cx="2362124" cy="45720"/>
          </a:xfrm>
          <a:prstGeom prst="rect">
            <a:avLst/>
          </a:prstGeom>
          <a:solidFill>
            <a:srgbClr val="4F46E5"/>
          </a:solidFill>
          <a:ln/>
        </p:spPr>
      </p:sp>
      <p:sp>
        <p:nvSpPr>
          <p:cNvPr id="26" name="Shape 24"/>
          <p:cNvSpPr/>
          <p:nvPr/>
        </p:nvSpPr>
        <p:spPr>
          <a:xfrm>
            <a:off x="3642284" y="1463040"/>
            <a:ext cx="502920" cy="274320"/>
          </a:xfrm>
          <a:prstGeom prst="roundRect">
            <a:avLst>
              <a:gd name="adj" fmla="val 16667"/>
            </a:avLst>
          </a:prstGeom>
          <a:solidFill>
            <a:srgbClr val="4F46E5"/>
          </a:solidFill>
          <a:ln/>
        </p:spPr>
      </p:sp>
      <p:sp>
        <p:nvSpPr>
          <p:cNvPr id="27" name="Text 25"/>
          <p:cNvSpPr/>
          <p:nvPr/>
        </p:nvSpPr>
        <p:spPr>
          <a:xfrm>
            <a:off x="3642284" y="1463040"/>
            <a:ext cx="502920" cy="274320"/>
          </a:xfrm>
          <a:prstGeom prst="rect">
            <a:avLst/>
          </a:prstGeom>
          <a:noFill/>
          <a:ln/>
        </p:spPr>
        <p:txBody>
          <a:bodyPr wrap="square" rtlCol="0" anchor="ctr"/>
          <a:lstStyle/>
          <a:p>
            <a:pPr algn="ctr" indent="0" marL="0">
              <a:buNone/>
            </a:pPr>
            <a:r>
              <a:rPr lang="en-US" sz="1000" b="1" dirty="0">
                <a:solidFill>
                  <a:srgbClr val="FFFFFF"/>
                </a:solidFill>
              </a:rPr>
              <a:t>02</a:t>
            </a:r>
            <a:endParaRPr lang="en-US" sz="1000" dirty="0"/>
          </a:p>
        </p:txBody>
      </p:sp>
      <p:sp>
        <p:nvSpPr>
          <p:cNvPr id="28" name="Text 26"/>
          <p:cNvSpPr/>
          <p:nvPr/>
        </p:nvSpPr>
        <p:spPr>
          <a:xfrm>
            <a:off x="4236644" y="1463040"/>
            <a:ext cx="457200" cy="27432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29" name="Text 27"/>
          <p:cNvSpPr/>
          <p:nvPr/>
        </p:nvSpPr>
        <p:spPr>
          <a:xfrm>
            <a:off x="3642284" y="1874520"/>
            <a:ext cx="2179244"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UPI Dominance</a:t>
            </a:r>
            <a:endParaRPr lang="en-US" sz="1200" dirty="0"/>
          </a:p>
        </p:txBody>
      </p:sp>
      <p:sp>
        <p:nvSpPr>
          <p:cNvPr id="30" name="Text 28"/>
          <p:cNvSpPr/>
          <p:nvPr/>
        </p:nvSpPr>
        <p:spPr>
          <a:xfrm>
            <a:off x="3642284" y="2194560"/>
            <a:ext cx="2179244" cy="32004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98% Transaction Success Rate</a:t>
            </a:r>
            <a:endParaRPr lang="en-US" sz="750" dirty="0"/>
          </a:p>
        </p:txBody>
      </p:sp>
      <p:sp>
        <p:nvSpPr>
          <p:cNvPr id="31" name="Shape 29"/>
          <p:cNvSpPr/>
          <p:nvPr/>
        </p:nvSpPr>
        <p:spPr>
          <a:xfrm>
            <a:off x="3642284" y="2560320"/>
            <a:ext cx="2179244" cy="0"/>
          </a:xfrm>
          <a:prstGeom prst="line">
            <a:avLst/>
          </a:prstGeom>
          <a:noFill/>
          <a:ln w="12700">
            <a:solidFill>
              <a:srgbClr val="E2E8F0"/>
            </a:solidFill>
            <a:prstDash val="solid"/>
          </a:ln>
        </p:spPr>
      </p:sp>
      <p:sp>
        <p:nvSpPr>
          <p:cNvPr id="32" name="Shape 30"/>
          <p:cNvSpPr/>
          <p:nvPr/>
        </p:nvSpPr>
        <p:spPr>
          <a:xfrm>
            <a:off x="3642284" y="2752344"/>
            <a:ext cx="73152" cy="73152"/>
          </a:xfrm>
          <a:prstGeom prst="ellipse">
            <a:avLst/>
          </a:prstGeom>
          <a:solidFill>
            <a:srgbClr val="4F46E5"/>
          </a:solidFill>
          <a:ln/>
        </p:spPr>
      </p:sp>
      <p:sp>
        <p:nvSpPr>
          <p:cNvPr id="33" name="Text 31"/>
          <p:cNvSpPr/>
          <p:nvPr/>
        </p:nvSpPr>
        <p:spPr>
          <a:xfrm>
            <a:off x="3779444" y="2697480"/>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85%+ of sports bookings in India happen via UPI</a:t>
            </a:r>
            <a:endParaRPr lang="en-US" sz="820" dirty="0"/>
          </a:p>
        </p:txBody>
      </p:sp>
      <p:sp>
        <p:nvSpPr>
          <p:cNvPr id="34" name="Shape 32"/>
          <p:cNvSpPr/>
          <p:nvPr/>
        </p:nvSpPr>
        <p:spPr>
          <a:xfrm>
            <a:off x="3642284" y="3374136"/>
            <a:ext cx="73152" cy="73152"/>
          </a:xfrm>
          <a:prstGeom prst="ellipse">
            <a:avLst/>
          </a:prstGeom>
          <a:solidFill>
            <a:srgbClr val="4F46E5"/>
          </a:solidFill>
          <a:ln/>
        </p:spPr>
      </p:sp>
      <p:sp>
        <p:nvSpPr>
          <p:cNvPr id="35" name="Text 33"/>
          <p:cNvSpPr/>
          <p:nvPr/>
        </p:nvSpPr>
        <p:spPr>
          <a:xfrm>
            <a:off x="3779444" y="3319272"/>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Opens Google Pay, PhonePe, or Paytm in 5 seconds</a:t>
            </a:r>
            <a:endParaRPr lang="en-US" sz="820" dirty="0"/>
          </a:p>
        </p:txBody>
      </p:sp>
      <p:sp>
        <p:nvSpPr>
          <p:cNvPr id="36" name="Shape 34"/>
          <p:cNvSpPr/>
          <p:nvPr/>
        </p:nvSpPr>
        <p:spPr>
          <a:xfrm>
            <a:off x="3642284" y="3995928"/>
            <a:ext cx="73152" cy="73152"/>
          </a:xfrm>
          <a:prstGeom prst="ellipse">
            <a:avLst/>
          </a:prstGeom>
          <a:solidFill>
            <a:srgbClr val="4F46E5"/>
          </a:solidFill>
          <a:ln/>
        </p:spPr>
      </p:sp>
      <p:sp>
        <p:nvSpPr>
          <p:cNvPr id="37" name="Text 35"/>
          <p:cNvSpPr/>
          <p:nvPr/>
        </p:nvSpPr>
        <p:spPr>
          <a:xfrm>
            <a:off x="3779444" y="3941064"/>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No typing 16-digit card numbers or waiting for SMS</a:t>
            </a:r>
            <a:endParaRPr lang="en-US" sz="820" dirty="0"/>
          </a:p>
        </p:txBody>
      </p:sp>
      <p:sp>
        <p:nvSpPr>
          <p:cNvPr id="38" name="Shape 36"/>
          <p:cNvSpPr/>
          <p:nvPr/>
        </p:nvSpPr>
        <p:spPr>
          <a:xfrm>
            <a:off x="3642284" y="4617720"/>
            <a:ext cx="73152" cy="73152"/>
          </a:xfrm>
          <a:prstGeom prst="ellipse">
            <a:avLst/>
          </a:prstGeom>
          <a:solidFill>
            <a:srgbClr val="4F46E5"/>
          </a:solidFill>
          <a:ln/>
        </p:spPr>
      </p:sp>
      <p:sp>
        <p:nvSpPr>
          <p:cNvPr id="39" name="Text 37"/>
          <p:cNvSpPr/>
          <p:nvPr/>
        </p:nvSpPr>
        <p:spPr>
          <a:xfrm>
            <a:off x="3779444" y="4562856"/>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Highest authorization success rate across Indian banks</a:t>
            </a:r>
            <a:endParaRPr lang="en-US" sz="820" dirty="0"/>
          </a:p>
        </p:txBody>
      </p:sp>
      <p:sp>
        <p:nvSpPr>
          <p:cNvPr id="40" name="Shape 38"/>
          <p:cNvSpPr/>
          <p:nvPr/>
        </p:nvSpPr>
        <p:spPr>
          <a:xfrm>
            <a:off x="6187288" y="1325880"/>
            <a:ext cx="2545004" cy="4023360"/>
          </a:xfrm>
          <a:prstGeom prst="roundRect">
            <a:avLst>
              <a:gd name="adj" fmla="val 3593"/>
            </a:avLst>
          </a:prstGeom>
          <a:solidFill>
            <a:srgbClr val="FFFFFF"/>
          </a:solidFill>
          <a:ln w="12700">
            <a:solidFill>
              <a:srgbClr val="E2E8F0"/>
            </a:solidFill>
            <a:prstDash val="solid"/>
          </a:ln>
        </p:spPr>
      </p:sp>
      <p:sp>
        <p:nvSpPr>
          <p:cNvPr id="41" name="Shape 39"/>
          <p:cNvSpPr/>
          <p:nvPr/>
        </p:nvSpPr>
        <p:spPr>
          <a:xfrm>
            <a:off x="6278728" y="1325880"/>
            <a:ext cx="2362124" cy="45720"/>
          </a:xfrm>
          <a:prstGeom prst="rect">
            <a:avLst/>
          </a:prstGeom>
          <a:solidFill>
            <a:srgbClr val="059669"/>
          </a:solidFill>
          <a:ln/>
        </p:spPr>
      </p:sp>
      <p:sp>
        <p:nvSpPr>
          <p:cNvPr id="42" name="Shape 40"/>
          <p:cNvSpPr/>
          <p:nvPr/>
        </p:nvSpPr>
        <p:spPr>
          <a:xfrm>
            <a:off x="6370168" y="1463040"/>
            <a:ext cx="502920" cy="274320"/>
          </a:xfrm>
          <a:prstGeom prst="roundRect">
            <a:avLst>
              <a:gd name="adj" fmla="val 16667"/>
            </a:avLst>
          </a:prstGeom>
          <a:solidFill>
            <a:srgbClr val="059669"/>
          </a:solidFill>
          <a:ln/>
        </p:spPr>
      </p:sp>
      <p:sp>
        <p:nvSpPr>
          <p:cNvPr id="43" name="Text 41"/>
          <p:cNvSpPr/>
          <p:nvPr/>
        </p:nvSpPr>
        <p:spPr>
          <a:xfrm>
            <a:off x="6370168" y="1463040"/>
            <a:ext cx="502920" cy="274320"/>
          </a:xfrm>
          <a:prstGeom prst="rect">
            <a:avLst/>
          </a:prstGeom>
          <a:noFill/>
          <a:ln/>
        </p:spPr>
        <p:txBody>
          <a:bodyPr wrap="square" rtlCol="0" anchor="ctr"/>
          <a:lstStyle/>
          <a:p>
            <a:pPr algn="ctr" indent="0" marL="0">
              <a:buNone/>
            </a:pPr>
            <a:r>
              <a:rPr lang="en-US" sz="1000" b="1" dirty="0">
                <a:solidFill>
                  <a:srgbClr val="FFFFFF"/>
                </a:solidFill>
              </a:rPr>
              <a:t>03</a:t>
            </a:r>
            <a:endParaRPr lang="en-US" sz="1000" dirty="0"/>
          </a:p>
        </p:txBody>
      </p:sp>
      <p:sp>
        <p:nvSpPr>
          <p:cNvPr id="44" name="Text 42"/>
          <p:cNvSpPr/>
          <p:nvPr/>
        </p:nvSpPr>
        <p:spPr>
          <a:xfrm>
            <a:off x="6964528" y="1463040"/>
            <a:ext cx="457200" cy="27432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45" name="Text 43"/>
          <p:cNvSpPr/>
          <p:nvPr/>
        </p:nvSpPr>
        <p:spPr>
          <a:xfrm>
            <a:off x="6370168" y="1874520"/>
            <a:ext cx="2179244"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RazorpayX Payouts</a:t>
            </a:r>
            <a:endParaRPr lang="en-US" sz="1200" dirty="0"/>
          </a:p>
        </p:txBody>
      </p:sp>
      <p:sp>
        <p:nvSpPr>
          <p:cNvPr id="46" name="Text 44"/>
          <p:cNvSpPr/>
          <p:nvPr/>
        </p:nvSpPr>
        <p:spPr>
          <a:xfrm>
            <a:off x="6370168" y="2194560"/>
            <a:ext cx="2179244" cy="32004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60-Second Instant Refunds</a:t>
            </a:r>
            <a:endParaRPr lang="en-US" sz="750" dirty="0"/>
          </a:p>
        </p:txBody>
      </p:sp>
      <p:sp>
        <p:nvSpPr>
          <p:cNvPr id="47" name="Shape 45"/>
          <p:cNvSpPr/>
          <p:nvPr/>
        </p:nvSpPr>
        <p:spPr>
          <a:xfrm>
            <a:off x="6370168" y="2560320"/>
            <a:ext cx="2179244" cy="0"/>
          </a:xfrm>
          <a:prstGeom prst="line">
            <a:avLst/>
          </a:prstGeom>
          <a:noFill/>
          <a:ln w="12700">
            <a:solidFill>
              <a:srgbClr val="E2E8F0"/>
            </a:solidFill>
            <a:prstDash val="solid"/>
          </a:ln>
        </p:spPr>
      </p:sp>
      <p:sp>
        <p:nvSpPr>
          <p:cNvPr id="48" name="Shape 46"/>
          <p:cNvSpPr/>
          <p:nvPr/>
        </p:nvSpPr>
        <p:spPr>
          <a:xfrm>
            <a:off x="6370168" y="2752344"/>
            <a:ext cx="73152" cy="73152"/>
          </a:xfrm>
          <a:prstGeom prst="ellipse">
            <a:avLst/>
          </a:prstGeom>
          <a:solidFill>
            <a:srgbClr val="059669"/>
          </a:solidFill>
          <a:ln/>
        </p:spPr>
      </p:sp>
      <p:sp>
        <p:nvSpPr>
          <p:cNvPr id="49" name="Text 47"/>
          <p:cNvSpPr/>
          <p:nvPr/>
        </p:nvSpPr>
        <p:spPr>
          <a:xfrm>
            <a:off x="6507328" y="2697480"/>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Rainout or match cancelled? Player gets money in 60s</a:t>
            </a:r>
            <a:endParaRPr lang="en-US" sz="820" dirty="0"/>
          </a:p>
        </p:txBody>
      </p:sp>
      <p:sp>
        <p:nvSpPr>
          <p:cNvPr id="50" name="Shape 48"/>
          <p:cNvSpPr/>
          <p:nvPr/>
        </p:nvSpPr>
        <p:spPr>
          <a:xfrm>
            <a:off x="6370168" y="3374136"/>
            <a:ext cx="73152" cy="73152"/>
          </a:xfrm>
          <a:prstGeom prst="ellipse">
            <a:avLst/>
          </a:prstGeom>
          <a:solidFill>
            <a:srgbClr val="059669"/>
          </a:solidFill>
          <a:ln/>
        </p:spPr>
      </p:sp>
      <p:sp>
        <p:nvSpPr>
          <p:cNvPr id="51" name="Text 49"/>
          <p:cNvSpPr/>
          <p:nvPr/>
        </p:nvSpPr>
        <p:spPr>
          <a:xfrm>
            <a:off x="6507328" y="3319272"/>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Standard banking refunds make players wait 5 to 7 days</a:t>
            </a:r>
            <a:endParaRPr lang="en-US" sz="820" dirty="0"/>
          </a:p>
        </p:txBody>
      </p:sp>
      <p:sp>
        <p:nvSpPr>
          <p:cNvPr id="52" name="Shape 50"/>
          <p:cNvSpPr/>
          <p:nvPr/>
        </p:nvSpPr>
        <p:spPr>
          <a:xfrm>
            <a:off x="6370168" y="3995928"/>
            <a:ext cx="73152" cy="73152"/>
          </a:xfrm>
          <a:prstGeom prst="ellipse">
            <a:avLst/>
          </a:prstGeom>
          <a:solidFill>
            <a:srgbClr val="059669"/>
          </a:solidFill>
          <a:ln/>
        </p:spPr>
      </p:sp>
      <p:sp>
        <p:nvSpPr>
          <p:cNvPr id="53" name="Text 51"/>
          <p:cNvSpPr/>
          <p:nvPr/>
        </p:nvSpPr>
        <p:spPr>
          <a:xfrm>
            <a:off x="6507328" y="3941064"/>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Direct IMPS / UPI transfer straight to player's account</a:t>
            </a:r>
            <a:endParaRPr lang="en-US" sz="820" dirty="0"/>
          </a:p>
        </p:txBody>
      </p:sp>
      <p:sp>
        <p:nvSpPr>
          <p:cNvPr id="54" name="Shape 52"/>
          <p:cNvSpPr/>
          <p:nvPr/>
        </p:nvSpPr>
        <p:spPr>
          <a:xfrm>
            <a:off x="6370168" y="4617720"/>
            <a:ext cx="73152" cy="73152"/>
          </a:xfrm>
          <a:prstGeom prst="ellipse">
            <a:avLst/>
          </a:prstGeom>
          <a:solidFill>
            <a:srgbClr val="059669"/>
          </a:solidFill>
          <a:ln/>
        </p:spPr>
      </p:sp>
      <p:sp>
        <p:nvSpPr>
          <p:cNvPr id="55" name="Text 53"/>
          <p:cNvSpPr/>
          <p:nvPr/>
        </p:nvSpPr>
        <p:spPr>
          <a:xfrm>
            <a:off x="6507328" y="4562856"/>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Eliminates 90% of customer support complaints</a:t>
            </a:r>
            <a:endParaRPr lang="en-US" sz="820" dirty="0"/>
          </a:p>
        </p:txBody>
      </p:sp>
      <p:sp>
        <p:nvSpPr>
          <p:cNvPr id="56" name="Shape 54"/>
          <p:cNvSpPr/>
          <p:nvPr/>
        </p:nvSpPr>
        <p:spPr>
          <a:xfrm>
            <a:off x="8915171" y="1325880"/>
            <a:ext cx="2545004" cy="4023360"/>
          </a:xfrm>
          <a:prstGeom prst="roundRect">
            <a:avLst>
              <a:gd name="adj" fmla="val 3593"/>
            </a:avLst>
          </a:prstGeom>
          <a:solidFill>
            <a:srgbClr val="FFFFFF"/>
          </a:solidFill>
          <a:ln w="12700">
            <a:solidFill>
              <a:srgbClr val="E2E8F0"/>
            </a:solidFill>
            <a:prstDash val="solid"/>
          </a:ln>
        </p:spPr>
      </p:sp>
      <p:sp>
        <p:nvSpPr>
          <p:cNvPr id="57" name="Shape 55"/>
          <p:cNvSpPr/>
          <p:nvPr/>
        </p:nvSpPr>
        <p:spPr>
          <a:xfrm>
            <a:off x="9006611" y="1325880"/>
            <a:ext cx="2362124" cy="45720"/>
          </a:xfrm>
          <a:prstGeom prst="rect">
            <a:avLst/>
          </a:prstGeom>
          <a:solidFill>
            <a:srgbClr val="D97706"/>
          </a:solidFill>
          <a:ln/>
        </p:spPr>
      </p:sp>
      <p:sp>
        <p:nvSpPr>
          <p:cNvPr id="58" name="Shape 56"/>
          <p:cNvSpPr/>
          <p:nvPr/>
        </p:nvSpPr>
        <p:spPr>
          <a:xfrm>
            <a:off x="9098051" y="1463040"/>
            <a:ext cx="502920" cy="274320"/>
          </a:xfrm>
          <a:prstGeom prst="roundRect">
            <a:avLst>
              <a:gd name="adj" fmla="val 16667"/>
            </a:avLst>
          </a:prstGeom>
          <a:solidFill>
            <a:srgbClr val="D97706"/>
          </a:solidFill>
          <a:ln/>
        </p:spPr>
      </p:sp>
      <p:sp>
        <p:nvSpPr>
          <p:cNvPr id="59" name="Text 57"/>
          <p:cNvSpPr/>
          <p:nvPr/>
        </p:nvSpPr>
        <p:spPr>
          <a:xfrm>
            <a:off x="9098051" y="1463040"/>
            <a:ext cx="502920" cy="274320"/>
          </a:xfrm>
          <a:prstGeom prst="rect">
            <a:avLst/>
          </a:prstGeom>
          <a:noFill/>
          <a:ln/>
        </p:spPr>
        <p:txBody>
          <a:bodyPr wrap="square" rtlCol="0" anchor="ctr"/>
          <a:lstStyle/>
          <a:p>
            <a:pPr algn="ctr" indent="0" marL="0">
              <a:buNone/>
            </a:pPr>
            <a:r>
              <a:rPr lang="en-US" sz="1000" b="1" dirty="0">
                <a:solidFill>
                  <a:srgbClr val="FFFFFF"/>
                </a:solidFill>
              </a:rPr>
              <a:t>04</a:t>
            </a:r>
            <a:endParaRPr lang="en-US" sz="1000" dirty="0"/>
          </a:p>
        </p:txBody>
      </p:sp>
      <p:sp>
        <p:nvSpPr>
          <p:cNvPr id="60" name="Text 58"/>
          <p:cNvSpPr/>
          <p:nvPr/>
        </p:nvSpPr>
        <p:spPr>
          <a:xfrm>
            <a:off x="9692411" y="1463040"/>
            <a:ext cx="457200" cy="27432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61" name="Text 59"/>
          <p:cNvSpPr/>
          <p:nvPr/>
        </p:nvSpPr>
        <p:spPr>
          <a:xfrm>
            <a:off x="9098051" y="1874520"/>
            <a:ext cx="2179244"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Developer First</a:t>
            </a:r>
            <a:endParaRPr lang="en-US" sz="1200" dirty="0"/>
          </a:p>
        </p:txBody>
      </p:sp>
      <p:sp>
        <p:nvSpPr>
          <p:cNvPr id="62" name="Text 60"/>
          <p:cNvSpPr/>
          <p:nvPr/>
        </p:nvSpPr>
        <p:spPr>
          <a:xfrm>
            <a:off x="9098051" y="2194560"/>
            <a:ext cx="2179244" cy="32004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Battle-Tested Node.js SDK &amp; Webhooks</a:t>
            </a:r>
            <a:endParaRPr lang="en-US" sz="750" dirty="0"/>
          </a:p>
        </p:txBody>
      </p:sp>
      <p:sp>
        <p:nvSpPr>
          <p:cNvPr id="63" name="Shape 61"/>
          <p:cNvSpPr/>
          <p:nvPr/>
        </p:nvSpPr>
        <p:spPr>
          <a:xfrm>
            <a:off x="9098051" y="2560320"/>
            <a:ext cx="2179244" cy="0"/>
          </a:xfrm>
          <a:prstGeom prst="line">
            <a:avLst/>
          </a:prstGeom>
          <a:noFill/>
          <a:ln w="12700">
            <a:solidFill>
              <a:srgbClr val="E2E8F0"/>
            </a:solidFill>
            <a:prstDash val="solid"/>
          </a:ln>
        </p:spPr>
      </p:sp>
      <p:sp>
        <p:nvSpPr>
          <p:cNvPr id="64" name="Shape 62"/>
          <p:cNvSpPr/>
          <p:nvPr/>
        </p:nvSpPr>
        <p:spPr>
          <a:xfrm>
            <a:off x="9098051" y="2752344"/>
            <a:ext cx="73152" cy="73152"/>
          </a:xfrm>
          <a:prstGeom prst="ellipse">
            <a:avLst/>
          </a:prstGeom>
          <a:solidFill>
            <a:srgbClr val="D97706"/>
          </a:solidFill>
          <a:ln/>
        </p:spPr>
      </p:sp>
      <p:sp>
        <p:nvSpPr>
          <p:cNvPr id="65" name="Text 63"/>
          <p:cNvSpPr/>
          <p:nvPr/>
        </p:nvSpPr>
        <p:spPr>
          <a:xfrm>
            <a:off x="9235211" y="2697480"/>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Clean JavaScript / Node.js library with zero bugs</a:t>
            </a:r>
            <a:endParaRPr lang="en-US" sz="820" dirty="0"/>
          </a:p>
        </p:txBody>
      </p:sp>
      <p:sp>
        <p:nvSpPr>
          <p:cNvPr id="66" name="Shape 64"/>
          <p:cNvSpPr/>
          <p:nvPr/>
        </p:nvSpPr>
        <p:spPr>
          <a:xfrm>
            <a:off x="9098051" y="3374136"/>
            <a:ext cx="73152" cy="73152"/>
          </a:xfrm>
          <a:prstGeom prst="ellipse">
            <a:avLst/>
          </a:prstGeom>
          <a:solidFill>
            <a:srgbClr val="D97706"/>
          </a:solidFill>
          <a:ln/>
        </p:spPr>
      </p:sp>
      <p:sp>
        <p:nvSpPr>
          <p:cNvPr id="67" name="Text 65"/>
          <p:cNvSpPr/>
          <p:nvPr/>
        </p:nvSpPr>
        <p:spPr>
          <a:xfrm>
            <a:off x="9235211" y="3319272"/>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Tamper-proof HMAC SHA-256 webhook signatures</a:t>
            </a:r>
            <a:endParaRPr lang="en-US" sz="820" dirty="0"/>
          </a:p>
        </p:txBody>
      </p:sp>
      <p:sp>
        <p:nvSpPr>
          <p:cNvPr id="68" name="Shape 66"/>
          <p:cNvSpPr/>
          <p:nvPr/>
        </p:nvSpPr>
        <p:spPr>
          <a:xfrm>
            <a:off x="9098051" y="3995928"/>
            <a:ext cx="73152" cy="73152"/>
          </a:xfrm>
          <a:prstGeom prst="ellipse">
            <a:avLst/>
          </a:prstGeom>
          <a:solidFill>
            <a:srgbClr val="D97706"/>
          </a:solidFill>
          <a:ln/>
        </p:spPr>
      </p:sp>
      <p:sp>
        <p:nvSpPr>
          <p:cNvPr id="69" name="Text 67"/>
          <p:cNvSpPr/>
          <p:nvPr/>
        </p:nvSpPr>
        <p:spPr>
          <a:xfrm>
            <a:off x="9235211" y="3941064"/>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Ready-made responsive checkout modal for mobile &amp; web</a:t>
            </a:r>
            <a:endParaRPr lang="en-US" sz="820" dirty="0"/>
          </a:p>
        </p:txBody>
      </p:sp>
      <p:sp>
        <p:nvSpPr>
          <p:cNvPr id="70" name="Shape 68"/>
          <p:cNvSpPr/>
          <p:nvPr/>
        </p:nvSpPr>
        <p:spPr>
          <a:xfrm>
            <a:off x="9098051" y="4617720"/>
            <a:ext cx="73152" cy="73152"/>
          </a:xfrm>
          <a:prstGeom prst="ellipse">
            <a:avLst/>
          </a:prstGeom>
          <a:solidFill>
            <a:srgbClr val="D97706"/>
          </a:solidFill>
          <a:ln/>
        </p:spPr>
      </p:sp>
      <p:sp>
        <p:nvSpPr>
          <p:cNvPr id="71" name="Text 69"/>
          <p:cNvSpPr/>
          <p:nvPr/>
        </p:nvSpPr>
        <p:spPr>
          <a:xfrm>
            <a:off x="9235211" y="4562856"/>
            <a:ext cx="2042084" cy="566928"/>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Used by Swiggy, Zomato, BookMyShow, and Playo</a:t>
            </a:r>
            <a:endParaRPr lang="en-US" sz="820" dirty="0"/>
          </a:p>
        </p:txBody>
      </p:sp>
      <p:sp>
        <p:nvSpPr>
          <p:cNvPr id="72" name="Shape 70"/>
          <p:cNvSpPr/>
          <p:nvPr/>
        </p:nvSpPr>
        <p:spPr>
          <a:xfrm>
            <a:off x="731520" y="5532120"/>
            <a:ext cx="10728655" cy="640080"/>
          </a:xfrm>
          <a:prstGeom prst="roundRect">
            <a:avLst>
              <a:gd name="adj" fmla="val 11429"/>
            </a:avLst>
          </a:prstGeom>
          <a:solidFill>
            <a:srgbClr val="1E1B4B"/>
          </a:solidFill>
          <a:ln/>
        </p:spPr>
      </p:sp>
      <p:sp>
        <p:nvSpPr>
          <p:cNvPr id="73" name="Text 71"/>
          <p:cNvSpPr/>
          <p:nvPr/>
        </p:nvSpPr>
        <p:spPr>
          <a:xfrm>
            <a:off x="1005840" y="5532120"/>
            <a:ext cx="10180015" cy="640080"/>
          </a:xfrm>
          <a:prstGeom prst="rect">
            <a:avLst/>
          </a:prstGeom>
          <a:noFill/>
          <a:ln/>
        </p:spPr>
        <p:txBody>
          <a:bodyPr wrap="square" rtlCol="0" anchor="ctr"/>
          <a:lstStyle/>
          <a:p>
            <a:pPr algn="ctr" indent="0" marL="0">
              <a:buNone/>
            </a:pPr>
            <a:r>
              <a:rPr lang="en-US" sz="900" b="1" dirty="0">
                <a:solidFill>
                  <a:srgbClr val="C7D2FE"/>
                </a:solidFill>
                <a:latin typeface="Segoe UI" pitchFamily="34" charset="0"/>
                <a:ea typeface="Segoe UI" pitchFamily="34" charset="-122"/>
                <a:cs typeface="Segoe UI" pitchFamily="34" charset="-120"/>
              </a:rPr>
              <a:t>INDUSTRY STANDARD: 95% of sports, fitness, and ticketing platforms in India run on Razorpay. It solves all three hard problems: multi-party splits, instant UPI, and quick refunds.</a:t>
            </a:r>
            <a:endParaRPr lang="en-US" sz="900" dirty="0"/>
          </a:p>
        </p:txBody>
      </p:sp>
      <p:sp>
        <p:nvSpPr>
          <p:cNvPr id="74" name="Shape 72"/>
          <p:cNvSpPr/>
          <p:nvPr/>
        </p:nvSpPr>
        <p:spPr>
          <a:xfrm>
            <a:off x="731520" y="6400800"/>
            <a:ext cx="10728655" cy="0"/>
          </a:xfrm>
          <a:prstGeom prst="line">
            <a:avLst/>
          </a:prstGeom>
          <a:noFill/>
          <a:ln w="12700">
            <a:solidFill>
              <a:srgbClr val="E2E8F0"/>
            </a:solidFill>
            <a:prstDash val="solid"/>
          </a:ln>
        </p:spPr>
      </p:sp>
      <p:sp>
        <p:nvSpPr>
          <p:cNvPr id="75" name="Text 73"/>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76" name="Text 74"/>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MARKETPLACE ECONOMICS</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Deep Dive 1: Razorpay Route &amp; The Marketplace Split Engine</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3 / 8</a:t>
            </a:r>
            <a:endParaRPr lang="en-US" sz="850" dirty="0"/>
          </a:p>
        </p:txBody>
      </p:sp>
      <p:sp>
        <p:nvSpPr>
          <p:cNvPr id="8" name="Shape 6"/>
          <p:cNvSpPr/>
          <p:nvPr/>
        </p:nvSpPr>
        <p:spPr>
          <a:xfrm>
            <a:off x="731520" y="1325880"/>
            <a:ext cx="5120640" cy="4800600"/>
          </a:xfrm>
          <a:prstGeom prst="roundRect">
            <a:avLst>
              <a:gd name="adj" fmla="val 1905"/>
            </a:avLst>
          </a:prstGeom>
          <a:solidFill>
            <a:srgbClr val="FFFFFF"/>
          </a:solidFill>
          <a:ln w="12700">
            <a:solidFill>
              <a:srgbClr val="E2E8F0"/>
            </a:solidFill>
            <a:prstDash val="solid"/>
          </a:ln>
        </p:spPr>
      </p:sp>
      <p:sp>
        <p:nvSpPr>
          <p:cNvPr id="9" name="Shape 7"/>
          <p:cNvSpPr/>
          <p:nvPr/>
        </p:nvSpPr>
        <p:spPr>
          <a:xfrm>
            <a:off x="822960" y="1325880"/>
            <a:ext cx="4937760" cy="45720"/>
          </a:xfrm>
          <a:prstGeom prst="rect">
            <a:avLst/>
          </a:prstGeom>
          <a:solidFill>
            <a:srgbClr val="DC2626"/>
          </a:solidFill>
          <a:ln/>
        </p:spPr>
      </p:sp>
      <p:sp>
        <p:nvSpPr>
          <p:cNvPr id="10" name="Text 8"/>
          <p:cNvSpPr/>
          <p:nvPr/>
        </p:nvSpPr>
        <p:spPr>
          <a:xfrm>
            <a:off x="960120" y="1463040"/>
            <a:ext cx="4663440"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Traditional Gateways: The Manual Payout Nightmare</a:t>
            </a:r>
            <a:endParaRPr lang="en-US" sz="1250" dirty="0"/>
          </a:p>
        </p:txBody>
      </p:sp>
      <p:sp>
        <p:nvSpPr>
          <p:cNvPr id="11" name="Shape 9"/>
          <p:cNvSpPr/>
          <p:nvPr/>
        </p:nvSpPr>
        <p:spPr>
          <a:xfrm>
            <a:off x="960120" y="1828800"/>
            <a:ext cx="4663440" cy="1005840"/>
          </a:xfrm>
          <a:prstGeom prst="roundRect">
            <a:avLst>
              <a:gd name="adj" fmla="val 5455"/>
            </a:avLst>
          </a:prstGeom>
          <a:solidFill>
            <a:srgbClr val="FEF2F2"/>
          </a:solidFill>
          <a:ln w="12700">
            <a:solidFill>
              <a:srgbClr val="FECACA"/>
            </a:solidFill>
            <a:prstDash val="solid"/>
          </a:ln>
        </p:spPr>
      </p:sp>
      <p:sp>
        <p:nvSpPr>
          <p:cNvPr id="12" name="Text 10"/>
          <p:cNvSpPr/>
          <p:nvPr/>
        </p:nvSpPr>
        <p:spPr>
          <a:xfrm>
            <a:off x="1097280" y="1920240"/>
            <a:ext cx="4389120" cy="228600"/>
          </a:xfrm>
          <a:prstGeom prst="rect">
            <a:avLst/>
          </a:prstGeom>
          <a:noFill/>
          <a:ln/>
        </p:spPr>
        <p:txBody>
          <a:bodyPr wrap="square" rtlCol="0" anchor="ctr"/>
          <a:lstStyle/>
          <a:p>
            <a:pPr indent="0" marL="0">
              <a:buNone/>
            </a:pPr>
            <a:r>
              <a:rPr lang="en-US" sz="850" b="1" dirty="0">
                <a:solidFill>
                  <a:srgbClr val="DC2626"/>
                </a:solidFill>
                <a:latin typeface="Segoe UI" pitchFamily="34" charset="0"/>
                <a:ea typeface="Segoe UI" pitchFamily="34" charset="-122"/>
                <a:cs typeface="Segoe UI" pitchFamily="34" charset="-120"/>
              </a:rPr>
              <a:t>THE TRADITIONAL GATEWAY PROBLEM:</a:t>
            </a:r>
            <a:endParaRPr lang="en-US" sz="850" dirty="0"/>
          </a:p>
        </p:txBody>
      </p:sp>
      <p:sp>
        <p:nvSpPr>
          <p:cNvPr id="13" name="Text 11"/>
          <p:cNvSpPr/>
          <p:nvPr/>
        </p:nvSpPr>
        <p:spPr>
          <a:xfrm>
            <a:off x="1097280" y="2176272"/>
            <a:ext cx="4389120" cy="594360"/>
          </a:xfrm>
          <a:prstGeom prst="rect">
            <a:avLst/>
          </a:prstGeom>
          <a:noFill/>
          <a:ln/>
        </p:spPr>
        <p:txBody>
          <a:bodyPr wrap="square" rtlCol="0" anchor="ctr"/>
          <a:lstStyle/>
          <a:p>
            <a:pPr indent="0" marL="0">
              <a:buNone/>
            </a:pPr>
            <a:r>
              <a:rPr lang="en-US" sz="820" dirty="0">
                <a:solidFill>
                  <a:srgbClr val="0F172A"/>
                </a:solidFill>
                <a:latin typeface="Segoe UI" pitchFamily="34" charset="0"/>
                <a:ea typeface="Segoe UI" pitchFamily="34" charset="-122"/>
                <a:cs typeface="Segoe UI" pitchFamily="34" charset="-120"/>
              </a:rPr>
              <a:t>Gateways like standard Stripe, PayU, or PhonePe deposit 100% of the player's payment into Turfify's bank account. This creates 3 catastrophic operational bottlenecks:</a:t>
            </a:r>
            <a:endParaRPr lang="en-US" sz="820" dirty="0"/>
          </a:p>
        </p:txBody>
      </p:sp>
      <p:sp>
        <p:nvSpPr>
          <p:cNvPr id="14" name="Shape 12"/>
          <p:cNvSpPr/>
          <p:nvPr/>
        </p:nvSpPr>
        <p:spPr>
          <a:xfrm>
            <a:off x="960120" y="3017520"/>
            <a:ext cx="4663440" cy="777240"/>
          </a:xfrm>
          <a:prstGeom prst="roundRect">
            <a:avLst>
              <a:gd name="adj" fmla="val 5882"/>
            </a:avLst>
          </a:prstGeom>
          <a:solidFill>
            <a:srgbClr val="F8FAFC"/>
          </a:solidFill>
          <a:ln w="12700">
            <a:solidFill>
              <a:srgbClr val="E2E8F0"/>
            </a:solidFill>
            <a:prstDash val="solid"/>
          </a:ln>
        </p:spPr>
      </p:sp>
      <p:sp>
        <p:nvSpPr>
          <p:cNvPr id="15" name="Text 13"/>
          <p:cNvSpPr/>
          <p:nvPr/>
        </p:nvSpPr>
        <p:spPr>
          <a:xfrm>
            <a:off x="1097280" y="309067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1. Massive Manual Labor</a:t>
            </a:r>
            <a:endParaRPr lang="en-US" sz="900" dirty="0"/>
          </a:p>
        </p:txBody>
      </p:sp>
      <p:sp>
        <p:nvSpPr>
          <p:cNvPr id="16" name="Text 14"/>
          <p:cNvSpPr/>
          <p:nvPr/>
        </p:nvSpPr>
        <p:spPr>
          <a:xfrm>
            <a:off x="1097280" y="331012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You must manually calculate payouts for 50+ turf owners every night and initiate 50 separate NEFT/IMPS transfers.</a:t>
            </a:r>
            <a:endParaRPr lang="en-US" sz="800" dirty="0"/>
          </a:p>
        </p:txBody>
      </p:sp>
      <p:sp>
        <p:nvSpPr>
          <p:cNvPr id="17" name="Shape 15"/>
          <p:cNvSpPr/>
          <p:nvPr/>
        </p:nvSpPr>
        <p:spPr>
          <a:xfrm>
            <a:off x="960120" y="3886200"/>
            <a:ext cx="4663440" cy="777240"/>
          </a:xfrm>
          <a:prstGeom prst="roundRect">
            <a:avLst>
              <a:gd name="adj" fmla="val 5882"/>
            </a:avLst>
          </a:prstGeom>
          <a:solidFill>
            <a:srgbClr val="F8FAFC"/>
          </a:solidFill>
          <a:ln w="12700">
            <a:solidFill>
              <a:srgbClr val="E2E8F0"/>
            </a:solidFill>
            <a:prstDash val="solid"/>
          </a:ln>
        </p:spPr>
      </p:sp>
      <p:sp>
        <p:nvSpPr>
          <p:cNvPr id="18" name="Text 16"/>
          <p:cNvSpPr/>
          <p:nvPr/>
        </p:nvSpPr>
        <p:spPr>
          <a:xfrm>
            <a:off x="1097280" y="395935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2. Serious Tax &amp; GST Complications</a:t>
            </a:r>
            <a:endParaRPr lang="en-US" sz="900" dirty="0"/>
          </a:p>
        </p:txBody>
      </p:sp>
      <p:sp>
        <p:nvSpPr>
          <p:cNvPr id="19" name="Text 17"/>
          <p:cNvSpPr/>
          <p:nvPr/>
        </p:nvSpPr>
        <p:spPr>
          <a:xfrm>
            <a:off x="1097280" y="417880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If ₹1,500 enters your bank account directly, tax authorities may treat the whole ₹1,500 as your revenue, rather than just your ₹150 fee.</a:t>
            </a:r>
            <a:endParaRPr lang="en-US" sz="800" dirty="0"/>
          </a:p>
        </p:txBody>
      </p:sp>
      <p:sp>
        <p:nvSpPr>
          <p:cNvPr id="20" name="Shape 18"/>
          <p:cNvSpPr/>
          <p:nvPr/>
        </p:nvSpPr>
        <p:spPr>
          <a:xfrm>
            <a:off x="960120" y="4754880"/>
            <a:ext cx="4663440" cy="777240"/>
          </a:xfrm>
          <a:prstGeom prst="roundRect">
            <a:avLst>
              <a:gd name="adj" fmla="val 5882"/>
            </a:avLst>
          </a:prstGeom>
          <a:solidFill>
            <a:srgbClr val="F8FAFC"/>
          </a:solidFill>
          <a:ln w="12700">
            <a:solidFill>
              <a:srgbClr val="E2E8F0"/>
            </a:solidFill>
            <a:prstDash val="solid"/>
          </a:ln>
        </p:spPr>
      </p:sp>
      <p:sp>
        <p:nvSpPr>
          <p:cNvPr id="21" name="Text 19"/>
          <p:cNvSpPr/>
          <p:nvPr/>
        </p:nvSpPr>
        <p:spPr>
          <a:xfrm>
            <a:off x="1097280" y="482803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3. Cash Flow &amp; Escrow Risk</a:t>
            </a:r>
            <a:endParaRPr lang="en-US" sz="900" dirty="0"/>
          </a:p>
        </p:txBody>
      </p:sp>
      <p:sp>
        <p:nvSpPr>
          <p:cNvPr id="22" name="Text 20"/>
          <p:cNvSpPr/>
          <p:nvPr/>
        </p:nvSpPr>
        <p:spPr>
          <a:xfrm>
            <a:off x="1097280" y="504748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Holding venue owners' funds in a regular current account without RBI-approved nodal/escrow compliance is legally hazardous.</a:t>
            </a:r>
            <a:endParaRPr lang="en-US" sz="800" dirty="0"/>
          </a:p>
        </p:txBody>
      </p:sp>
      <p:sp>
        <p:nvSpPr>
          <p:cNvPr id="23" name="Shape 21"/>
          <p:cNvSpPr/>
          <p:nvPr/>
        </p:nvSpPr>
        <p:spPr>
          <a:xfrm>
            <a:off x="6126480" y="1325880"/>
            <a:ext cx="5333695" cy="4800600"/>
          </a:xfrm>
          <a:prstGeom prst="roundRect">
            <a:avLst>
              <a:gd name="adj" fmla="val 1905"/>
            </a:avLst>
          </a:prstGeom>
          <a:solidFill>
            <a:srgbClr val="FFFFFF"/>
          </a:solidFill>
          <a:ln w="12700">
            <a:solidFill>
              <a:srgbClr val="E2E8F0"/>
            </a:solidFill>
            <a:prstDash val="solid"/>
          </a:ln>
        </p:spPr>
      </p:sp>
      <p:sp>
        <p:nvSpPr>
          <p:cNvPr id="24" name="Shape 22"/>
          <p:cNvSpPr/>
          <p:nvPr/>
        </p:nvSpPr>
        <p:spPr>
          <a:xfrm>
            <a:off x="6217920" y="1325880"/>
            <a:ext cx="5150815" cy="45720"/>
          </a:xfrm>
          <a:prstGeom prst="rect">
            <a:avLst/>
          </a:prstGeom>
          <a:solidFill>
            <a:srgbClr val="2563EB"/>
          </a:solidFill>
          <a:ln/>
        </p:spPr>
      </p:sp>
      <p:sp>
        <p:nvSpPr>
          <p:cNvPr id="25" name="Text 23"/>
          <p:cNvSpPr/>
          <p:nvPr/>
        </p:nvSpPr>
        <p:spPr>
          <a:xfrm>
            <a:off x="6355080" y="1463040"/>
            <a:ext cx="4876495"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The Solution: Razorpay Route Automated Transfers</a:t>
            </a:r>
            <a:endParaRPr lang="en-US" sz="1250" dirty="0"/>
          </a:p>
        </p:txBody>
      </p:sp>
      <p:sp>
        <p:nvSpPr>
          <p:cNvPr id="26" name="Shape 24"/>
          <p:cNvSpPr/>
          <p:nvPr/>
        </p:nvSpPr>
        <p:spPr>
          <a:xfrm>
            <a:off x="6309360" y="1828800"/>
            <a:ext cx="4937760" cy="914400"/>
          </a:xfrm>
          <a:prstGeom prst="roundRect">
            <a:avLst>
              <a:gd name="adj" fmla="val 6000"/>
            </a:avLst>
          </a:prstGeom>
          <a:solidFill>
            <a:srgbClr val="EFF6FF"/>
          </a:solidFill>
          <a:ln w="12700">
            <a:solidFill>
              <a:srgbClr val="BFDBFE"/>
            </a:solidFill>
            <a:prstDash val="solid"/>
          </a:ln>
        </p:spPr>
      </p:sp>
      <p:sp>
        <p:nvSpPr>
          <p:cNvPr id="27" name="Text 25"/>
          <p:cNvSpPr/>
          <p:nvPr/>
        </p:nvSpPr>
        <p:spPr>
          <a:xfrm>
            <a:off x="6446520" y="1901952"/>
            <a:ext cx="4663440" cy="237744"/>
          </a:xfrm>
          <a:prstGeom prst="rect">
            <a:avLst/>
          </a:prstGeom>
          <a:noFill/>
          <a:ln/>
        </p:spPr>
        <p:txBody>
          <a:bodyPr wrap="square" rtlCol="0" anchor="ctr"/>
          <a:lstStyle/>
          <a:p>
            <a:pPr indent="0" marL="0">
              <a:buNone/>
            </a:pPr>
            <a:r>
              <a:rPr lang="en-US" sz="950" b="1" dirty="0">
                <a:solidFill>
                  <a:srgbClr val="2563EB"/>
                </a:solidFill>
                <a:latin typeface="Segoe UI" pitchFamily="34" charset="0"/>
                <a:ea typeface="Segoe UI" pitchFamily="34" charset="-122"/>
                <a:cs typeface="Segoe UI" pitchFamily="34" charset="-120"/>
              </a:rPr>
              <a:t>1. Turf Owner Onboarding</a:t>
            </a:r>
            <a:endParaRPr lang="en-US" sz="950" dirty="0"/>
          </a:p>
        </p:txBody>
      </p:sp>
      <p:sp>
        <p:nvSpPr>
          <p:cNvPr id="28" name="Text 26"/>
          <p:cNvSpPr/>
          <p:nvPr/>
        </p:nvSpPr>
        <p:spPr>
          <a:xfrm>
            <a:off x="6446520" y="214884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Owners link their current business bank account via Razorpay Linked Account API. They receive a dedicated linked ID (`acc_H8s912df`).</a:t>
            </a:r>
            <a:endParaRPr lang="en-US" sz="820" dirty="0"/>
          </a:p>
        </p:txBody>
      </p:sp>
      <p:sp>
        <p:nvSpPr>
          <p:cNvPr id="29" name="Shape 27"/>
          <p:cNvSpPr/>
          <p:nvPr/>
        </p:nvSpPr>
        <p:spPr>
          <a:xfrm>
            <a:off x="6309360" y="2880360"/>
            <a:ext cx="4937760" cy="914400"/>
          </a:xfrm>
          <a:prstGeom prst="roundRect">
            <a:avLst>
              <a:gd name="adj" fmla="val 6000"/>
            </a:avLst>
          </a:prstGeom>
          <a:solidFill>
            <a:srgbClr val="EFF6FF"/>
          </a:solidFill>
          <a:ln w="12700">
            <a:solidFill>
              <a:srgbClr val="BFDBFE"/>
            </a:solidFill>
            <a:prstDash val="solid"/>
          </a:ln>
        </p:spPr>
      </p:sp>
      <p:sp>
        <p:nvSpPr>
          <p:cNvPr id="30" name="Text 28"/>
          <p:cNvSpPr/>
          <p:nvPr/>
        </p:nvSpPr>
        <p:spPr>
          <a:xfrm>
            <a:off x="6446520" y="2953512"/>
            <a:ext cx="4663440" cy="237744"/>
          </a:xfrm>
          <a:prstGeom prst="rect">
            <a:avLst/>
          </a:prstGeom>
          <a:noFill/>
          <a:ln/>
        </p:spPr>
        <p:txBody>
          <a:bodyPr wrap="square" rtlCol="0" anchor="ctr"/>
          <a:lstStyle/>
          <a:p>
            <a:pPr indent="0" marL="0">
              <a:buNone/>
            </a:pPr>
            <a:r>
              <a:rPr lang="en-US" sz="950" b="1" dirty="0">
                <a:solidFill>
                  <a:srgbClr val="2563EB"/>
                </a:solidFill>
                <a:latin typeface="Segoe UI" pitchFamily="34" charset="0"/>
                <a:ea typeface="Segoe UI" pitchFamily="34" charset="-122"/>
                <a:cs typeface="Segoe UI" pitchFamily="34" charset="-120"/>
              </a:rPr>
              <a:t>2. Single-Step Split at Order Creation</a:t>
            </a:r>
            <a:endParaRPr lang="en-US" sz="950" dirty="0"/>
          </a:p>
        </p:txBody>
      </p:sp>
      <p:sp>
        <p:nvSpPr>
          <p:cNvPr id="31" name="Text 29"/>
          <p:cNvSpPr/>
          <p:nvPr/>
        </p:nvSpPr>
        <p:spPr>
          <a:xfrm>
            <a:off x="6446520" y="320040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When the player pays ₹1,500, our server passes a `transfers` payload: ₹1,350 is assigned to the turf owner and ₹150 is credited to Turfify.</a:t>
            </a:r>
            <a:endParaRPr lang="en-US" sz="820" dirty="0"/>
          </a:p>
        </p:txBody>
      </p:sp>
      <p:sp>
        <p:nvSpPr>
          <p:cNvPr id="32" name="Shape 30"/>
          <p:cNvSpPr/>
          <p:nvPr/>
        </p:nvSpPr>
        <p:spPr>
          <a:xfrm>
            <a:off x="6309360" y="3931920"/>
            <a:ext cx="4937760" cy="914400"/>
          </a:xfrm>
          <a:prstGeom prst="roundRect">
            <a:avLst>
              <a:gd name="adj" fmla="val 6000"/>
            </a:avLst>
          </a:prstGeom>
          <a:solidFill>
            <a:srgbClr val="EFF6FF"/>
          </a:solidFill>
          <a:ln w="12700">
            <a:solidFill>
              <a:srgbClr val="BFDBFE"/>
            </a:solidFill>
            <a:prstDash val="solid"/>
          </a:ln>
        </p:spPr>
      </p:sp>
      <p:sp>
        <p:nvSpPr>
          <p:cNvPr id="33" name="Text 31"/>
          <p:cNvSpPr/>
          <p:nvPr/>
        </p:nvSpPr>
        <p:spPr>
          <a:xfrm>
            <a:off x="6446520" y="4005072"/>
            <a:ext cx="4663440" cy="237744"/>
          </a:xfrm>
          <a:prstGeom prst="rect">
            <a:avLst/>
          </a:prstGeom>
          <a:noFill/>
          <a:ln/>
        </p:spPr>
        <p:txBody>
          <a:bodyPr wrap="square" rtlCol="0" anchor="ctr"/>
          <a:lstStyle/>
          <a:p>
            <a:pPr indent="0" marL="0">
              <a:buNone/>
            </a:pPr>
            <a:r>
              <a:rPr lang="en-US" sz="950" b="1" dirty="0">
                <a:solidFill>
                  <a:srgbClr val="2563EB"/>
                </a:solidFill>
                <a:latin typeface="Segoe UI" pitchFamily="34" charset="0"/>
                <a:ea typeface="Segoe UI" pitchFamily="34" charset="-122"/>
                <a:cs typeface="Segoe UI" pitchFamily="34" charset="-120"/>
              </a:rPr>
              <a:t>3. Escrow Hold Until Match Kickoff</a:t>
            </a:r>
            <a:endParaRPr lang="en-US" sz="950" dirty="0"/>
          </a:p>
        </p:txBody>
      </p:sp>
      <p:sp>
        <p:nvSpPr>
          <p:cNvPr id="34" name="Text 32"/>
          <p:cNvSpPr/>
          <p:nvPr/>
        </p:nvSpPr>
        <p:spPr>
          <a:xfrm>
            <a:off x="6446520" y="425196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Funds are held in RBI-compliant escrow until the match is completed. If a dispute or rainout happens, the money is cleanly reversed.</a:t>
            </a:r>
            <a:endParaRPr lang="en-US" sz="820" dirty="0"/>
          </a:p>
        </p:txBody>
      </p:sp>
      <p:sp>
        <p:nvSpPr>
          <p:cNvPr id="35" name="Shape 33"/>
          <p:cNvSpPr/>
          <p:nvPr/>
        </p:nvSpPr>
        <p:spPr>
          <a:xfrm>
            <a:off x="6309360" y="4983480"/>
            <a:ext cx="4937760" cy="914400"/>
          </a:xfrm>
          <a:prstGeom prst="roundRect">
            <a:avLst>
              <a:gd name="adj" fmla="val 6000"/>
            </a:avLst>
          </a:prstGeom>
          <a:solidFill>
            <a:srgbClr val="EFF6FF"/>
          </a:solidFill>
          <a:ln w="12700">
            <a:solidFill>
              <a:srgbClr val="BFDBFE"/>
            </a:solidFill>
            <a:prstDash val="solid"/>
          </a:ln>
        </p:spPr>
      </p:sp>
      <p:sp>
        <p:nvSpPr>
          <p:cNvPr id="36" name="Text 34"/>
          <p:cNvSpPr/>
          <p:nvPr/>
        </p:nvSpPr>
        <p:spPr>
          <a:xfrm>
            <a:off x="6446520" y="5056632"/>
            <a:ext cx="4663440" cy="237744"/>
          </a:xfrm>
          <a:prstGeom prst="rect">
            <a:avLst/>
          </a:prstGeom>
          <a:noFill/>
          <a:ln/>
        </p:spPr>
        <p:txBody>
          <a:bodyPr wrap="square" rtlCol="0" anchor="ctr"/>
          <a:lstStyle/>
          <a:p>
            <a:pPr indent="0" marL="0">
              <a:buNone/>
            </a:pPr>
            <a:r>
              <a:rPr lang="en-US" sz="950" b="1" dirty="0">
                <a:solidFill>
                  <a:srgbClr val="2563EB"/>
                </a:solidFill>
                <a:latin typeface="Segoe UI" pitchFamily="34" charset="0"/>
                <a:ea typeface="Segoe UI" pitchFamily="34" charset="-122"/>
                <a:cs typeface="Segoe UI" pitchFamily="34" charset="-120"/>
              </a:rPr>
              <a:t>4. Automated TDS Section 194-O</a:t>
            </a:r>
            <a:endParaRPr lang="en-US" sz="950" dirty="0"/>
          </a:p>
        </p:txBody>
      </p:sp>
      <p:sp>
        <p:nvSpPr>
          <p:cNvPr id="37" name="Text 35"/>
          <p:cNvSpPr/>
          <p:nvPr/>
        </p:nvSpPr>
        <p:spPr>
          <a:xfrm>
            <a:off x="6446520" y="530352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Razorpay automatically deducts 1% TDS on the owner's gross sale and generates quarterly Form 16A statements, keeping Turfify 100% tax compliant.</a:t>
            </a:r>
            <a:endParaRPr lang="en-US" sz="820" dirty="0"/>
          </a:p>
        </p:txBody>
      </p:sp>
      <p:sp>
        <p:nvSpPr>
          <p:cNvPr id="38" name="Shape 36"/>
          <p:cNvSpPr/>
          <p:nvPr/>
        </p:nvSpPr>
        <p:spPr>
          <a:xfrm>
            <a:off x="731520" y="6400800"/>
            <a:ext cx="10728655" cy="0"/>
          </a:xfrm>
          <a:prstGeom prst="line">
            <a:avLst/>
          </a:prstGeom>
          <a:noFill/>
          <a:ln w="12700">
            <a:solidFill>
              <a:srgbClr val="E2E8F0"/>
            </a:solidFill>
            <a:prstDash val="solid"/>
          </a:ln>
        </p:spPr>
      </p:sp>
      <p:sp>
        <p:nvSpPr>
          <p:cNvPr id="39" name="Text 37"/>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40" name="Text 38"/>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USER EXPERIENCE</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Deep Dive 2: UPI Intent &amp; Frictionless Player Conversion</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4 / 8</a:t>
            </a:r>
            <a:endParaRPr lang="en-US" sz="850" dirty="0"/>
          </a:p>
        </p:txBody>
      </p:sp>
      <p:sp>
        <p:nvSpPr>
          <p:cNvPr id="8" name="Shape 6"/>
          <p:cNvSpPr/>
          <p:nvPr/>
        </p:nvSpPr>
        <p:spPr>
          <a:xfrm>
            <a:off x="731520" y="1325880"/>
            <a:ext cx="5120640" cy="4800600"/>
          </a:xfrm>
          <a:prstGeom prst="roundRect">
            <a:avLst>
              <a:gd name="adj" fmla="val 1905"/>
            </a:avLst>
          </a:prstGeom>
          <a:solidFill>
            <a:srgbClr val="FFFFFF"/>
          </a:solidFill>
          <a:ln w="12700">
            <a:solidFill>
              <a:srgbClr val="E2E8F0"/>
            </a:solidFill>
            <a:prstDash val="solid"/>
          </a:ln>
        </p:spPr>
      </p:sp>
      <p:sp>
        <p:nvSpPr>
          <p:cNvPr id="9" name="Shape 7"/>
          <p:cNvSpPr/>
          <p:nvPr/>
        </p:nvSpPr>
        <p:spPr>
          <a:xfrm>
            <a:off x="822960" y="1325880"/>
            <a:ext cx="4937760" cy="45720"/>
          </a:xfrm>
          <a:prstGeom prst="rect">
            <a:avLst/>
          </a:prstGeom>
          <a:solidFill>
            <a:srgbClr val="4F46E5"/>
          </a:solidFill>
          <a:ln/>
        </p:spPr>
      </p:sp>
      <p:sp>
        <p:nvSpPr>
          <p:cNvPr id="10" name="Text 8"/>
          <p:cNvSpPr/>
          <p:nvPr/>
        </p:nvSpPr>
        <p:spPr>
          <a:xfrm>
            <a:off x="960120" y="1463040"/>
            <a:ext cx="4663440"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Why UPI Intent Converts 3x Higher Than Cards</a:t>
            </a:r>
            <a:endParaRPr lang="en-US" sz="1250" dirty="0"/>
          </a:p>
        </p:txBody>
      </p:sp>
      <p:sp>
        <p:nvSpPr>
          <p:cNvPr id="11" name="Shape 9"/>
          <p:cNvSpPr/>
          <p:nvPr/>
        </p:nvSpPr>
        <p:spPr>
          <a:xfrm>
            <a:off x="960120" y="1828800"/>
            <a:ext cx="2240280" cy="1097280"/>
          </a:xfrm>
          <a:prstGeom prst="roundRect">
            <a:avLst>
              <a:gd name="adj" fmla="val 6667"/>
            </a:avLst>
          </a:prstGeom>
          <a:solidFill>
            <a:srgbClr val="EEF2FF"/>
          </a:solidFill>
          <a:ln w="12700">
            <a:solidFill>
              <a:srgbClr val="C7D2FE"/>
            </a:solidFill>
            <a:prstDash val="solid"/>
          </a:ln>
        </p:spPr>
      </p:sp>
      <p:sp>
        <p:nvSpPr>
          <p:cNvPr id="12" name="Text 10"/>
          <p:cNvSpPr/>
          <p:nvPr/>
        </p:nvSpPr>
        <p:spPr>
          <a:xfrm>
            <a:off x="1051560" y="1965960"/>
            <a:ext cx="2057400" cy="411480"/>
          </a:xfrm>
          <a:prstGeom prst="rect">
            <a:avLst/>
          </a:prstGeom>
          <a:noFill/>
          <a:ln/>
        </p:spPr>
        <p:txBody>
          <a:bodyPr wrap="square" rtlCol="0" anchor="ctr"/>
          <a:lstStyle/>
          <a:p>
            <a:pPr algn="ctr" indent="0" marL="0">
              <a:buNone/>
            </a:pPr>
            <a:r>
              <a:rPr lang="en-US" sz="1600" b="1" dirty="0">
                <a:solidFill>
                  <a:srgbClr val="4F46E5"/>
                </a:solidFill>
                <a:latin typeface="Segoe UI" pitchFamily="34" charset="0"/>
                <a:ea typeface="Segoe UI" pitchFamily="34" charset="-122"/>
                <a:cs typeface="Segoe UI" pitchFamily="34" charset="-120"/>
              </a:rPr>
              <a:t>85%+</a:t>
            </a:r>
            <a:endParaRPr lang="en-US" sz="1600" dirty="0"/>
          </a:p>
        </p:txBody>
      </p:sp>
      <p:sp>
        <p:nvSpPr>
          <p:cNvPr id="13" name="Text 11"/>
          <p:cNvSpPr/>
          <p:nvPr/>
        </p:nvSpPr>
        <p:spPr>
          <a:xfrm>
            <a:off x="1097280" y="2377440"/>
            <a:ext cx="1965960" cy="457200"/>
          </a:xfrm>
          <a:prstGeom prst="rect">
            <a:avLst/>
          </a:prstGeom>
          <a:noFill/>
          <a:ln/>
        </p:spPr>
        <p:txBody>
          <a:bodyPr wrap="square" rtlCol="0" anchor="ctr"/>
          <a:lstStyle/>
          <a:p>
            <a:pPr algn="ctr" indent="0" marL="0">
              <a:lnSpc>
                <a:spcPct val="110000"/>
              </a:lnSpc>
              <a:buNone/>
            </a:pPr>
            <a:r>
              <a:rPr lang="en-US" sz="800" dirty="0">
                <a:solidFill>
                  <a:srgbClr val="0F172A"/>
                </a:solidFill>
                <a:latin typeface="Segoe UI" pitchFamily="34" charset="0"/>
                <a:ea typeface="Segoe UI" pitchFamily="34" charset="-122"/>
                <a:cs typeface="Segoe UI" pitchFamily="34" charset="-120"/>
              </a:rPr>
              <a:t>of all sports bookings in metro cities are completed via UPI apps</a:t>
            </a:r>
            <a:endParaRPr lang="en-US" sz="800" dirty="0"/>
          </a:p>
        </p:txBody>
      </p:sp>
      <p:sp>
        <p:nvSpPr>
          <p:cNvPr id="14" name="Shape 12"/>
          <p:cNvSpPr/>
          <p:nvPr/>
        </p:nvSpPr>
        <p:spPr>
          <a:xfrm>
            <a:off x="3383280" y="1828800"/>
            <a:ext cx="2240280" cy="1097280"/>
          </a:xfrm>
          <a:prstGeom prst="roundRect">
            <a:avLst>
              <a:gd name="adj" fmla="val 6667"/>
            </a:avLst>
          </a:prstGeom>
          <a:solidFill>
            <a:srgbClr val="EEF2FF"/>
          </a:solidFill>
          <a:ln w="12700">
            <a:solidFill>
              <a:srgbClr val="C7D2FE"/>
            </a:solidFill>
            <a:prstDash val="solid"/>
          </a:ln>
        </p:spPr>
      </p:sp>
      <p:sp>
        <p:nvSpPr>
          <p:cNvPr id="15" name="Text 13"/>
          <p:cNvSpPr/>
          <p:nvPr/>
        </p:nvSpPr>
        <p:spPr>
          <a:xfrm>
            <a:off x="3474720" y="1965960"/>
            <a:ext cx="2057400" cy="411480"/>
          </a:xfrm>
          <a:prstGeom prst="rect">
            <a:avLst/>
          </a:prstGeom>
          <a:noFill/>
          <a:ln/>
        </p:spPr>
        <p:txBody>
          <a:bodyPr wrap="square" rtlCol="0" anchor="ctr"/>
          <a:lstStyle/>
          <a:p>
            <a:pPr algn="ctr" indent="0" marL="0">
              <a:buNone/>
            </a:pPr>
            <a:r>
              <a:rPr lang="en-US" sz="1600" b="1" dirty="0">
                <a:solidFill>
                  <a:srgbClr val="4F46E5"/>
                </a:solidFill>
                <a:latin typeface="Segoe UI" pitchFamily="34" charset="0"/>
                <a:ea typeface="Segoe UI" pitchFamily="34" charset="-122"/>
                <a:cs typeface="Segoe UI" pitchFamily="34" charset="-120"/>
              </a:rPr>
              <a:t>98.2%</a:t>
            </a:r>
            <a:endParaRPr lang="en-US" sz="1600" dirty="0"/>
          </a:p>
        </p:txBody>
      </p:sp>
      <p:sp>
        <p:nvSpPr>
          <p:cNvPr id="16" name="Text 14"/>
          <p:cNvSpPr/>
          <p:nvPr/>
        </p:nvSpPr>
        <p:spPr>
          <a:xfrm>
            <a:off x="3520440" y="2377440"/>
            <a:ext cx="1965960" cy="457200"/>
          </a:xfrm>
          <a:prstGeom prst="rect">
            <a:avLst/>
          </a:prstGeom>
          <a:noFill/>
          <a:ln/>
        </p:spPr>
        <p:txBody>
          <a:bodyPr wrap="square" rtlCol="0" anchor="ctr"/>
          <a:lstStyle/>
          <a:p>
            <a:pPr algn="ctr" indent="0" marL="0">
              <a:lnSpc>
                <a:spcPct val="110000"/>
              </a:lnSpc>
              <a:buNone/>
            </a:pPr>
            <a:r>
              <a:rPr lang="en-US" sz="800" dirty="0">
                <a:solidFill>
                  <a:srgbClr val="0F172A"/>
                </a:solidFill>
                <a:latin typeface="Segoe UI" pitchFamily="34" charset="0"/>
                <a:ea typeface="Segoe UI" pitchFamily="34" charset="-122"/>
                <a:cs typeface="Segoe UI" pitchFamily="34" charset="-120"/>
              </a:rPr>
              <a:t>authorization success rate on Razorpay's direct UPI gateway rail</a:t>
            </a:r>
            <a:endParaRPr lang="en-US" sz="800" dirty="0"/>
          </a:p>
        </p:txBody>
      </p:sp>
      <p:sp>
        <p:nvSpPr>
          <p:cNvPr id="17" name="Shape 15"/>
          <p:cNvSpPr/>
          <p:nvPr/>
        </p:nvSpPr>
        <p:spPr>
          <a:xfrm>
            <a:off x="960120" y="3063240"/>
            <a:ext cx="2240280" cy="1097280"/>
          </a:xfrm>
          <a:prstGeom prst="roundRect">
            <a:avLst>
              <a:gd name="adj" fmla="val 6667"/>
            </a:avLst>
          </a:prstGeom>
          <a:solidFill>
            <a:srgbClr val="EEF2FF"/>
          </a:solidFill>
          <a:ln w="12700">
            <a:solidFill>
              <a:srgbClr val="C7D2FE"/>
            </a:solidFill>
            <a:prstDash val="solid"/>
          </a:ln>
        </p:spPr>
      </p:sp>
      <p:sp>
        <p:nvSpPr>
          <p:cNvPr id="18" name="Text 16"/>
          <p:cNvSpPr/>
          <p:nvPr/>
        </p:nvSpPr>
        <p:spPr>
          <a:xfrm>
            <a:off x="1051560" y="3200400"/>
            <a:ext cx="2057400" cy="411480"/>
          </a:xfrm>
          <a:prstGeom prst="rect">
            <a:avLst/>
          </a:prstGeom>
          <a:noFill/>
          <a:ln/>
        </p:spPr>
        <p:txBody>
          <a:bodyPr wrap="square" rtlCol="0" anchor="ctr"/>
          <a:lstStyle/>
          <a:p>
            <a:pPr algn="ctr" indent="0" marL="0">
              <a:buNone/>
            </a:pPr>
            <a:r>
              <a:rPr lang="en-US" sz="1600" b="1" dirty="0">
                <a:solidFill>
                  <a:srgbClr val="4F46E5"/>
                </a:solidFill>
                <a:latin typeface="Segoe UI" pitchFamily="34" charset="0"/>
                <a:ea typeface="Segoe UI" pitchFamily="34" charset="-122"/>
                <a:cs typeface="Segoe UI" pitchFamily="34" charset="-120"/>
              </a:rPr>
              <a:t>5 Sec</a:t>
            </a:r>
            <a:endParaRPr lang="en-US" sz="1600" dirty="0"/>
          </a:p>
        </p:txBody>
      </p:sp>
      <p:sp>
        <p:nvSpPr>
          <p:cNvPr id="19" name="Text 17"/>
          <p:cNvSpPr/>
          <p:nvPr/>
        </p:nvSpPr>
        <p:spPr>
          <a:xfrm>
            <a:off x="1097280" y="3611880"/>
            <a:ext cx="1965960" cy="457200"/>
          </a:xfrm>
          <a:prstGeom prst="rect">
            <a:avLst/>
          </a:prstGeom>
          <a:noFill/>
          <a:ln/>
        </p:spPr>
        <p:txBody>
          <a:bodyPr wrap="square" rtlCol="0" anchor="ctr"/>
          <a:lstStyle/>
          <a:p>
            <a:pPr algn="ctr" indent="0" marL="0">
              <a:lnSpc>
                <a:spcPct val="110000"/>
              </a:lnSpc>
              <a:buNone/>
            </a:pPr>
            <a:r>
              <a:rPr lang="en-US" sz="800" dirty="0">
                <a:solidFill>
                  <a:srgbClr val="0F172A"/>
                </a:solidFill>
                <a:latin typeface="Segoe UI" pitchFamily="34" charset="0"/>
                <a:ea typeface="Segoe UI" pitchFamily="34" charset="-122"/>
                <a:cs typeface="Segoe UI" pitchFamily="34" charset="-120"/>
              </a:rPr>
              <a:t>average checkout time from slot selection to confirmed booking</a:t>
            </a:r>
            <a:endParaRPr lang="en-US" sz="800" dirty="0"/>
          </a:p>
        </p:txBody>
      </p:sp>
      <p:sp>
        <p:nvSpPr>
          <p:cNvPr id="20" name="Shape 18"/>
          <p:cNvSpPr/>
          <p:nvPr/>
        </p:nvSpPr>
        <p:spPr>
          <a:xfrm>
            <a:off x="3383280" y="3063240"/>
            <a:ext cx="2240280" cy="1097280"/>
          </a:xfrm>
          <a:prstGeom prst="roundRect">
            <a:avLst>
              <a:gd name="adj" fmla="val 6667"/>
            </a:avLst>
          </a:prstGeom>
          <a:solidFill>
            <a:srgbClr val="EEF2FF"/>
          </a:solidFill>
          <a:ln w="12700">
            <a:solidFill>
              <a:srgbClr val="C7D2FE"/>
            </a:solidFill>
            <a:prstDash val="solid"/>
          </a:ln>
        </p:spPr>
      </p:sp>
      <p:sp>
        <p:nvSpPr>
          <p:cNvPr id="21" name="Text 19"/>
          <p:cNvSpPr/>
          <p:nvPr/>
        </p:nvSpPr>
        <p:spPr>
          <a:xfrm>
            <a:off x="3474720" y="3200400"/>
            <a:ext cx="2057400" cy="411480"/>
          </a:xfrm>
          <a:prstGeom prst="rect">
            <a:avLst/>
          </a:prstGeom>
          <a:noFill/>
          <a:ln/>
        </p:spPr>
        <p:txBody>
          <a:bodyPr wrap="square" rtlCol="0" anchor="ctr"/>
          <a:lstStyle/>
          <a:p>
            <a:pPr algn="ctr" indent="0" marL="0">
              <a:buNone/>
            </a:pPr>
            <a:r>
              <a:rPr lang="en-US" sz="1600" b="1" dirty="0">
                <a:solidFill>
                  <a:srgbClr val="4F46E5"/>
                </a:solidFill>
                <a:latin typeface="Segoe UI" pitchFamily="34" charset="0"/>
                <a:ea typeface="Segoe UI" pitchFamily="34" charset="-122"/>
                <a:cs typeface="Segoe UI" pitchFamily="34" charset="-120"/>
              </a:rPr>
              <a:t>&lt; 2%</a:t>
            </a:r>
            <a:endParaRPr lang="en-US" sz="1600" dirty="0"/>
          </a:p>
        </p:txBody>
      </p:sp>
      <p:sp>
        <p:nvSpPr>
          <p:cNvPr id="22" name="Text 20"/>
          <p:cNvSpPr/>
          <p:nvPr/>
        </p:nvSpPr>
        <p:spPr>
          <a:xfrm>
            <a:off x="3520440" y="3611880"/>
            <a:ext cx="1965960" cy="457200"/>
          </a:xfrm>
          <a:prstGeom prst="rect">
            <a:avLst/>
          </a:prstGeom>
          <a:noFill/>
          <a:ln/>
        </p:spPr>
        <p:txBody>
          <a:bodyPr wrap="square" rtlCol="0" anchor="ctr"/>
          <a:lstStyle/>
          <a:p>
            <a:pPr algn="ctr" indent="0" marL="0">
              <a:lnSpc>
                <a:spcPct val="110000"/>
              </a:lnSpc>
              <a:buNone/>
            </a:pPr>
            <a:r>
              <a:rPr lang="en-US" sz="800" dirty="0">
                <a:solidFill>
                  <a:srgbClr val="0F172A"/>
                </a:solidFill>
                <a:latin typeface="Segoe UI" pitchFamily="34" charset="0"/>
                <a:ea typeface="Segoe UI" pitchFamily="34" charset="-122"/>
                <a:cs typeface="Segoe UI" pitchFamily="34" charset="-120"/>
              </a:rPr>
              <a:t>cart drop-off rate compared to 35%+ drop-off on card OTP screens</a:t>
            </a:r>
            <a:endParaRPr lang="en-US" sz="800" dirty="0"/>
          </a:p>
        </p:txBody>
      </p:sp>
      <p:sp>
        <p:nvSpPr>
          <p:cNvPr id="23" name="Shape 21"/>
          <p:cNvSpPr/>
          <p:nvPr/>
        </p:nvSpPr>
        <p:spPr>
          <a:xfrm>
            <a:off x="960120" y="4480560"/>
            <a:ext cx="4663440" cy="1371600"/>
          </a:xfrm>
          <a:prstGeom prst="roundRect">
            <a:avLst>
              <a:gd name="adj" fmla="val 5333"/>
            </a:avLst>
          </a:prstGeom>
          <a:solidFill>
            <a:srgbClr val="F0FDF4"/>
          </a:solidFill>
          <a:ln w="12700">
            <a:solidFill>
              <a:srgbClr val="A7F3D0"/>
            </a:solidFill>
            <a:prstDash val="solid"/>
          </a:ln>
        </p:spPr>
      </p:sp>
      <p:sp>
        <p:nvSpPr>
          <p:cNvPr id="24" name="Text 22"/>
          <p:cNvSpPr/>
          <p:nvPr/>
        </p:nvSpPr>
        <p:spPr>
          <a:xfrm>
            <a:off x="1097280" y="4572000"/>
            <a:ext cx="4389120" cy="228600"/>
          </a:xfrm>
          <a:prstGeom prst="rect">
            <a:avLst/>
          </a:prstGeom>
          <a:noFill/>
          <a:ln/>
        </p:spPr>
        <p:txBody>
          <a:bodyPr wrap="square" rtlCol="0" anchor="ctr"/>
          <a:lstStyle/>
          <a:p>
            <a:pPr indent="0" marL="0">
              <a:buNone/>
            </a:pPr>
            <a:r>
              <a:rPr lang="en-US" sz="900" b="1" dirty="0">
                <a:solidFill>
                  <a:srgbClr val="059669"/>
                </a:solidFill>
                <a:latin typeface="Segoe UI" pitchFamily="34" charset="0"/>
                <a:ea typeface="Segoe UI" pitchFamily="34" charset="-122"/>
                <a:cs typeface="Segoe UI" pitchFamily="34" charset="-120"/>
              </a:rPr>
              <a:t>THE MOBILE-FIRST ADVANTAGE:</a:t>
            </a:r>
            <a:endParaRPr lang="en-US" sz="900" dirty="0"/>
          </a:p>
        </p:txBody>
      </p:sp>
      <p:sp>
        <p:nvSpPr>
          <p:cNvPr id="25" name="Text 23"/>
          <p:cNvSpPr/>
          <p:nvPr/>
        </p:nvSpPr>
        <p:spPr>
          <a:xfrm>
            <a:off x="1097280" y="4846320"/>
            <a:ext cx="4389120" cy="914400"/>
          </a:xfrm>
          <a:prstGeom prst="rect">
            <a:avLst/>
          </a:prstGeom>
          <a:noFill/>
          <a:ln/>
        </p:spPr>
        <p:txBody>
          <a:bodyPr wrap="square" rtlCol="0" anchor="ctr"/>
          <a:lstStyle/>
          <a:p>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Young sports players booking turfs on Friday afternoon are on the go. They do not carry credit card numbers, CVVs, or NetBanking passwords. Razorpay automatically detects their installed UPI apps and launches the payment screen with a single tap.</a:t>
            </a:r>
            <a:endParaRPr lang="en-US" sz="850" dirty="0"/>
          </a:p>
        </p:txBody>
      </p:sp>
      <p:sp>
        <p:nvSpPr>
          <p:cNvPr id="26" name="Shape 24"/>
          <p:cNvSpPr/>
          <p:nvPr/>
        </p:nvSpPr>
        <p:spPr>
          <a:xfrm>
            <a:off x="6126480" y="1325880"/>
            <a:ext cx="5333695" cy="4800600"/>
          </a:xfrm>
          <a:prstGeom prst="roundRect">
            <a:avLst>
              <a:gd name="adj" fmla="val 1905"/>
            </a:avLst>
          </a:prstGeom>
          <a:solidFill>
            <a:srgbClr val="FFFFFF"/>
          </a:solidFill>
          <a:ln w="12700">
            <a:solidFill>
              <a:srgbClr val="E2E8F0"/>
            </a:solidFill>
            <a:prstDash val="solid"/>
          </a:ln>
        </p:spPr>
      </p:sp>
      <p:sp>
        <p:nvSpPr>
          <p:cNvPr id="27" name="Shape 25"/>
          <p:cNvSpPr/>
          <p:nvPr/>
        </p:nvSpPr>
        <p:spPr>
          <a:xfrm>
            <a:off x="6217920" y="1325880"/>
            <a:ext cx="5150815" cy="45720"/>
          </a:xfrm>
          <a:prstGeom prst="rect">
            <a:avLst/>
          </a:prstGeom>
          <a:solidFill>
            <a:srgbClr val="2563EB"/>
          </a:solidFill>
          <a:ln/>
        </p:spPr>
      </p:sp>
      <p:sp>
        <p:nvSpPr>
          <p:cNvPr id="28" name="Text 26"/>
          <p:cNvSpPr/>
          <p:nvPr/>
        </p:nvSpPr>
        <p:spPr>
          <a:xfrm>
            <a:off x="6355080" y="1463040"/>
            <a:ext cx="4876495"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Complete Multi-Rail Coverage Across India</a:t>
            </a:r>
            <a:endParaRPr lang="en-US" sz="1250" dirty="0"/>
          </a:p>
        </p:txBody>
      </p:sp>
      <p:sp>
        <p:nvSpPr>
          <p:cNvPr id="29" name="Shape 27"/>
          <p:cNvSpPr/>
          <p:nvPr/>
        </p:nvSpPr>
        <p:spPr>
          <a:xfrm>
            <a:off x="6309360" y="1828800"/>
            <a:ext cx="4937760" cy="713232"/>
          </a:xfrm>
          <a:prstGeom prst="roundRect">
            <a:avLst>
              <a:gd name="adj" fmla="val 6410"/>
            </a:avLst>
          </a:prstGeom>
          <a:solidFill>
            <a:srgbClr val="F8FAFC"/>
          </a:solidFill>
          <a:ln w="12700">
            <a:solidFill>
              <a:srgbClr val="E2E8F0"/>
            </a:solidFill>
            <a:prstDash val="solid"/>
          </a:ln>
        </p:spPr>
      </p:sp>
      <p:sp>
        <p:nvSpPr>
          <p:cNvPr id="30" name="Text 28"/>
          <p:cNvSpPr/>
          <p:nvPr/>
        </p:nvSpPr>
        <p:spPr>
          <a:xfrm>
            <a:off x="6446520" y="1901952"/>
            <a:ext cx="4663440" cy="228600"/>
          </a:xfrm>
          <a:prstGeom prst="rect">
            <a:avLst/>
          </a:prstGeom>
          <a:noFill/>
          <a:ln/>
        </p:spPr>
        <p:txBody>
          <a:bodyPr wrap="square" rtlCol="0" anchor="ctr"/>
          <a:lstStyle/>
          <a:p>
            <a:pPr indent="0" marL="0">
              <a:buNone/>
            </a:pPr>
            <a:r>
              <a:rPr lang="en-US" sz="950" b="1" dirty="0">
                <a:solidFill>
                  <a:srgbClr val="0B0F19"/>
                </a:solidFill>
                <a:latin typeface="Segoe UI" pitchFamily="34" charset="0"/>
                <a:ea typeface="Segoe UI" pitchFamily="34" charset="-122"/>
                <a:cs typeface="Segoe UI" pitchFamily="34" charset="-120"/>
              </a:rPr>
              <a:t>Google Pay (GPay)</a:t>
            </a:r>
            <a:endParaRPr lang="en-US" sz="950" dirty="0"/>
          </a:p>
        </p:txBody>
      </p:sp>
      <p:sp>
        <p:nvSpPr>
          <p:cNvPr id="31" name="Text 29"/>
          <p:cNvSpPr/>
          <p:nvPr/>
        </p:nvSpPr>
        <p:spPr>
          <a:xfrm>
            <a:off x="6446520" y="2148840"/>
            <a:ext cx="4663440" cy="34747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Direct UPI intent deep-link with biometric fingerprint confirmation.</a:t>
            </a:r>
            <a:endParaRPr lang="en-US" sz="800" dirty="0"/>
          </a:p>
        </p:txBody>
      </p:sp>
      <p:sp>
        <p:nvSpPr>
          <p:cNvPr id="32" name="Shape 30"/>
          <p:cNvSpPr/>
          <p:nvPr/>
        </p:nvSpPr>
        <p:spPr>
          <a:xfrm>
            <a:off x="6309360" y="2670048"/>
            <a:ext cx="4937760" cy="713232"/>
          </a:xfrm>
          <a:prstGeom prst="roundRect">
            <a:avLst>
              <a:gd name="adj" fmla="val 6410"/>
            </a:avLst>
          </a:prstGeom>
          <a:solidFill>
            <a:srgbClr val="F8FAFC"/>
          </a:solidFill>
          <a:ln w="12700">
            <a:solidFill>
              <a:srgbClr val="E2E8F0"/>
            </a:solidFill>
            <a:prstDash val="solid"/>
          </a:ln>
        </p:spPr>
      </p:sp>
      <p:sp>
        <p:nvSpPr>
          <p:cNvPr id="33" name="Text 31"/>
          <p:cNvSpPr/>
          <p:nvPr/>
        </p:nvSpPr>
        <p:spPr>
          <a:xfrm>
            <a:off x="6446520" y="2743200"/>
            <a:ext cx="4663440" cy="228600"/>
          </a:xfrm>
          <a:prstGeom prst="rect">
            <a:avLst/>
          </a:prstGeom>
          <a:noFill/>
          <a:ln/>
        </p:spPr>
        <p:txBody>
          <a:bodyPr wrap="square" rtlCol="0" anchor="ctr"/>
          <a:lstStyle/>
          <a:p>
            <a:pPr indent="0" marL="0">
              <a:buNone/>
            </a:pPr>
            <a:r>
              <a:rPr lang="en-US" sz="950" b="1" dirty="0">
                <a:solidFill>
                  <a:srgbClr val="0B0F19"/>
                </a:solidFill>
                <a:latin typeface="Segoe UI" pitchFamily="34" charset="0"/>
                <a:ea typeface="Segoe UI" pitchFamily="34" charset="-122"/>
                <a:cs typeface="Segoe UI" pitchFamily="34" charset="-120"/>
              </a:rPr>
              <a:t>PhonePe</a:t>
            </a:r>
            <a:endParaRPr lang="en-US" sz="950" dirty="0"/>
          </a:p>
        </p:txBody>
      </p:sp>
      <p:sp>
        <p:nvSpPr>
          <p:cNvPr id="34" name="Text 32"/>
          <p:cNvSpPr/>
          <p:nvPr/>
        </p:nvSpPr>
        <p:spPr>
          <a:xfrm>
            <a:off x="6446520" y="2990088"/>
            <a:ext cx="4663440" cy="34747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India's largest UPI market share, frictionless 1-tap app launch.</a:t>
            </a:r>
            <a:endParaRPr lang="en-US" sz="800" dirty="0"/>
          </a:p>
        </p:txBody>
      </p:sp>
      <p:sp>
        <p:nvSpPr>
          <p:cNvPr id="35" name="Shape 33"/>
          <p:cNvSpPr/>
          <p:nvPr/>
        </p:nvSpPr>
        <p:spPr>
          <a:xfrm>
            <a:off x="6309360" y="3511296"/>
            <a:ext cx="4937760" cy="713232"/>
          </a:xfrm>
          <a:prstGeom prst="roundRect">
            <a:avLst>
              <a:gd name="adj" fmla="val 6410"/>
            </a:avLst>
          </a:prstGeom>
          <a:solidFill>
            <a:srgbClr val="F8FAFC"/>
          </a:solidFill>
          <a:ln w="12700">
            <a:solidFill>
              <a:srgbClr val="E2E8F0"/>
            </a:solidFill>
            <a:prstDash val="solid"/>
          </a:ln>
        </p:spPr>
      </p:sp>
      <p:sp>
        <p:nvSpPr>
          <p:cNvPr id="36" name="Text 34"/>
          <p:cNvSpPr/>
          <p:nvPr/>
        </p:nvSpPr>
        <p:spPr>
          <a:xfrm>
            <a:off x="6446520" y="3584448"/>
            <a:ext cx="4663440" cy="228600"/>
          </a:xfrm>
          <a:prstGeom prst="rect">
            <a:avLst/>
          </a:prstGeom>
          <a:noFill/>
          <a:ln/>
        </p:spPr>
        <p:txBody>
          <a:bodyPr wrap="square" rtlCol="0" anchor="ctr"/>
          <a:lstStyle/>
          <a:p>
            <a:pPr indent="0" marL="0">
              <a:buNone/>
            </a:pPr>
            <a:r>
              <a:rPr lang="en-US" sz="950" b="1" dirty="0">
                <a:solidFill>
                  <a:srgbClr val="0B0F19"/>
                </a:solidFill>
                <a:latin typeface="Segoe UI" pitchFamily="34" charset="0"/>
                <a:ea typeface="Segoe UI" pitchFamily="34" charset="-122"/>
                <a:cs typeface="Segoe UI" pitchFamily="34" charset="-120"/>
              </a:rPr>
              <a:t>Paytm &amp; CRED</a:t>
            </a:r>
            <a:endParaRPr lang="en-US" sz="950" dirty="0"/>
          </a:p>
        </p:txBody>
      </p:sp>
      <p:sp>
        <p:nvSpPr>
          <p:cNvPr id="37" name="Text 35"/>
          <p:cNvSpPr/>
          <p:nvPr/>
        </p:nvSpPr>
        <p:spPr>
          <a:xfrm>
            <a:off x="6446520" y="3831336"/>
            <a:ext cx="4663440" cy="34747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Popular for reward point cashbacks and high-value corporate bookings.</a:t>
            </a:r>
            <a:endParaRPr lang="en-US" sz="800" dirty="0"/>
          </a:p>
        </p:txBody>
      </p:sp>
      <p:sp>
        <p:nvSpPr>
          <p:cNvPr id="38" name="Shape 36"/>
          <p:cNvSpPr/>
          <p:nvPr/>
        </p:nvSpPr>
        <p:spPr>
          <a:xfrm>
            <a:off x="6309360" y="4352544"/>
            <a:ext cx="4937760" cy="713232"/>
          </a:xfrm>
          <a:prstGeom prst="roundRect">
            <a:avLst>
              <a:gd name="adj" fmla="val 6410"/>
            </a:avLst>
          </a:prstGeom>
          <a:solidFill>
            <a:srgbClr val="F8FAFC"/>
          </a:solidFill>
          <a:ln w="12700">
            <a:solidFill>
              <a:srgbClr val="E2E8F0"/>
            </a:solidFill>
            <a:prstDash val="solid"/>
          </a:ln>
        </p:spPr>
      </p:sp>
      <p:sp>
        <p:nvSpPr>
          <p:cNvPr id="39" name="Text 37"/>
          <p:cNvSpPr/>
          <p:nvPr/>
        </p:nvSpPr>
        <p:spPr>
          <a:xfrm>
            <a:off x="6446520" y="4425696"/>
            <a:ext cx="4663440" cy="228600"/>
          </a:xfrm>
          <a:prstGeom prst="rect">
            <a:avLst/>
          </a:prstGeom>
          <a:noFill/>
          <a:ln/>
        </p:spPr>
        <p:txBody>
          <a:bodyPr wrap="square" rtlCol="0" anchor="ctr"/>
          <a:lstStyle/>
          <a:p>
            <a:pPr indent="0" marL="0">
              <a:buNone/>
            </a:pPr>
            <a:r>
              <a:rPr lang="en-US" sz="950" b="1" dirty="0">
                <a:solidFill>
                  <a:srgbClr val="0B0F19"/>
                </a:solidFill>
                <a:latin typeface="Segoe UI" pitchFamily="34" charset="0"/>
                <a:ea typeface="Segoe UI" pitchFamily="34" charset="-122"/>
                <a:cs typeface="Segoe UI" pitchFamily="34" charset="-120"/>
              </a:rPr>
              <a:t>Debit &amp; Credit Cards</a:t>
            </a:r>
            <a:endParaRPr lang="en-US" sz="950" dirty="0"/>
          </a:p>
        </p:txBody>
      </p:sp>
      <p:sp>
        <p:nvSpPr>
          <p:cNvPr id="40" name="Text 38"/>
          <p:cNvSpPr/>
          <p:nvPr/>
        </p:nvSpPr>
        <p:spPr>
          <a:xfrm>
            <a:off x="6446520" y="4672584"/>
            <a:ext cx="4663440" cy="34747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Visa, Mastercard, RuPay with RBI tokenization and 3DS 2.0.</a:t>
            </a:r>
            <a:endParaRPr lang="en-US" sz="800" dirty="0"/>
          </a:p>
        </p:txBody>
      </p:sp>
      <p:sp>
        <p:nvSpPr>
          <p:cNvPr id="41" name="Shape 39"/>
          <p:cNvSpPr/>
          <p:nvPr/>
        </p:nvSpPr>
        <p:spPr>
          <a:xfrm>
            <a:off x="6309360" y="5193792"/>
            <a:ext cx="4937760" cy="713232"/>
          </a:xfrm>
          <a:prstGeom prst="roundRect">
            <a:avLst>
              <a:gd name="adj" fmla="val 6410"/>
            </a:avLst>
          </a:prstGeom>
          <a:solidFill>
            <a:srgbClr val="F8FAFC"/>
          </a:solidFill>
          <a:ln w="12700">
            <a:solidFill>
              <a:srgbClr val="E2E8F0"/>
            </a:solidFill>
            <a:prstDash val="solid"/>
          </a:ln>
        </p:spPr>
      </p:sp>
      <p:sp>
        <p:nvSpPr>
          <p:cNvPr id="42" name="Text 40"/>
          <p:cNvSpPr/>
          <p:nvPr/>
        </p:nvSpPr>
        <p:spPr>
          <a:xfrm>
            <a:off x="6446520" y="5266944"/>
            <a:ext cx="4663440" cy="228600"/>
          </a:xfrm>
          <a:prstGeom prst="rect">
            <a:avLst/>
          </a:prstGeom>
          <a:noFill/>
          <a:ln/>
        </p:spPr>
        <p:txBody>
          <a:bodyPr wrap="square" rtlCol="0" anchor="ctr"/>
          <a:lstStyle/>
          <a:p>
            <a:pPr indent="0" marL="0">
              <a:buNone/>
            </a:pPr>
            <a:r>
              <a:rPr lang="en-US" sz="950" b="1" dirty="0">
                <a:solidFill>
                  <a:srgbClr val="0B0F19"/>
                </a:solidFill>
                <a:latin typeface="Segoe UI" pitchFamily="34" charset="0"/>
                <a:ea typeface="Segoe UI" pitchFamily="34" charset="-122"/>
                <a:cs typeface="Segoe UI" pitchFamily="34" charset="-120"/>
              </a:rPr>
              <a:t>NetBanking</a:t>
            </a:r>
            <a:endParaRPr lang="en-US" sz="950" dirty="0"/>
          </a:p>
        </p:txBody>
      </p:sp>
      <p:sp>
        <p:nvSpPr>
          <p:cNvPr id="43" name="Text 41"/>
          <p:cNvSpPr/>
          <p:nvPr/>
        </p:nvSpPr>
        <p:spPr>
          <a:xfrm>
            <a:off x="6446520" y="5513832"/>
            <a:ext cx="4663440" cy="34747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Supported across 50+ Indian banks (HDFC, ICICI, SBI, Axis, Kotak).</a:t>
            </a:r>
            <a:endParaRPr lang="en-US" sz="800" dirty="0"/>
          </a:p>
        </p:txBody>
      </p:sp>
      <p:sp>
        <p:nvSpPr>
          <p:cNvPr id="44" name="Shape 42"/>
          <p:cNvSpPr/>
          <p:nvPr/>
        </p:nvSpPr>
        <p:spPr>
          <a:xfrm>
            <a:off x="731520" y="6400800"/>
            <a:ext cx="10728655" cy="0"/>
          </a:xfrm>
          <a:prstGeom prst="line">
            <a:avLst/>
          </a:prstGeom>
          <a:noFill/>
          <a:ln w="12700">
            <a:solidFill>
              <a:srgbClr val="E2E8F0"/>
            </a:solidFill>
            <a:prstDash val="solid"/>
          </a:ln>
        </p:spPr>
      </p:sp>
      <p:sp>
        <p:nvSpPr>
          <p:cNvPr id="45" name="Text 43"/>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46" name="Text 44"/>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CUSTOMER RETENTION</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Deep Dive 3: 60-Second Instant Refunds via RazorpayX</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5 / 8</a:t>
            </a:r>
            <a:endParaRPr lang="en-US" sz="850" dirty="0"/>
          </a:p>
        </p:txBody>
      </p:sp>
      <p:sp>
        <p:nvSpPr>
          <p:cNvPr id="8" name="Shape 6"/>
          <p:cNvSpPr/>
          <p:nvPr/>
        </p:nvSpPr>
        <p:spPr>
          <a:xfrm>
            <a:off x="731520" y="1325880"/>
            <a:ext cx="5120640" cy="4800600"/>
          </a:xfrm>
          <a:prstGeom prst="roundRect">
            <a:avLst>
              <a:gd name="adj" fmla="val 1905"/>
            </a:avLst>
          </a:prstGeom>
          <a:solidFill>
            <a:srgbClr val="FFFFFF"/>
          </a:solidFill>
          <a:ln w="12700">
            <a:solidFill>
              <a:srgbClr val="E2E8F0"/>
            </a:solidFill>
            <a:prstDash val="solid"/>
          </a:ln>
        </p:spPr>
      </p:sp>
      <p:sp>
        <p:nvSpPr>
          <p:cNvPr id="9" name="Shape 7"/>
          <p:cNvSpPr/>
          <p:nvPr/>
        </p:nvSpPr>
        <p:spPr>
          <a:xfrm>
            <a:off x="822960" y="1325880"/>
            <a:ext cx="4937760" cy="45720"/>
          </a:xfrm>
          <a:prstGeom prst="rect">
            <a:avLst/>
          </a:prstGeom>
          <a:solidFill>
            <a:srgbClr val="DC2626"/>
          </a:solidFill>
          <a:ln/>
        </p:spPr>
      </p:sp>
      <p:sp>
        <p:nvSpPr>
          <p:cNvPr id="10" name="Text 8"/>
          <p:cNvSpPr/>
          <p:nvPr/>
        </p:nvSpPr>
        <p:spPr>
          <a:xfrm>
            <a:off x="960120" y="1463040"/>
            <a:ext cx="4663440"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The Problem with Traditional 7-Day Refunds</a:t>
            </a:r>
            <a:endParaRPr lang="en-US" sz="1250" dirty="0"/>
          </a:p>
        </p:txBody>
      </p:sp>
      <p:sp>
        <p:nvSpPr>
          <p:cNvPr id="11" name="Shape 9"/>
          <p:cNvSpPr/>
          <p:nvPr/>
        </p:nvSpPr>
        <p:spPr>
          <a:xfrm>
            <a:off x="960120" y="1828800"/>
            <a:ext cx="4663440" cy="1005840"/>
          </a:xfrm>
          <a:prstGeom prst="roundRect">
            <a:avLst>
              <a:gd name="adj" fmla="val 5455"/>
            </a:avLst>
          </a:prstGeom>
          <a:solidFill>
            <a:srgbClr val="FEF2F2"/>
          </a:solidFill>
          <a:ln w="12700">
            <a:solidFill>
              <a:srgbClr val="FECACA"/>
            </a:solidFill>
            <a:prstDash val="solid"/>
          </a:ln>
        </p:spPr>
      </p:sp>
      <p:sp>
        <p:nvSpPr>
          <p:cNvPr id="12" name="Text 10"/>
          <p:cNvSpPr/>
          <p:nvPr/>
        </p:nvSpPr>
        <p:spPr>
          <a:xfrm>
            <a:off x="1097280" y="1920240"/>
            <a:ext cx="4389120" cy="228600"/>
          </a:xfrm>
          <a:prstGeom prst="rect">
            <a:avLst/>
          </a:prstGeom>
          <a:noFill/>
          <a:ln/>
        </p:spPr>
        <p:txBody>
          <a:bodyPr wrap="square" rtlCol="0" anchor="ctr"/>
          <a:lstStyle/>
          <a:p>
            <a:pPr indent="0" marL="0">
              <a:buNone/>
            </a:pPr>
            <a:r>
              <a:rPr lang="en-US" sz="850" b="1" dirty="0">
                <a:solidFill>
                  <a:srgbClr val="DC2626"/>
                </a:solidFill>
                <a:latin typeface="Segoe UI" pitchFamily="34" charset="0"/>
                <a:ea typeface="Segoe UI" pitchFamily="34" charset="-122"/>
                <a:cs typeface="Segoe UI" pitchFamily="34" charset="-120"/>
              </a:rPr>
              <a:t>THE SATURDAY RAINOUT CRISIS:</a:t>
            </a:r>
            <a:endParaRPr lang="en-US" sz="850" dirty="0"/>
          </a:p>
        </p:txBody>
      </p:sp>
      <p:sp>
        <p:nvSpPr>
          <p:cNvPr id="13" name="Text 11"/>
          <p:cNvSpPr/>
          <p:nvPr/>
        </p:nvSpPr>
        <p:spPr>
          <a:xfrm>
            <a:off x="1097280" y="2176272"/>
            <a:ext cx="4389120" cy="594360"/>
          </a:xfrm>
          <a:prstGeom prst="rect">
            <a:avLst/>
          </a:prstGeom>
          <a:noFill/>
          <a:ln/>
        </p:spPr>
        <p:txBody>
          <a:bodyPr wrap="square" rtlCol="0" anchor="ctr"/>
          <a:lstStyle/>
          <a:p>
            <a:pPr indent="0" marL="0">
              <a:buNone/>
            </a:pPr>
            <a:r>
              <a:rPr lang="en-US" sz="820" dirty="0">
                <a:solidFill>
                  <a:srgbClr val="0F172A"/>
                </a:solidFill>
                <a:latin typeface="Segoe UI" pitchFamily="34" charset="0"/>
                <a:ea typeface="Segoe UI" pitchFamily="34" charset="-122"/>
                <a:cs typeface="Segoe UI" pitchFamily="34" charset="-120"/>
              </a:rPr>
              <a:t>Heavy rain hits Bangalore at 4 PM, flooding 15 outdoor turfs. 30 matches are cancelled. Under traditional payment gateways, refunds take 5 to 7 business days to credit back to player cards.</a:t>
            </a:r>
            <a:endParaRPr lang="en-US" sz="820" dirty="0"/>
          </a:p>
        </p:txBody>
      </p:sp>
      <p:sp>
        <p:nvSpPr>
          <p:cNvPr id="14" name="Shape 12"/>
          <p:cNvSpPr/>
          <p:nvPr/>
        </p:nvSpPr>
        <p:spPr>
          <a:xfrm>
            <a:off x="960120" y="3017520"/>
            <a:ext cx="4663440" cy="777240"/>
          </a:xfrm>
          <a:prstGeom prst="roundRect">
            <a:avLst>
              <a:gd name="adj" fmla="val 5882"/>
            </a:avLst>
          </a:prstGeom>
          <a:solidFill>
            <a:srgbClr val="F8FAFC"/>
          </a:solidFill>
          <a:ln w="12700">
            <a:solidFill>
              <a:srgbClr val="E2E8F0"/>
            </a:solidFill>
            <a:prstDash val="solid"/>
          </a:ln>
        </p:spPr>
      </p:sp>
      <p:sp>
        <p:nvSpPr>
          <p:cNvPr id="15" name="Text 13"/>
          <p:cNvSpPr/>
          <p:nvPr/>
        </p:nvSpPr>
        <p:spPr>
          <a:xfrm>
            <a:off x="1097280" y="309067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Angry Customer Inquiries</a:t>
            </a:r>
            <a:endParaRPr lang="en-US" sz="900" dirty="0"/>
          </a:p>
        </p:txBody>
      </p:sp>
      <p:sp>
        <p:nvSpPr>
          <p:cNvPr id="16" name="Text 14"/>
          <p:cNvSpPr/>
          <p:nvPr/>
        </p:nvSpPr>
        <p:spPr>
          <a:xfrm>
            <a:off x="1097280" y="331012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Players bombard your WhatsApp support with 'Where is my money?' and leave 1-star reviews on Google Play.</a:t>
            </a:r>
            <a:endParaRPr lang="en-US" sz="800" dirty="0"/>
          </a:p>
        </p:txBody>
      </p:sp>
      <p:sp>
        <p:nvSpPr>
          <p:cNvPr id="17" name="Shape 15"/>
          <p:cNvSpPr/>
          <p:nvPr/>
        </p:nvSpPr>
        <p:spPr>
          <a:xfrm>
            <a:off x="960120" y="3886200"/>
            <a:ext cx="4663440" cy="777240"/>
          </a:xfrm>
          <a:prstGeom prst="roundRect">
            <a:avLst>
              <a:gd name="adj" fmla="val 5882"/>
            </a:avLst>
          </a:prstGeom>
          <a:solidFill>
            <a:srgbClr val="F8FAFC"/>
          </a:solidFill>
          <a:ln w="12700">
            <a:solidFill>
              <a:srgbClr val="E2E8F0"/>
            </a:solidFill>
            <a:prstDash val="solid"/>
          </a:ln>
        </p:spPr>
      </p:sp>
      <p:sp>
        <p:nvSpPr>
          <p:cNvPr id="18" name="Text 16"/>
          <p:cNvSpPr/>
          <p:nvPr/>
        </p:nvSpPr>
        <p:spPr>
          <a:xfrm>
            <a:off x="1097280" y="395935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Loss of Weekend Rebooking</a:t>
            </a:r>
            <a:endParaRPr lang="en-US" sz="900" dirty="0"/>
          </a:p>
        </p:txBody>
      </p:sp>
      <p:sp>
        <p:nvSpPr>
          <p:cNvPr id="19" name="Text 17"/>
          <p:cNvSpPr/>
          <p:nvPr/>
        </p:nvSpPr>
        <p:spPr>
          <a:xfrm>
            <a:off x="1097280" y="417880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Because the player's cash is stuck in bank clearing, they cannot book an indoor badminton court on Turfify for that same evening.</a:t>
            </a:r>
            <a:endParaRPr lang="en-US" sz="800" dirty="0"/>
          </a:p>
        </p:txBody>
      </p:sp>
      <p:sp>
        <p:nvSpPr>
          <p:cNvPr id="20" name="Shape 18"/>
          <p:cNvSpPr/>
          <p:nvPr/>
        </p:nvSpPr>
        <p:spPr>
          <a:xfrm>
            <a:off x="960120" y="4754880"/>
            <a:ext cx="4663440" cy="777240"/>
          </a:xfrm>
          <a:prstGeom prst="roundRect">
            <a:avLst>
              <a:gd name="adj" fmla="val 5882"/>
            </a:avLst>
          </a:prstGeom>
          <a:solidFill>
            <a:srgbClr val="F8FAFC"/>
          </a:solidFill>
          <a:ln w="12700">
            <a:solidFill>
              <a:srgbClr val="E2E8F0"/>
            </a:solidFill>
            <a:prstDash val="solid"/>
          </a:ln>
        </p:spPr>
      </p:sp>
      <p:sp>
        <p:nvSpPr>
          <p:cNvPr id="21" name="Text 19"/>
          <p:cNvSpPr/>
          <p:nvPr/>
        </p:nvSpPr>
        <p:spPr>
          <a:xfrm>
            <a:off x="1097280" y="4828032"/>
            <a:ext cx="4389120" cy="201168"/>
          </a:xfrm>
          <a:prstGeom prst="rect">
            <a:avLst/>
          </a:prstGeom>
          <a:noFill/>
          <a:ln/>
        </p:spPr>
        <p:txBody>
          <a:bodyPr wrap="square" rtlCol="0" anchor="ctr"/>
          <a:lstStyle/>
          <a:p>
            <a:pPr indent="0" marL="0">
              <a:buNone/>
            </a:pPr>
            <a:r>
              <a:rPr lang="en-US" sz="900" b="1" dirty="0">
                <a:solidFill>
                  <a:srgbClr val="0B0F19"/>
                </a:solidFill>
                <a:latin typeface="Segoe UI" pitchFamily="34" charset="0"/>
                <a:ea typeface="Segoe UI" pitchFamily="34" charset="-122"/>
                <a:cs typeface="Segoe UI" pitchFamily="34" charset="-120"/>
              </a:rPr>
              <a:t>Bank Intermediary Fees</a:t>
            </a:r>
            <a:endParaRPr lang="en-US" sz="900" dirty="0"/>
          </a:p>
        </p:txBody>
      </p:sp>
      <p:sp>
        <p:nvSpPr>
          <p:cNvPr id="22" name="Text 20"/>
          <p:cNvSpPr/>
          <p:nvPr/>
        </p:nvSpPr>
        <p:spPr>
          <a:xfrm>
            <a:off x="1097280" y="5047488"/>
            <a:ext cx="4389120" cy="438912"/>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Card networks often deduct convenience fees on refunds, leaving the player short-changed.</a:t>
            </a:r>
            <a:endParaRPr lang="en-US" sz="800" dirty="0"/>
          </a:p>
        </p:txBody>
      </p:sp>
      <p:sp>
        <p:nvSpPr>
          <p:cNvPr id="23" name="Shape 21"/>
          <p:cNvSpPr/>
          <p:nvPr/>
        </p:nvSpPr>
        <p:spPr>
          <a:xfrm>
            <a:off x="6126480" y="1325880"/>
            <a:ext cx="5333695" cy="4800600"/>
          </a:xfrm>
          <a:prstGeom prst="roundRect">
            <a:avLst>
              <a:gd name="adj" fmla="val 1905"/>
            </a:avLst>
          </a:prstGeom>
          <a:solidFill>
            <a:srgbClr val="FFFFFF"/>
          </a:solidFill>
          <a:ln w="12700">
            <a:solidFill>
              <a:srgbClr val="E2E8F0"/>
            </a:solidFill>
            <a:prstDash val="solid"/>
          </a:ln>
        </p:spPr>
      </p:sp>
      <p:sp>
        <p:nvSpPr>
          <p:cNvPr id="24" name="Shape 22"/>
          <p:cNvSpPr/>
          <p:nvPr/>
        </p:nvSpPr>
        <p:spPr>
          <a:xfrm>
            <a:off x="6217920" y="1325880"/>
            <a:ext cx="5150815" cy="45720"/>
          </a:xfrm>
          <a:prstGeom prst="rect">
            <a:avLst/>
          </a:prstGeom>
          <a:solidFill>
            <a:srgbClr val="059669"/>
          </a:solidFill>
          <a:ln/>
        </p:spPr>
      </p:sp>
      <p:sp>
        <p:nvSpPr>
          <p:cNvPr id="25" name="Text 23"/>
          <p:cNvSpPr/>
          <p:nvPr/>
        </p:nvSpPr>
        <p:spPr>
          <a:xfrm>
            <a:off x="6355080" y="1463040"/>
            <a:ext cx="4876495" cy="320040"/>
          </a:xfrm>
          <a:prstGeom prst="rect">
            <a:avLst/>
          </a:prstGeom>
          <a:noFill/>
          <a:ln/>
        </p:spPr>
        <p:txBody>
          <a:bodyPr wrap="square" rtlCol="0" anchor="ctr"/>
          <a:lstStyle/>
          <a:p>
            <a:pPr indent="0" marL="0">
              <a:buNone/>
            </a:pPr>
            <a:r>
              <a:rPr lang="en-US" sz="1250" b="1" dirty="0">
                <a:solidFill>
                  <a:srgbClr val="0B0F19"/>
                </a:solidFill>
                <a:latin typeface="Segoe UI" pitchFamily="34" charset="0"/>
                <a:ea typeface="Segoe UI" pitchFamily="34" charset="-122"/>
                <a:cs typeface="Segoe UI" pitchFamily="34" charset="-120"/>
              </a:rPr>
              <a:t>The RazorpayX Solution: 60-Second UPI Refunds</a:t>
            </a:r>
            <a:endParaRPr lang="en-US" sz="1250" dirty="0"/>
          </a:p>
        </p:txBody>
      </p:sp>
      <p:sp>
        <p:nvSpPr>
          <p:cNvPr id="26" name="Shape 24"/>
          <p:cNvSpPr/>
          <p:nvPr/>
        </p:nvSpPr>
        <p:spPr>
          <a:xfrm>
            <a:off x="6309360" y="1828800"/>
            <a:ext cx="4937760" cy="914400"/>
          </a:xfrm>
          <a:prstGeom prst="roundRect">
            <a:avLst>
              <a:gd name="adj" fmla="val 6000"/>
            </a:avLst>
          </a:prstGeom>
          <a:solidFill>
            <a:srgbClr val="ECFDF5"/>
          </a:solidFill>
          <a:ln w="12700">
            <a:solidFill>
              <a:srgbClr val="A7F3D0"/>
            </a:solidFill>
            <a:prstDash val="solid"/>
          </a:ln>
        </p:spPr>
      </p:sp>
      <p:sp>
        <p:nvSpPr>
          <p:cNvPr id="27" name="Text 25"/>
          <p:cNvSpPr/>
          <p:nvPr/>
        </p:nvSpPr>
        <p:spPr>
          <a:xfrm>
            <a:off x="6446520" y="1901952"/>
            <a:ext cx="4663440" cy="237744"/>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1. Match Cancellation Trigger</a:t>
            </a:r>
            <a:endParaRPr lang="en-US" sz="950" dirty="0"/>
          </a:p>
        </p:txBody>
      </p:sp>
      <p:sp>
        <p:nvSpPr>
          <p:cNvPr id="28" name="Text 26"/>
          <p:cNvSpPr/>
          <p:nvPr/>
        </p:nvSpPr>
        <p:spPr>
          <a:xfrm>
            <a:off x="6446520" y="214884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Owner taps 'Rainout Cancellation' on owner dashboard or player cancels &gt;24 hours ahead.</a:t>
            </a:r>
            <a:endParaRPr lang="en-US" sz="820" dirty="0"/>
          </a:p>
        </p:txBody>
      </p:sp>
      <p:sp>
        <p:nvSpPr>
          <p:cNvPr id="29" name="Shape 27"/>
          <p:cNvSpPr/>
          <p:nvPr/>
        </p:nvSpPr>
        <p:spPr>
          <a:xfrm>
            <a:off x="6309360" y="2880360"/>
            <a:ext cx="4937760" cy="914400"/>
          </a:xfrm>
          <a:prstGeom prst="roundRect">
            <a:avLst>
              <a:gd name="adj" fmla="val 6000"/>
            </a:avLst>
          </a:prstGeom>
          <a:solidFill>
            <a:srgbClr val="ECFDF5"/>
          </a:solidFill>
          <a:ln w="12700">
            <a:solidFill>
              <a:srgbClr val="A7F3D0"/>
            </a:solidFill>
            <a:prstDash val="solid"/>
          </a:ln>
        </p:spPr>
      </p:sp>
      <p:sp>
        <p:nvSpPr>
          <p:cNvPr id="30" name="Text 28"/>
          <p:cNvSpPr/>
          <p:nvPr/>
        </p:nvSpPr>
        <p:spPr>
          <a:xfrm>
            <a:off x="6446520" y="2953512"/>
            <a:ext cx="4663440" cy="237744"/>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2. Server Invokes RazorpayX Payout API</a:t>
            </a:r>
            <a:endParaRPr lang="en-US" sz="950" dirty="0"/>
          </a:p>
        </p:txBody>
      </p:sp>
      <p:sp>
        <p:nvSpPr>
          <p:cNvPr id="31" name="Text 29"/>
          <p:cNvSpPr/>
          <p:nvPr/>
        </p:nvSpPr>
        <p:spPr>
          <a:xfrm>
            <a:off x="6446520" y="320040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Backend dispatches an instant payout instruction using the original payment's UPI VPA handle.</a:t>
            </a:r>
            <a:endParaRPr lang="en-US" sz="820" dirty="0"/>
          </a:p>
        </p:txBody>
      </p:sp>
      <p:sp>
        <p:nvSpPr>
          <p:cNvPr id="32" name="Shape 30"/>
          <p:cNvSpPr/>
          <p:nvPr/>
        </p:nvSpPr>
        <p:spPr>
          <a:xfrm>
            <a:off x="6309360" y="3931920"/>
            <a:ext cx="4937760" cy="914400"/>
          </a:xfrm>
          <a:prstGeom prst="roundRect">
            <a:avLst>
              <a:gd name="adj" fmla="val 6000"/>
            </a:avLst>
          </a:prstGeom>
          <a:solidFill>
            <a:srgbClr val="ECFDF5"/>
          </a:solidFill>
          <a:ln w="12700">
            <a:solidFill>
              <a:srgbClr val="A7F3D0"/>
            </a:solidFill>
            <a:prstDash val="solid"/>
          </a:ln>
        </p:spPr>
      </p:sp>
      <p:sp>
        <p:nvSpPr>
          <p:cNvPr id="33" name="Text 31"/>
          <p:cNvSpPr/>
          <p:nvPr/>
        </p:nvSpPr>
        <p:spPr>
          <a:xfrm>
            <a:off x="6446520" y="4005072"/>
            <a:ext cx="4663440" cy="237744"/>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3. Direct IMPS / UPI Transfer (&lt;60s)</a:t>
            </a:r>
            <a:endParaRPr lang="en-US" sz="950" dirty="0"/>
          </a:p>
        </p:txBody>
      </p:sp>
      <p:sp>
        <p:nvSpPr>
          <p:cNvPr id="34" name="Text 32"/>
          <p:cNvSpPr/>
          <p:nvPr/>
        </p:nvSpPr>
        <p:spPr>
          <a:xfrm>
            <a:off x="6446520" y="425196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Money hits the player's bank account in under 60 seconds, accompanied by an instant bank SMS.</a:t>
            </a:r>
            <a:endParaRPr lang="en-US" sz="820" dirty="0"/>
          </a:p>
        </p:txBody>
      </p:sp>
      <p:sp>
        <p:nvSpPr>
          <p:cNvPr id="35" name="Shape 33"/>
          <p:cNvSpPr/>
          <p:nvPr/>
        </p:nvSpPr>
        <p:spPr>
          <a:xfrm>
            <a:off x="6309360" y="4983480"/>
            <a:ext cx="4937760" cy="914400"/>
          </a:xfrm>
          <a:prstGeom prst="roundRect">
            <a:avLst>
              <a:gd name="adj" fmla="val 6000"/>
            </a:avLst>
          </a:prstGeom>
          <a:solidFill>
            <a:srgbClr val="ECFDF5"/>
          </a:solidFill>
          <a:ln w="12700">
            <a:solidFill>
              <a:srgbClr val="A7F3D0"/>
            </a:solidFill>
            <a:prstDash val="solid"/>
          </a:ln>
        </p:spPr>
      </p:sp>
      <p:sp>
        <p:nvSpPr>
          <p:cNvPr id="36" name="Text 34"/>
          <p:cNvSpPr/>
          <p:nvPr/>
        </p:nvSpPr>
        <p:spPr>
          <a:xfrm>
            <a:off x="6446520" y="5056632"/>
            <a:ext cx="4663440" cy="237744"/>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4. Player Goodwill &amp; Instant Rebooking</a:t>
            </a:r>
            <a:endParaRPr lang="en-US" sz="950" dirty="0"/>
          </a:p>
        </p:txBody>
      </p:sp>
      <p:sp>
        <p:nvSpPr>
          <p:cNvPr id="37" name="Text 35"/>
          <p:cNvSpPr/>
          <p:nvPr/>
        </p:nvSpPr>
        <p:spPr>
          <a:xfrm>
            <a:off x="6446520" y="5303520"/>
            <a:ext cx="4663440" cy="548640"/>
          </a:xfrm>
          <a:prstGeom prst="rect">
            <a:avLst/>
          </a:prstGeom>
          <a:noFill/>
          <a:ln/>
        </p:spPr>
        <p:txBody>
          <a:bodyPr wrap="square" rtlCol="0" anchor="ctr"/>
          <a:lstStyle/>
          <a:p>
            <a:pPr indent="0" marL="0">
              <a:lnSpc>
                <a:spcPct val="110000"/>
              </a:lnSpc>
              <a:buNone/>
            </a:pPr>
            <a:r>
              <a:rPr lang="en-US" sz="820" dirty="0">
                <a:solidFill>
                  <a:srgbClr val="0F172A"/>
                </a:solidFill>
                <a:latin typeface="Segoe UI" pitchFamily="34" charset="0"/>
                <a:ea typeface="Segoe UI" pitchFamily="34" charset="-122"/>
                <a:cs typeface="Segoe UI" pitchFamily="34" charset="-120"/>
              </a:rPr>
              <a:t>Instead of feeling frustrated, the player is delighted by the lightning-fast service and immediately books another date.</a:t>
            </a:r>
            <a:endParaRPr lang="en-US" sz="820" dirty="0"/>
          </a:p>
        </p:txBody>
      </p:sp>
      <p:sp>
        <p:nvSpPr>
          <p:cNvPr id="38" name="Shape 36"/>
          <p:cNvSpPr/>
          <p:nvPr/>
        </p:nvSpPr>
        <p:spPr>
          <a:xfrm>
            <a:off x="731520" y="6400800"/>
            <a:ext cx="10728655" cy="0"/>
          </a:xfrm>
          <a:prstGeom prst="line">
            <a:avLst/>
          </a:prstGeom>
          <a:noFill/>
          <a:ln w="12700">
            <a:solidFill>
              <a:srgbClr val="E2E8F0"/>
            </a:solidFill>
            <a:prstDash val="solid"/>
          </a:ln>
        </p:spPr>
      </p:sp>
      <p:sp>
        <p:nvSpPr>
          <p:cNvPr id="39" name="Text 37"/>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40" name="Text 38"/>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COMPARATIVE BENCHMARK</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Head-to-Head Comparison: Razorpay vs The Field</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6 / 8</a:t>
            </a:r>
            <a:endParaRPr lang="en-US" sz="850" dirty="0"/>
          </a:p>
        </p:txBody>
      </p:sp>
      <p:sp>
        <p:nvSpPr>
          <p:cNvPr id="8" name="Shape 6"/>
          <p:cNvSpPr/>
          <p:nvPr/>
        </p:nvSpPr>
        <p:spPr>
          <a:xfrm>
            <a:off x="731520" y="1325880"/>
            <a:ext cx="1645920" cy="411480"/>
          </a:xfrm>
          <a:prstGeom prst="roundRect">
            <a:avLst>
              <a:gd name="adj" fmla="val 11111"/>
            </a:avLst>
          </a:prstGeom>
          <a:solidFill>
            <a:srgbClr val="2563EB"/>
          </a:solidFill>
          <a:ln/>
        </p:spPr>
      </p:sp>
      <p:sp>
        <p:nvSpPr>
          <p:cNvPr id="9" name="Text 7"/>
          <p:cNvSpPr/>
          <p:nvPr/>
        </p:nvSpPr>
        <p:spPr>
          <a:xfrm>
            <a:off x="731520" y="1325880"/>
            <a:ext cx="1645920"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GATEWAY</a:t>
            </a:r>
            <a:endParaRPr lang="en-US" sz="850" dirty="0"/>
          </a:p>
        </p:txBody>
      </p:sp>
      <p:sp>
        <p:nvSpPr>
          <p:cNvPr id="10" name="Shape 8"/>
          <p:cNvSpPr/>
          <p:nvPr/>
        </p:nvSpPr>
        <p:spPr>
          <a:xfrm>
            <a:off x="2377440" y="1325880"/>
            <a:ext cx="2011680" cy="411480"/>
          </a:xfrm>
          <a:prstGeom prst="roundRect">
            <a:avLst>
              <a:gd name="adj" fmla="val 11111"/>
            </a:avLst>
          </a:prstGeom>
          <a:solidFill>
            <a:srgbClr val="111827"/>
          </a:solidFill>
          <a:ln/>
        </p:spPr>
      </p:sp>
      <p:sp>
        <p:nvSpPr>
          <p:cNvPr id="11" name="Text 9"/>
          <p:cNvSpPr/>
          <p:nvPr/>
        </p:nvSpPr>
        <p:spPr>
          <a:xfrm>
            <a:off x="2377440" y="1325880"/>
            <a:ext cx="2011680"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BEST SUITED FOR</a:t>
            </a:r>
            <a:endParaRPr lang="en-US" sz="850" dirty="0"/>
          </a:p>
        </p:txBody>
      </p:sp>
      <p:sp>
        <p:nvSpPr>
          <p:cNvPr id="12" name="Shape 10"/>
          <p:cNvSpPr/>
          <p:nvPr/>
        </p:nvSpPr>
        <p:spPr>
          <a:xfrm>
            <a:off x="4389120" y="1325880"/>
            <a:ext cx="2194560" cy="411480"/>
          </a:xfrm>
          <a:prstGeom prst="roundRect">
            <a:avLst>
              <a:gd name="adj" fmla="val 11111"/>
            </a:avLst>
          </a:prstGeom>
          <a:solidFill>
            <a:srgbClr val="111827"/>
          </a:solidFill>
          <a:ln/>
        </p:spPr>
      </p:sp>
      <p:sp>
        <p:nvSpPr>
          <p:cNvPr id="13" name="Text 11"/>
          <p:cNvSpPr/>
          <p:nvPr/>
        </p:nvSpPr>
        <p:spPr>
          <a:xfrm>
            <a:off x="4389120" y="1325880"/>
            <a:ext cx="2194560"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MARKETPLACE SPLIT</a:t>
            </a:r>
            <a:endParaRPr lang="en-US" sz="850" dirty="0"/>
          </a:p>
        </p:txBody>
      </p:sp>
      <p:sp>
        <p:nvSpPr>
          <p:cNvPr id="14" name="Shape 12"/>
          <p:cNvSpPr/>
          <p:nvPr/>
        </p:nvSpPr>
        <p:spPr>
          <a:xfrm>
            <a:off x="6583680" y="1325880"/>
            <a:ext cx="1463040" cy="411480"/>
          </a:xfrm>
          <a:prstGeom prst="roundRect">
            <a:avLst>
              <a:gd name="adj" fmla="val 11111"/>
            </a:avLst>
          </a:prstGeom>
          <a:solidFill>
            <a:srgbClr val="111827"/>
          </a:solidFill>
          <a:ln/>
        </p:spPr>
      </p:sp>
      <p:sp>
        <p:nvSpPr>
          <p:cNvPr id="15" name="Text 13"/>
          <p:cNvSpPr/>
          <p:nvPr/>
        </p:nvSpPr>
        <p:spPr>
          <a:xfrm>
            <a:off x="6583680" y="1325880"/>
            <a:ext cx="1463040"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UPI SUCCESS</a:t>
            </a:r>
            <a:endParaRPr lang="en-US" sz="850" dirty="0"/>
          </a:p>
        </p:txBody>
      </p:sp>
      <p:sp>
        <p:nvSpPr>
          <p:cNvPr id="16" name="Shape 14"/>
          <p:cNvSpPr/>
          <p:nvPr/>
        </p:nvSpPr>
        <p:spPr>
          <a:xfrm>
            <a:off x="8046720" y="1325880"/>
            <a:ext cx="1645920" cy="411480"/>
          </a:xfrm>
          <a:prstGeom prst="roundRect">
            <a:avLst>
              <a:gd name="adj" fmla="val 11111"/>
            </a:avLst>
          </a:prstGeom>
          <a:solidFill>
            <a:srgbClr val="111827"/>
          </a:solidFill>
          <a:ln/>
        </p:spPr>
      </p:sp>
      <p:sp>
        <p:nvSpPr>
          <p:cNvPr id="17" name="Text 15"/>
          <p:cNvSpPr/>
          <p:nvPr/>
        </p:nvSpPr>
        <p:spPr>
          <a:xfrm>
            <a:off x="8046720" y="1325880"/>
            <a:ext cx="1645920"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CHARGES</a:t>
            </a:r>
            <a:endParaRPr lang="en-US" sz="850" dirty="0"/>
          </a:p>
        </p:txBody>
      </p:sp>
      <p:sp>
        <p:nvSpPr>
          <p:cNvPr id="18" name="Shape 16"/>
          <p:cNvSpPr/>
          <p:nvPr/>
        </p:nvSpPr>
        <p:spPr>
          <a:xfrm>
            <a:off x="9692640" y="1325880"/>
            <a:ext cx="1767535" cy="411480"/>
          </a:xfrm>
          <a:prstGeom prst="roundRect">
            <a:avLst>
              <a:gd name="adj" fmla="val 11111"/>
            </a:avLst>
          </a:prstGeom>
          <a:solidFill>
            <a:srgbClr val="111827"/>
          </a:solidFill>
          <a:ln/>
        </p:spPr>
      </p:sp>
      <p:sp>
        <p:nvSpPr>
          <p:cNvPr id="19" name="Text 17"/>
          <p:cNvSpPr/>
          <p:nvPr/>
        </p:nvSpPr>
        <p:spPr>
          <a:xfrm>
            <a:off x="9692640" y="1325880"/>
            <a:ext cx="1767535" cy="411480"/>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VERDICT</a:t>
            </a:r>
            <a:endParaRPr lang="en-US" sz="850" dirty="0"/>
          </a:p>
        </p:txBody>
      </p:sp>
      <p:sp>
        <p:nvSpPr>
          <p:cNvPr id="20" name="Shape 18"/>
          <p:cNvSpPr/>
          <p:nvPr/>
        </p:nvSpPr>
        <p:spPr>
          <a:xfrm>
            <a:off x="731520" y="1810512"/>
            <a:ext cx="1645920" cy="731520"/>
          </a:xfrm>
          <a:prstGeom prst="roundRect">
            <a:avLst>
              <a:gd name="adj" fmla="val 6250"/>
            </a:avLst>
          </a:prstGeom>
          <a:solidFill>
            <a:srgbClr val="EFF6FF"/>
          </a:solidFill>
          <a:ln w="15240">
            <a:solidFill>
              <a:srgbClr val="BFDBFE"/>
            </a:solidFill>
            <a:prstDash val="solid"/>
          </a:ln>
        </p:spPr>
      </p:sp>
      <p:sp>
        <p:nvSpPr>
          <p:cNvPr id="21" name="Text 19"/>
          <p:cNvSpPr/>
          <p:nvPr/>
        </p:nvSpPr>
        <p:spPr>
          <a:xfrm>
            <a:off x="822960" y="1810512"/>
            <a:ext cx="1463040" cy="731520"/>
          </a:xfrm>
          <a:prstGeom prst="rect">
            <a:avLst/>
          </a:prstGeom>
          <a:noFill/>
          <a:ln/>
        </p:spPr>
        <p:txBody>
          <a:bodyPr wrap="square" rtlCol="0" anchor="ctr"/>
          <a:lstStyle/>
          <a:p>
            <a:pPr algn="ctr" indent="0" marL="0">
              <a:buNone/>
            </a:pPr>
            <a:r>
              <a:rPr lang="en-US" sz="820" b="1" dirty="0">
                <a:solidFill>
                  <a:srgbClr val="2563EB"/>
                </a:solidFill>
                <a:latin typeface="Segoe UI" pitchFamily="34" charset="0"/>
                <a:ea typeface="Segoe UI" pitchFamily="34" charset="-122"/>
                <a:cs typeface="Segoe UI" pitchFamily="34" charset="-120"/>
              </a:rPr>
              <a:t>Razorpay 🥇</a:t>
            </a:r>
            <a:endParaRPr lang="en-US" sz="820" dirty="0"/>
          </a:p>
        </p:txBody>
      </p:sp>
      <p:sp>
        <p:nvSpPr>
          <p:cNvPr id="22" name="Shape 20"/>
          <p:cNvSpPr/>
          <p:nvPr/>
        </p:nvSpPr>
        <p:spPr>
          <a:xfrm>
            <a:off x="2377440" y="1810512"/>
            <a:ext cx="2011680" cy="731520"/>
          </a:xfrm>
          <a:prstGeom prst="roundRect">
            <a:avLst>
              <a:gd name="adj" fmla="val 6250"/>
            </a:avLst>
          </a:prstGeom>
          <a:solidFill>
            <a:srgbClr val="EFF6FF"/>
          </a:solidFill>
          <a:ln w="15240">
            <a:solidFill>
              <a:srgbClr val="BFDBFE"/>
            </a:solidFill>
            <a:prstDash val="solid"/>
          </a:ln>
        </p:spPr>
      </p:sp>
      <p:sp>
        <p:nvSpPr>
          <p:cNvPr id="23" name="Text 21"/>
          <p:cNvSpPr/>
          <p:nvPr/>
        </p:nvSpPr>
        <p:spPr>
          <a:xfrm>
            <a:off x="2468880" y="1810512"/>
            <a:ext cx="1828800" cy="731520"/>
          </a:xfrm>
          <a:prstGeom prst="rect">
            <a:avLst/>
          </a:prstGeom>
          <a:noFill/>
          <a:ln/>
        </p:spPr>
        <p:txBody>
          <a:bodyPr wrap="square" rtlCol="0" anchor="ctr"/>
          <a:lstStyle/>
          <a:p>
            <a:pPr algn="l" indent="0" marL="0">
              <a:buNone/>
            </a:pPr>
            <a:r>
              <a:rPr lang="en-US" sz="820" b="1" dirty="0">
                <a:solidFill>
                  <a:srgbClr val="2563EB"/>
                </a:solidFill>
                <a:latin typeface="Segoe UI" pitchFamily="34" charset="0"/>
                <a:ea typeface="Segoe UI" pitchFamily="34" charset="-122"/>
                <a:cs typeface="Segoe UI" pitchFamily="34" charset="-120"/>
              </a:rPr>
              <a:t>Marketplaces &amp; Startups</a:t>
            </a:r>
            <a:endParaRPr lang="en-US" sz="820" dirty="0"/>
          </a:p>
        </p:txBody>
      </p:sp>
      <p:sp>
        <p:nvSpPr>
          <p:cNvPr id="24" name="Shape 22"/>
          <p:cNvSpPr/>
          <p:nvPr/>
        </p:nvSpPr>
        <p:spPr>
          <a:xfrm>
            <a:off x="4389120" y="1810512"/>
            <a:ext cx="2194560" cy="731520"/>
          </a:xfrm>
          <a:prstGeom prst="roundRect">
            <a:avLst>
              <a:gd name="adj" fmla="val 6250"/>
            </a:avLst>
          </a:prstGeom>
          <a:solidFill>
            <a:srgbClr val="EFF6FF"/>
          </a:solidFill>
          <a:ln w="15240">
            <a:solidFill>
              <a:srgbClr val="BFDBFE"/>
            </a:solidFill>
            <a:prstDash val="solid"/>
          </a:ln>
        </p:spPr>
      </p:sp>
      <p:sp>
        <p:nvSpPr>
          <p:cNvPr id="25" name="Text 23"/>
          <p:cNvSpPr/>
          <p:nvPr/>
        </p:nvSpPr>
        <p:spPr>
          <a:xfrm>
            <a:off x="4480560" y="1810512"/>
            <a:ext cx="2011680" cy="731520"/>
          </a:xfrm>
          <a:prstGeom prst="rect">
            <a:avLst/>
          </a:prstGeom>
          <a:noFill/>
          <a:ln/>
        </p:spPr>
        <p:txBody>
          <a:bodyPr wrap="square" rtlCol="0" anchor="ctr"/>
          <a:lstStyle/>
          <a:p>
            <a:pPr algn="l" indent="0" marL="0">
              <a:buNone/>
            </a:pPr>
            <a:r>
              <a:rPr lang="en-US" sz="820" b="1" dirty="0">
                <a:solidFill>
                  <a:srgbClr val="2563EB"/>
                </a:solidFill>
                <a:latin typeface="Segoe UI" pitchFamily="34" charset="0"/>
                <a:ea typeface="Segoe UI" pitchFamily="34" charset="-122"/>
                <a:cs typeface="Segoe UI" pitchFamily="34" charset="-120"/>
              </a:rPr>
              <a:t>Excellent (Route)</a:t>
            </a:r>
            <a:endParaRPr lang="en-US" sz="820" dirty="0"/>
          </a:p>
        </p:txBody>
      </p:sp>
      <p:sp>
        <p:nvSpPr>
          <p:cNvPr id="26" name="Shape 24"/>
          <p:cNvSpPr/>
          <p:nvPr/>
        </p:nvSpPr>
        <p:spPr>
          <a:xfrm>
            <a:off x="6583680" y="1810512"/>
            <a:ext cx="1463040" cy="731520"/>
          </a:xfrm>
          <a:prstGeom prst="roundRect">
            <a:avLst>
              <a:gd name="adj" fmla="val 6250"/>
            </a:avLst>
          </a:prstGeom>
          <a:solidFill>
            <a:srgbClr val="EFF6FF"/>
          </a:solidFill>
          <a:ln w="15240">
            <a:solidFill>
              <a:srgbClr val="BFDBFE"/>
            </a:solidFill>
            <a:prstDash val="solid"/>
          </a:ln>
        </p:spPr>
      </p:sp>
      <p:sp>
        <p:nvSpPr>
          <p:cNvPr id="27" name="Text 25"/>
          <p:cNvSpPr/>
          <p:nvPr/>
        </p:nvSpPr>
        <p:spPr>
          <a:xfrm>
            <a:off x="6675120" y="1810512"/>
            <a:ext cx="1280160" cy="731520"/>
          </a:xfrm>
          <a:prstGeom prst="rect">
            <a:avLst/>
          </a:prstGeom>
          <a:noFill/>
          <a:ln/>
        </p:spPr>
        <p:txBody>
          <a:bodyPr wrap="square" rtlCol="0" anchor="ctr"/>
          <a:lstStyle/>
          <a:p>
            <a:pPr algn="l" indent="0" marL="0">
              <a:buNone/>
            </a:pPr>
            <a:r>
              <a:rPr lang="en-US" sz="820" b="1" dirty="0">
                <a:solidFill>
                  <a:srgbClr val="2563EB"/>
                </a:solidFill>
                <a:latin typeface="Segoe UI" pitchFamily="34" charset="0"/>
                <a:ea typeface="Segoe UI" pitchFamily="34" charset="-122"/>
                <a:cs typeface="Segoe UI" pitchFamily="34" charset="-120"/>
              </a:rPr>
              <a:t>~95% - 98%</a:t>
            </a:r>
            <a:endParaRPr lang="en-US" sz="820" dirty="0"/>
          </a:p>
        </p:txBody>
      </p:sp>
      <p:sp>
        <p:nvSpPr>
          <p:cNvPr id="28" name="Shape 26"/>
          <p:cNvSpPr/>
          <p:nvPr/>
        </p:nvSpPr>
        <p:spPr>
          <a:xfrm>
            <a:off x="8046720" y="1810512"/>
            <a:ext cx="1645920" cy="731520"/>
          </a:xfrm>
          <a:prstGeom prst="roundRect">
            <a:avLst>
              <a:gd name="adj" fmla="val 6250"/>
            </a:avLst>
          </a:prstGeom>
          <a:solidFill>
            <a:srgbClr val="EFF6FF"/>
          </a:solidFill>
          <a:ln w="15240">
            <a:solidFill>
              <a:srgbClr val="BFDBFE"/>
            </a:solidFill>
            <a:prstDash val="solid"/>
          </a:ln>
        </p:spPr>
      </p:sp>
      <p:sp>
        <p:nvSpPr>
          <p:cNvPr id="29" name="Text 27"/>
          <p:cNvSpPr/>
          <p:nvPr/>
        </p:nvSpPr>
        <p:spPr>
          <a:xfrm>
            <a:off x="8138160" y="1810512"/>
            <a:ext cx="1463040" cy="731520"/>
          </a:xfrm>
          <a:prstGeom prst="rect">
            <a:avLst/>
          </a:prstGeom>
          <a:noFill/>
          <a:ln/>
        </p:spPr>
        <p:txBody>
          <a:bodyPr wrap="square" rtlCol="0" anchor="ctr"/>
          <a:lstStyle/>
          <a:p>
            <a:pPr algn="l" indent="0" marL="0">
              <a:buNone/>
            </a:pPr>
            <a:r>
              <a:rPr lang="en-US" sz="820" b="1" dirty="0">
                <a:solidFill>
                  <a:srgbClr val="2563EB"/>
                </a:solidFill>
                <a:latin typeface="Segoe UI" pitchFamily="34" charset="0"/>
                <a:ea typeface="Segoe UI" pitchFamily="34" charset="-122"/>
                <a:cs typeface="Segoe UI" pitchFamily="34" charset="-120"/>
              </a:rPr>
              <a:t>2% + 18% GST</a:t>
            </a:r>
            <a:endParaRPr lang="en-US" sz="820" dirty="0"/>
          </a:p>
        </p:txBody>
      </p:sp>
      <p:sp>
        <p:nvSpPr>
          <p:cNvPr id="30" name="Shape 28"/>
          <p:cNvSpPr/>
          <p:nvPr/>
        </p:nvSpPr>
        <p:spPr>
          <a:xfrm>
            <a:off x="9692640" y="1810512"/>
            <a:ext cx="1767535" cy="731520"/>
          </a:xfrm>
          <a:prstGeom prst="roundRect">
            <a:avLst>
              <a:gd name="adj" fmla="val 6250"/>
            </a:avLst>
          </a:prstGeom>
          <a:solidFill>
            <a:srgbClr val="EFF6FF"/>
          </a:solidFill>
          <a:ln w="15240">
            <a:solidFill>
              <a:srgbClr val="BFDBFE"/>
            </a:solidFill>
            <a:prstDash val="solid"/>
          </a:ln>
        </p:spPr>
      </p:sp>
      <p:sp>
        <p:nvSpPr>
          <p:cNvPr id="31" name="Text 29"/>
          <p:cNvSpPr/>
          <p:nvPr/>
        </p:nvSpPr>
        <p:spPr>
          <a:xfrm>
            <a:off x="9784080" y="1810512"/>
            <a:ext cx="1584655" cy="731520"/>
          </a:xfrm>
          <a:prstGeom prst="rect">
            <a:avLst/>
          </a:prstGeom>
          <a:noFill/>
          <a:ln/>
        </p:spPr>
        <p:txBody>
          <a:bodyPr wrap="square" rtlCol="0" anchor="ctr"/>
          <a:lstStyle/>
          <a:p>
            <a:pPr algn="ctr" indent="0" marL="0">
              <a:buNone/>
            </a:pPr>
            <a:r>
              <a:rPr lang="en-US" sz="820" b="1" dirty="0">
                <a:solidFill>
                  <a:srgbClr val="2563EB"/>
                </a:solidFill>
                <a:latin typeface="Segoe UI" pitchFamily="34" charset="0"/>
                <a:ea typeface="Segoe UI" pitchFamily="34" charset="-122"/>
                <a:cs typeface="Segoe UI" pitchFamily="34" charset="-120"/>
              </a:rPr>
              <a:t>Best Overall Choice</a:t>
            </a:r>
            <a:endParaRPr lang="en-US" sz="820" dirty="0"/>
          </a:p>
        </p:txBody>
      </p:sp>
      <p:sp>
        <p:nvSpPr>
          <p:cNvPr id="32" name="Shape 30"/>
          <p:cNvSpPr/>
          <p:nvPr/>
        </p:nvSpPr>
        <p:spPr>
          <a:xfrm>
            <a:off x="731520" y="2615184"/>
            <a:ext cx="1645920" cy="731520"/>
          </a:xfrm>
          <a:prstGeom prst="roundRect">
            <a:avLst>
              <a:gd name="adj" fmla="val 6250"/>
            </a:avLst>
          </a:prstGeom>
          <a:solidFill>
            <a:srgbClr val="F0FDF4"/>
          </a:solidFill>
          <a:ln w="10160">
            <a:solidFill>
              <a:srgbClr val="E2E8F0"/>
            </a:solidFill>
            <a:prstDash val="solid"/>
          </a:ln>
        </p:spPr>
      </p:sp>
      <p:sp>
        <p:nvSpPr>
          <p:cNvPr id="33" name="Text 31"/>
          <p:cNvSpPr/>
          <p:nvPr/>
        </p:nvSpPr>
        <p:spPr>
          <a:xfrm>
            <a:off x="822960" y="2615184"/>
            <a:ext cx="1463040" cy="731520"/>
          </a:xfrm>
          <a:prstGeom prst="rect">
            <a:avLst/>
          </a:prstGeom>
          <a:noFill/>
          <a:ln/>
        </p:spPr>
        <p:txBody>
          <a:bodyPr wrap="square" rtlCol="0" anchor="ctr"/>
          <a:lstStyle/>
          <a:p>
            <a:pPr algn="ctr" indent="0" marL="0">
              <a:buNone/>
            </a:pPr>
            <a:r>
              <a:rPr lang="en-US" sz="820" b="1" dirty="0">
                <a:solidFill>
                  <a:srgbClr val="0B0F19"/>
                </a:solidFill>
                <a:latin typeface="Segoe UI" pitchFamily="34" charset="0"/>
                <a:ea typeface="Segoe UI" pitchFamily="34" charset="-122"/>
                <a:cs typeface="Segoe UI" pitchFamily="34" charset="-120"/>
              </a:rPr>
              <a:t>Cashfree 🥈</a:t>
            </a:r>
            <a:endParaRPr lang="en-US" sz="820" dirty="0"/>
          </a:p>
        </p:txBody>
      </p:sp>
      <p:sp>
        <p:nvSpPr>
          <p:cNvPr id="34" name="Shape 32"/>
          <p:cNvSpPr/>
          <p:nvPr/>
        </p:nvSpPr>
        <p:spPr>
          <a:xfrm>
            <a:off x="2377440" y="2615184"/>
            <a:ext cx="2011680" cy="731520"/>
          </a:xfrm>
          <a:prstGeom prst="roundRect">
            <a:avLst>
              <a:gd name="adj" fmla="val 6250"/>
            </a:avLst>
          </a:prstGeom>
          <a:solidFill>
            <a:srgbClr val="F0FDF4"/>
          </a:solidFill>
          <a:ln w="10160">
            <a:solidFill>
              <a:srgbClr val="E2E8F0"/>
            </a:solidFill>
            <a:prstDash val="solid"/>
          </a:ln>
        </p:spPr>
      </p:sp>
      <p:sp>
        <p:nvSpPr>
          <p:cNvPr id="35" name="Text 33"/>
          <p:cNvSpPr/>
          <p:nvPr/>
        </p:nvSpPr>
        <p:spPr>
          <a:xfrm>
            <a:off x="2468880" y="2615184"/>
            <a:ext cx="182880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High-Volume Splits</a:t>
            </a:r>
            <a:endParaRPr lang="en-US" sz="820" dirty="0"/>
          </a:p>
        </p:txBody>
      </p:sp>
      <p:sp>
        <p:nvSpPr>
          <p:cNvPr id="36" name="Shape 34"/>
          <p:cNvSpPr/>
          <p:nvPr/>
        </p:nvSpPr>
        <p:spPr>
          <a:xfrm>
            <a:off x="4389120" y="2615184"/>
            <a:ext cx="2194560" cy="731520"/>
          </a:xfrm>
          <a:prstGeom prst="roundRect">
            <a:avLst>
              <a:gd name="adj" fmla="val 6250"/>
            </a:avLst>
          </a:prstGeom>
          <a:solidFill>
            <a:srgbClr val="F0FDF4"/>
          </a:solidFill>
          <a:ln w="10160">
            <a:solidFill>
              <a:srgbClr val="E2E8F0"/>
            </a:solidFill>
            <a:prstDash val="solid"/>
          </a:ln>
        </p:spPr>
      </p:sp>
      <p:sp>
        <p:nvSpPr>
          <p:cNvPr id="37" name="Text 35"/>
          <p:cNvSpPr/>
          <p:nvPr/>
        </p:nvSpPr>
        <p:spPr>
          <a:xfrm>
            <a:off x="4480560" y="2615184"/>
            <a:ext cx="201168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Excellent (Easy Split)</a:t>
            </a:r>
            <a:endParaRPr lang="en-US" sz="820" dirty="0"/>
          </a:p>
        </p:txBody>
      </p:sp>
      <p:sp>
        <p:nvSpPr>
          <p:cNvPr id="38" name="Shape 36"/>
          <p:cNvSpPr/>
          <p:nvPr/>
        </p:nvSpPr>
        <p:spPr>
          <a:xfrm>
            <a:off x="6583680" y="2615184"/>
            <a:ext cx="1463040" cy="731520"/>
          </a:xfrm>
          <a:prstGeom prst="roundRect">
            <a:avLst>
              <a:gd name="adj" fmla="val 6250"/>
            </a:avLst>
          </a:prstGeom>
          <a:solidFill>
            <a:srgbClr val="F0FDF4"/>
          </a:solidFill>
          <a:ln w="10160">
            <a:solidFill>
              <a:srgbClr val="E2E8F0"/>
            </a:solidFill>
            <a:prstDash val="solid"/>
          </a:ln>
        </p:spPr>
      </p:sp>
      <p:sp>
        <p:nvSpPr>
          <p:cNvPr id="39" name="Text 37"/>
          <p:cNvSpPr/>
          <p:nvPr/>
        </p:nvSpPr>
        <p:spPr>
          <a:xfrm>
            <a:off x="6675120" y="2615184"/>
            <a:ext cx="128016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~94% - 97%</a:t>
            </a:r>
            <a:endParaRPr lang="en-US" sz="820" dirty="0"/>
          </a:p>
        </p:txBody>
      </p:sp>
      <p:sp>
        <p:nvSpPr>
          <p:cNvPr id="40" name="Shape 38"/>
          <p:cNvSpPr/>
          <p:nvPr/>
        </p:nvSpPr>
        <p:spPr>
          <a:xfrm>
            <a:off x="8046720" y="2615184"/>
            <a:ext cx="1645920" cy="731520"/>
          </a:xfrm>
          <a:prstGeom prst="roundRect">
            <a:avLst>
              <a:gd name="adj" fmla="val 6250"/>
            </a:avLst>
          </a:prstGeom>
          <a:solidFill>
            <a:srgbClr val="F0FDF4"/>
          </a:solidFill>
          <a:ln w="10160">
            <a:solidFill>
              <a:srgbClr val="E2E8F0"/>
            </a:solidFill>
            <a:prstDash val="solid"/>
          </a:ln>
        </p:spPr>
      </p:sp>
      <p:sp>
        <p:nvSpPr>
          <p:cNvPr id="41" name="Text 39"/>
          <p:cNvSpPr/>
          <p:nvPr/>
        </p:nvSpPr>
        <p:spPr>
          <a:xfrm>
            <a:off x="8138160" y="2615184"/>
            <a:ext cx="146304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1.9% - 2% + GST</a:t>
            </a:r>
            <a:endParaRPr lang="en-US" sz="820" dirty="0"/>
          </a:p>
        </p:txBody>
      </p:sp>
      <p:sp>
        <p:nvSpPr>
          <p:cNvPr id="42" name="Shape 40"/>
          <p:cNvSpPr/>
          <p:nvPr/>
        </p:nvSpPr>
        <p:spPr>
          <a:xfrm>
            <a:off x="9692640" y="2615184"/>
            <a:ext cx="1767535" cy="731520"/>
          </a:xfrm>
          <a:prstGeom prst="roundRect">
            <a:avLst>
              <a:gd name="adj" fmla="val 6250"/>
            </a:avLst>
          </a:prstGeom>
          <a:solidFill>
            <a:srgbClr val="F0FDF4"/>
          </a:solidFill>
          <a:ln w="10160">
            <a:solidFill>
              <a:srgbClr val="E2E8F0"/>
            </a:solidFill>
            <a:prstDash val="solid"/>
          </a:ln>
        </p:spPr>
      </p:sp>
      <p:sp>
        <p:nvSpPr>
          <p:cNvPr id="43" name="Text 41"/>
          <p:cNvSpPr/>
          <p:nvPr/>
        </p:nvSpPr>
        <p:spPr>
          <a:xfrm>
            <a:off x="9784080" y="2615184"/>
            <a:ext cx="1584655" cy="731520"/>
          </a:xfrm>
          <a:prstGeom prst="rect">
            <a:avLst/>
          </a:prstGeom>
          <a:noFill/>
          <a:ln/>
        </p:spPr>
        <p:txBody>
          <a:bodyPr wrap="square" rtlCol="0" anchor="ctr"/>
          <a:lstStyle/>
          <a:p>
            <a:pPr algn="ctr" indent="0" marL="0">
              <a:buNone/>
            </a:pPr>
            <a:r>
              <a:rPr lang="en-US" sz="820" b="1" dirty="0">
                <a:solidFill>
                  <a:srgbClr val="0F172A"/>
                </a:solidFill>
                <a:latin typeface="Segoe UI" pitchFamily="34" charset="0"/>
                <a:ea typeface="Segoe UI" pitchFamily="34" charset="-122"/>
                <a:cs typeface="Segoe UI" pitchFamily="34" charset="-120"/>
              </a:rPr>
              <a:t>Best Alternative</a:t>
            </a:r>
            <a:endParaRPr lang="en-US" sz="820" dirty="0"/>
          </a:p>
        </p:txBody>
      </p:sp>
      <p:sp>
        <p:nvSpPr>
          <p:cNvPr id="44" name="Shape 42"/>
          <p:cNvSpPr/>
          <p:nvPr/>
        </p:nvSpPr>
        <p:spPr>
          <a:xfrm>
            <a:off x="731520" y="3419856"/>
            <a:ext cx="1645920" cy="731520"/>
          </a:xfrm>
          <a:prstGeom prst="roundRect">
            <a:avLst>
              <a:gd name="adj" fmla="val 6250"/>
            </a:avLst>
          </a:prstGeom>
          <a:solidFill>
            <a:srgbClr val="F8FAFC"/>
          </a:solidFill>
          <a:ln w="10160">
            <a:solidFill>
              <a:srgbClr val="E2E8F0"/>
            </a:solidFill>
            <a:prstDash val="solid"/>
          </a:ln>
        </p:spPr>
      </p:sp>
      <p:sp>
        <p:nvSpPr>
          <p:cNvPr id="45" name="Text 43"/>
          <p:cNvSpPr/>
          <p:nvPr/>
        </p:nvSpPr>
        <p:spPr>
          <a:xfrm>
            <a:off x="822960" y="3419856"/>
            <a:ext cx="1463040" cy="731520"/>
          </a:xfrm>
          <a:prstGeom prst="rect">
            <a:avLst/>
          </a:prstGeom>
          <a:noFill/>
          <a:ln/>
        </p:spPr>
        <p:txBody>
          <a:bodyPr wrap="square" rtlCol="0" anchor="ctr"/>
          <a:lstStyle/>
          <a:p>
            <a:pPr algn="ctr" indent="0" marL="0">
              <a:buNone/>
            </a:pPr>
            <a:r>
              <a:rPr lang="en-US" sz="820" b="1" dirty="0">
                <a:solidFill>
                  <a:srgbClr val="0B0F19"/>
                </a:solidFill>
                <a:latin typeface="Segoe UI" pitchFamily="34" charset="0"/>
                <a:ea typeface="Segoe UI" pitchFamily="34" charset="-122"/>
                <a:cs typeface="Segoe UI" pitchFamily="34" charset="-120"/>
              </a:rPr>
              <a:t>PhonePe PG 🥉</a:t>
            </a:r>
            <a:endParaRPr lang="en-US" sz="820" dirty="0"/>
          </a:p>
        </p:txBody>
      </p:sp>
      <p:sp>
        <p:nvSpPr>
          <p:cNvPr id="46" name="Shape 44"/>
          <p:cNvSpPr/>
          <p:nvPr/>
        </p:nvSpPr>
        <p:spPr>
          <a:xfrm>
            <a:off x="2377440" y="3419856"/>
            <a:ext cx="2011680" cy="731520"/>
          </a:xfrm>
          <a:prstGeom prst="roundRect">
            <a:avLst>
              <a:gd name="adj" fmla="val 6250"/>
            </a:avLst>
          </a:prstGeom>
          <a:solidFill>
            <a:srgbClr val="F8FAFC"/>
          </a:solidFill>
          <a:ln w="10160">
            <a:solidFill>
              <a:srgbClr val="E2E8F0"/>
            </a:solidFill>
            <a:prstDash val="solid"/>
          </a:ln>
        </p:spPr>
      </p:sp>
      <p:sp>
        <p:nvSpPr>
          <p:cNvPr id="47" name="Text 45"/>
          <p:cNvSpPr/>
          <p:nvPr/>
        </p:nvSpPr>
        <p:spPr>
          <a:xfrm>
            <a:off x="2468880" y="3419856"/>
            <a:ext cx="182880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Consumer UPI Apps</a:t>
            </a:r>
            <a:endParaRPr lang="en-US" sz="820" dirty="0"/>
          </a:p>
        </p:txBody>
      </p:sp>
      <p:sp>
        <p:nvSpPr>
          <p:cNvPr id="48" name="Shape 46"/>
          <p:cNvSpPr/>
          <p:nvPr/>
        </p:nvSpPr>
        <p:spPr>
          <a:xfrm>
            <a:off x="4389120" y="3419856"/>
            <a:ext cx="2194560" cy="731520"/>
          </a:xfrm>
          <a:prstGeom prst="roundRect">
            <a:avLst>
              <a:gd name="adj" fmla="val 6250"/>
            </a:avLst>
          </a:prstGeom>
          <a:solidFill>
            <a:srgbClr val="F8FAFC"/>
          </a:solidFill>
          <a:ln w="10160">
            <a:solidFill>
              <a:srgbClr val="E2E8F0"/>
            </a:solidFill>
            <a:prstDash val="solid"/>
          </a:ln>
        </p:spPr>
      </p:sp>
      <p:sp>
        <p:nvSpPr>
          <p:cNvPr id="49" name="Text 47"/>
          <p:cNvSpPr/>
          <p:nvPr/>
        </p:nvSpPr>
        <p:spPr>
          <a:xfrm>
            <a:off x="4480560" y="3419856"/>
            <a:ext cx="201168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Limited (Manual)</a:t>
            </a:r>
            <a:endParaRPr lang="en-US" sz="820" dirty="0"/>
          </a:p>
        </p:txBody>
      </p:sp>
      <p:sp>
        <p:nvSpPr>
          <p:cNvPr id="50" name="Shape 48"/>
          <p:cNvSpPr/>
          <p:nvPr/>
        </p:nvSpPr>
        <p:spPr>
          <a:xfrm>
            <a:off x="6583680" y="3419856"/>
            <a:ext cx="1463040" cy="731520"/>
          </a:xfrm>
          <a:prstGeom prst="roundRect">
            <a:avLst>
              <a:gd name="adj" fmla="val 6250"/>
            </a:avLst>
          </a:prstGeom>
          <a:solidFill>
            <a:srgbClr val="F8FAFC"/>
          </a:solidFill>
          <a:ln w="10160">
            <a:solidFill>
              <a:srgbClr val="E2E8F0"/>
            </a:solidFill>
            <a:prstDash val="solid"/>
          </a:ln>
        </p:spPr>
      </p:sp>
      <p:sp>
        <p:nvSpPr>
          <p:cNvPr id="51" name="Text 49"/>
          <p:cNvSpPr/>
          <p:nvPr/>
        </p:nvSpPr>
        <p:spPr>
          <a:xfrm>
            <a:off x="6675120" y="3419856"/>
            <a:ext cx="128016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~96%</a:t>
            </a:r>
            <a:endParaRPr lang="en-US" sz="820" dirty="0"/>
          </a:p>
        </p:txBody>
      </p:sp>
      <p:sp>
        <p:nvSpPr>
          <p:cNvPr id="52" name="Shape 50"/>
          <p:cNvSpPr/>
          <p:nvPr/>
        </p:nvSpPr>
        <p:spPr>
          <a:xfrm>
            <a:off x="8046720" y="3419856"/>
            <a:ext cx="1645920" cy="731520"/>
          </a:xfrm>
          <a:prstGeom prst="roundRect">
            <a:avLst>
              <a:gd name="adj" fmla="val 6250"/>
            </a:avLst>
          </a:prstGeom>
          <a:solidFill>
            <a:srgbClr val="F8FAFC"/>
          </a:solidFill>
          <a:ln w="10160">
            <a:solidFill>
              <a:srgbClr val="E2E8F0"/>
            </a:solidFill>
            <a:prstDash val="solid"/>
          </a:ln>
        </p:spPr>
      </p:sp>
      <p:sp>
        <p:nvSpPr>
          <p:cNvPr id="53" name="Text 51"/>
          <p:cNvSpPr/>
          <p:nvPr/>
        </p:nvSpPr>
        <p:spPr>
          <a:xfrm>
            <a:off x="8138160" y="3419856"/>
            <a:ext cx="146304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0% - 1.5% Promo</a:t>
            </a:r>
            <a:endParaRPr lang="en-US" sz="820" dirty="0"/>
          </a:p>
        </p:txBody>
      </p:sp>
      <p:sp>
        <p:nvSpPr>
          <p:cNvPr id="54" name="Shape 52"/>
          <p:cNvSpPr/>
          <p:nvPr/>
        </p:nvSpPr>
        <p:spPr>
          <a:xfrm>
            <a:off x="9692640" y="3419856"/>
            <a:ext cx="1767535" cy="731520"/>
          </a:xfrm>
          <a:prstGeom prst="roundRect">
            <a:avLst>
              <a:gd name="adj" fmla="val 6250"/>
            </a:avLst>
          </a:prstGeom>
          <a:solidFill>
            <a:srgbClr val="F8FAFC"/>
          </a:solidFill>
          <a:ln w="10160">
            <a:solidFill>
              <a:srgbClr val="E2E8F0"/>
            </a:solidFill>
            <a:prstDash val="solid"/>
          </a:ln>
        </p:spPr>
      </p:sp>
      <p:sp>
        <p:nvSpPr>
          <p:cNvPr id="55" name="Text 53"/>
          <p:cNvSpPr/>
          <p:nvPr/>
        </p:nvSpPr>
        <p:spPr>
          <a:xfrm>
            <a:off x="9784080" y="3419856"/>
            <a:ext cx="1584655" cy="731520"/>
          </a:xfrm>
          <a:prstGeom prst="rect">
            <a:avLst/>
          </a:prstGeom>
          <a:noFill/>
          <a:ln/>
        </p:spPr>
        <p:txBody>
          <a:bodyPr wrap="square" rtlCol="0" anchor="ctr"/>
          <a:lstStyle/>
          <a:p>
            <a:pPr algn="ctr" indent="0" marL="0">
              <a:buNone/>
            </a:pPr>
            <a:r>
              <a:rPr lang="en-US" sz="820" b="1" dirty="0">
                <a:solidFill>
                  <a:srgbClr val="0F172A"/>
                </a:solidFill>
                <a:latin typeface="Segoe UI" pitchFamily="34" charset="0"/>
                <a:ea typeface="Segoe UI" pitchFamily="34" charset="-122"/>
                <a:cs typeface="Segoe UI" pitchFamily="34" charset="-120"/>
              </a:rPr>
              <a:t>Weak for Vendor Splits</a:t>
            </a:r>
            <a:endParaRPr lang="en-US" sz="820" dirty="0"/>
          </a:p>
        </p:txBody>
      </p:sp>
      <p:sp>
        <p:nvSpPr>
          <p:cNvPr id="56" name="Shape 54"/>
          <p:cNvSpPr/>
          <p:nvPr/>
        </p:nvSpPr>
        <p:spPr>
          <a:xfrm>
            <a:off x="731520" y="4224528"/>
            <a:ext cx="1645920" cy="731520"/>
          </a:xfrm>
          <a:prstGeom prst="roundRect">
            <a:avLst>
              <a:gd name="adj" fmla="val 6250"/>
            </a:avLst>
          </a:prstGeom>
          <a:solidFill>
            <a:srgbClr val="FFFFFF"/>
          </a:solidFill>
          <a:ln w="10160">
            <a:solidFill>
              <a:srgbClr val="E2E8F0"/>
            </a:solidFill>
            <a:prstDash val="solid"/>
          </a:ln>
        </p:spPr>
      </p:sp>
      <p:sp>
        <p:nvSpPr>
          <p:cNvPr id="57" name="Text 55"/>
          <p:cNvSpPr/>
          <p:nvPr/>
        </p:nvSpPr>
        <p:spPr>
          <a:xfrm>
            <a:off x="822960" y="4224528"/>
            <a:ext cx="1463040" cy="731520"/>
          </a:xfrm>
          <a:prstGeom prst="rect">
            <a:avLst/>
          </a:prstGeom>
          <a:noFill/>
          <a:ln/>
        </p:spPr>
        <p:txBody>
          <a:bodyPr wrap="square" rtlCol="0" anchor="ctr"/>
          <a:lstStyle/>
          <a:p>
            <a:pPr algn="ctr" indent="0" marL="0">
              <a:buNone/>
            </a:pPr>
            <a:r>
              <a:rPr lang="en-US" sz="820" b="1" dirty="0">
                <a:solidFill>
                  <a:srgbClr val="0B0F19"/>
                </a:solidFill>
                <a:latin typeface="Segoe UI" pitchFamily="34" charset="0"/>
                <a:ea typeface="Segoe UI" pitchFamily="34" charset="-122"/>
                <a:cs typeface="Segoe UI" pitchFamily="34" charset="-120"/>
              </a:rPr>
              <a:t>Stripe India</a:t>
            </a:r>
            <a:endParaRPr lang="en-US" sz="820" dirty="0"/>
          </a:p>
        </p:txBody>
      </p:sp>
      <p:sp>
        <p:nvSpPr>
          <p:cNvPr id="58" name="Shape 56"/>
          <p:cNvSpPr/>
          <p:nvPr/>
        </p:nvSpPr>
        <p:spPr>
          <a:xfrm>
            <a:off x="2377440" y="4224528"/>
            <a:ext cx="2011680" cy="731520"/>
          </a:xfrm>
          <a:prstGeom prst="roundRect">
            <a:avLst>
              <a:gd name="adj" fmla="val 6250"/>
            </a:avLst>
          </a:prstGeom>
          <a:solidFill>
            <a:srgbClr val="FFFFFF"/>
          </a:solidFill>
          <a:ln w="10160">
            <a:solidFill>
              <a:srgbClr val="E2E8F0"/>
            </a:solidFill>
            <a:prstDash val="solid"/>
          </a:ln>
        </p:spPr>
      </p:sp>
      <p:sp>
        <p:nvSpPr>
          <p:cNvPr id="59" name="Text 57"/>
          <p:cNvSpPr/>
          <p:nvPr/>
        </p:nvSpPr>
        <p:spPr>
          <a:xfrm>
            <a:off x="2468880" y="4224528"/>
            <a:ext cx="182880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Global SaaS &amp; Exports</a:t>
            </a:r>
            <a:endParaRPr lang="en-US" sz="820" dirty="0"/>
          </a:p>
        </p:txBody>
      </p:sp>
      <p:sp>
        <p:nvSpPr>
          <p:cNvPr id="60" name="Shape 58"/>
          <p:cNvSpPr/>
          <p:nvPr/>
        </p:nvSpPr>
        <p:spPr>
          <a:xfrm>
            <a:off x="4389120" y="4224528"/>
            <a:ext cx="2194560" cy="731520"/>
          </a:xfrm>
          <a:prstGeom prst="roundRect">
            <a:avLst>
              <a:gd name="adj" fmla="val 6250"/>
            </a:avLst>
          </a:prstGeom>
          <a:solidFill>
            <a:srgbClr val="FFFFFF"/>
          </a:solidFill>
          <a:ln w="10160">
            <a:solidFill>
              <a:srgbClr val="E2E8F0"/>
            </a:solidFill>
            <a:prstDash val="solid"/>
          </a:ln>
        </p:spPr>
      </p:sp>
      <p:sp>
        <p:nvSpPr>
          <p:cNvPr id="61" name="Text 59"/>
          <p:cNvSpPr/>
          <p:nvPr/>
        </p:nvSpPr>
        <p:spPr>
          <a:xfrm>
            <a:off x="4480560" y="4224528"/>
            <a:ext cx="201168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Best in World (Connect)</a:t>
            </a:r>
            <a:endParaRPr lang="en-US" sz="820" dirty="0"/>
          </a:p>
        </p:txBody>
      </p:sp>
      <p:sp>
        <p:nvSpPr>
          <p:cNvPr id="62" name="Shape 60"/>
          <p:cNvSpPr/>
          <p:nvPr/>
        </p:nvSpPr>
        <p:spPr>
          <a:xfrm>
            <a:off x="6583680" y="4224528"/>
            <a:ext cx="1463040" cy="731520"/>
          </a:xfrm>
          <a:prstGeom prst="roundRect">
            <a:avLst>
              <a:gd name="adj" fmla="val 6250"/>
            </a:avLst>
          </a:prstGeom>
          <a:solidFill>
            <a:srgbClr val="FFFFFF"/>
          </a:solidFill>
          <a:ln w="10160">
            <a:solidFill>
              <a:srgbClr val="E2E8F0"/>
            </a:solidFill>
            <a:prstDash val="solid"/>
          </a:ln>
        </p:spPr>
      </p:sp>
      <p:sp>
        <p:nvSpPr>
          <p:cNvPr id="63" name="Text 61"/>
          <p:cNvSpPr/>
          <p:nvPr/>
        </p:nvSpPr>
        <p:spPr>
          <a:xfrm>
            <a:off x="6675120" y="4224528"/>
            <a:ext cx="128016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Average (Card focus)</a:t>
            </a:r>
            <a:endParaRPr lang="en-US" sz="820" dirty="0"/>
          </a:p>
        </p:txBody>
      </p:sp>
      <p:sp>
        <p:nvSpPr>
          <p:cNvPr id="64" name="Shape 62"/>
          <p:cNvSpPr/>
          <p:nvPr/>
        </p:nvSpPr>
        <p:spPr>
          <a:xfrm>
            <a:off x="8046720" y="4224528"/>
            <a:ext cx="1645920" cy="731520"/>
          </a:xfrm>
          <a:prstGeom prst="roundRect">
            <a:avLst>
              <a:gd name="adj" fmla="val 6250"/>
            </a:avLst>
          </a:prstGeom>
          <a:solidFill>
            <a:srgbClr val="FFFFFF"/>
          </a:solidFill>
          <a:ln w="10160">
            <a:solidFill>
              <a:srgbClr val="E2E8F0"/>
            </a:solidFill>
            <a:prstDash val="solid"/>
          </a:ln>
        </p:spPr>
      </p:sp>
      <p:sp>
        <p:nvSpPr>
          <p:cNvPr id="65" name="Text 63"/>
          <p:cNvSpPr/>
          <p:nvPr/>
        </p:nvSpPr>
        <p:spPr>
          <a:xfrm>
            <a:off x="8138160" y="4224528"/>
            <a:ext cx="146304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2% - 3% + GST</a:t>
            </a:r>
            <a:endParaRPr lang="en-US" sz="820" dirty="0"/>
          </a:p>
        </p:txBody>
      </p:sp>
      <p:sp>
        <p:nvSpPr>
          <p:cNvPr id="66" name="Shape 64"/>
          <p:cNvSpPr/>
          <p:nvPr/>
        </p:nvSpPr>
        <p:spPr>
          <a:xfrm>
            <a:off x="9692640" y="4224528"/>
            <a:ext cx="1767535" cy="731520"/>
          </a:xfrm>
          <a:prstGeom prst="roundRect">
            <a:avLst>
              <a:gd name="adj" fmla="val 6250"/>
            </a:avLst>
          </a:prstGeom>
          <a:solidFill>
            <a:srgbClr val="FFFFFF"/>
          </a:solidFill>
          <a:ln w="10160">
            <a:solidFill>
              <a:srgbClr val="E2E8F0"/>
            </a:solidFill>
            <a:prstDash val="solid"/>
          </a:ln>
        </p:spPr>
      </p:sp>
      <p:sp>
        <p:nvSpPr>
          <p:cNvPr id="67" name="Text 65"/>
          <p:cNvSpPr/>
          <p:nvPr/>
        </p:nvSpPr>
        <p:spPr>
          <a:xfrm>
            <a:off x="9784080" y="4224528"/>
            <a:ext cx="1584655" cy="731520"/>
          </a:xfrm>
          <a:prstGeom prst="rect">
            <a:avLst/>
          </a:prstGeom>
          <a:noFill/>
          <a:ln/>
        </p:spPr>
        <p:txBody>
          <a:bodyPr wrap="square" rtlCol="0" anchor="ctr"/>
          <a:lstStyle/>
          <a:p>
            <a:pPr algn="ctr" indent="0" marL="0">
              <a:buNone/>
            </a:pPr>
            <a:r>
              <a:rPr lang="en-US" sz="820" b="1" dirty="0">
                <a:solidFill>
                  <a:srgbClr val="0F172A"/>
                </a:solidFill>
                <a:latin typeface="Segoe UI" pitchFamily="34" charset="0"/>
                <a:ea typeface="Segoe UI" pitchFamily="34" charset="-122"/>
                <a:cs typeface="Segoe UI" pitchFamily="34" charset="-120"/>
              </a:rPr>
              <a:t>Not for Local Turfs</a:t>
            </a:r>
            <a:endParaRPr lang="en-US" sz="820" dirty="0"/>
          </a:p>
        </p:txBody>
      </p:sp>
      <p:sp>
        <p:nvSpPr>
          <p:cNvPr id="68" name="Shape 66"/>
          <p:cNvSpPr/>
          <p:nvPr/>
        </p:nvSpPr>
        <p:spPr>
          <a:xfrm>
            <a:off x="731520" y="5029200"/>
            <a:ext cx="1645920" cy="731520"/>
          </a:xfrm>
          <a:prstGeom prst="roundRect">
            <a:avLst>
              <a:gd name="adj" fmla="val 6250"/>
            </a:avLst>
          </a:prstGeom>
          <a:solidFill>
            <a:srgbClr val="F8FAFC"/>
          </a:solidFill>
          <a:ln w="10160">
            <a:solidFill>
              <a:srgbClr val="E2E8F0"/>
            </a:solidFill>
            <a:prstDash val="solid"/>
          </a:ln>
        </p:spPr>
      </p:sp>
      <p:sp>
        <p:nvSpPr>
          <p:cNvPr id="69" name="Text 67"/>
          <p:cNvSpPr/>
          <p:nvPr/>
        </p:nvSpPr>
        <p:spPr>
          <a:xfrm>
            <a:off x="822960" y="5029200"/>
            <a:ext cx="1463040" cy="731520"/>
          </a:xfrm>
          <a:prstGeom prst="rect">
            <a:avLst/>
          </a:prstGeom>
          <a:noFill/>
          <a:ln/>
        </p:spPr>
        <p:txBody>
          <a:bodyPr wrap="square" rtlCol="0" anchor="ctr"/>
          <a:lstStyle/>
          <a:p>
            <a:pPr algn="ctr" indent="0" marL="0">
              <a:buNone/>
            </a:pPr>
            <a:r>
              <a:rPr lang="en-US" sz="820" b="1" dirty="0">
                <a:solidFill>
                  <a:srgbClr val="0B0F19"/>
                </a:solidFill>
                <a:latin typeface="Segoe UI" pitchFamily="34" charset="0"/>
                <a:ea typeface="Segoe UI" pitchFamily="34" charset="-122"/>
                <a:cs typeface="Segoe UI" pitchFamily="34" charset="-120"/>
              </a:rPr>
              <a:t>Paytm PG</a:t>
            </a:r>
            <a:endParaRPr lang="en-US" sz="820" dirty="0"/>
          </a:p>
        </p:txBody>
      </p:sp>
      <p:sp>
        <p:nvSpPr>
          <p:cNvPr id="70" name="Shape 68"/>
          <p:cNvSpPr/>
          <p:nvPr/>
        </p:nvSpPr>
        <p:spPr>
          <a:xfrm>
            <a:off x="2377440" y="5029200"/>
            <a:ext cx="2011680" cy="731520"/>
          </a:xfrm>
          <a:prstGeom prst="roundRect">
            <a:avLst>
              <a:gd name="adj" fmla="val 6250"/>
            </a:avLst>
          </a:prstGeom>
          <a:solidFill>
            <a:srgbClr val="F8FAFC"/>
          </a:solidFill>
          <a:ln w="10160">
            <a:solidFill>
              <a:srgbClr val="E2E8F0"/>
            </a:solidFill>
            <a:prstDash val="solid"/>
          </a:ln>
        </p:spPr>
      </p:sp>
      <p:sp>
        <p:nvSpPr>
          <p:cNvPr id="71" name="Text 69"/>
          <p:cNvSpPr/>
          <p:nvPr/>
        </p:nvSpPr>
        <p:spPr>
          <a:xfrm>
            <a:off x="2468880" y="5029200"/>
            <a:ext cx="182880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Offline QR &amp; Retail</a:t>
            </a:r>
            <a:endParaRPr lang="en-US" sz="820" dirty="0"/>
          </a:p>
        </p:txBody>
      </p:sp>
      <p:sp>
        <p:nvSpPr>
          <p:cNvPr id="72" name="Shape 70"/>
          <p:cNvSpPr/>
          <p:nvPr/>
        </p:nvSpPr>
        <p:spPr>
          <a:xfrm>
            <a:off x="4389120" y="5029200"/>
            <a:ext cx="2194560" cy="731520"/>
          </a:xfrm>
          <a:prstGeom prst="roundRect">
            <a:avLst>
              <a:gd name="adj" fmla="val 6250"/>
            </a:avLst>
          </a:prstGeom>
          <a:solidFill>
            <a:srgbClr val="F8FAFC"/>
          </a:solidFill>
          <a:ln w="10160">
            <a:solidFill>
              <a:srgbClr val="E2E8F0"/>
            </a:solidFill>
            <a:prstDash val="solid"/>
          </a:ln>
        </p:spPr>
      </p:sp>
      <p:sp>
        <p:nvSpPr>
          <p:cNvPr id="73" name="Text 71"/>
          <p:cNvSpPr/>
          <p:nvPr/>
        </p:nvSpPr>
        <p:spPr>
          <a:xfrm>
            <a:off x="4480560" y="5029200"/>
            <a:ext cx="201168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Average</a:t>
            </a:r>
            <a:endParaRPr lang="en-US" sz="820" dirty="0"/>
          </a:p>
        </p:txBody>
      </p:sp>
      <p:sp>
        <p:nvSpPr>
          <p:cNvPr id="74" name="Shape 72"/>
          <p:cNvSpPr/>
          <p:nvPr/>
        </p:nvSpPr>
        <p:spPr>
          <a:xfrm>
            <a:off x="6583680" y="5029200"/>
            <a:ext cx="1463040" cy="731520"/>
          </a:xfrm>
          <a:prstGeom prst="roundRect">
            <a:avLst>
              <a:gd name="adj" fmla="val 6250"/>
            </a:avLst>
          </a:prstGeom>
          <a:solidFill>
            <a:srgbClr val="F8FAFC"/>
          </a:solidFill>
          <a:ln w="10160">
            <a:solidFill>
              <a:srgbClr val="E2E8F0"/>
            </a:solidFill>
            <a:prstDash val="solid"/>
          </a:ln>
        </p:spPr>
      </p:sp>
      <p:sp>
        <p:nvSpPr>
          <p:cNvPr id="75" name="Text 73"/>
          <p:cNvSpPr/>
          <p:nvPr/>
        </p:nvSpPr>
        <p:spPr>
          <a:xfrm>
            <a:off x="6675120" y="5029200"/>
            <a:ext cx="128016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~92% - 94%</a:t>
            </a:r>
            <a:endParaRPr lang="en-US" sz="820" dirty="0"/>
          </a:p>
        </p:txBody>
      </p:sp>
      <p:sp>
        <p:nvSpPr>
          <p:cNvPr id="76" name="Shape 74"/>
          <p:cNvSpPr/>
          <p:nvPr/>
        </p:nvSpPr>
        <p:spPr>
          <a:xfrm>
            <a:off x="8046720" y="5029200"/>
            <a:ext cx="1645920" cy="731520"/>
          </a:xfrm>
          <a:prstGeom prst="roundRect">
            <a:avLst>
              <a:gd name="adj" fmla="val 6250"/>
            </a:avLst>
          </a:prstGeom>
          <a:solidFill>
            <a:srgbClr val="F8FAFC"/>
          </a:solidFill>
          <a:ln w="10160">
            <a:solidFill>
              <a:srgbClr val="E2E8F0"/>
            </a:solidFill>
            <a:prstDash val="solid"/>
          </a:ln>
        </p:spPr>
      </p:sp>
      <p:sp>
        <p:nvSpPr>
          <p:cNvPr id="77" name="Text 75"/>
          <p:cNvSpPr/>
          <p:nvPr/>
        </p:nvSpPr>
        <p:spPr>
          <a:xfrm>
            <a:off x="8138160" y="5029200"/>
            <a:ext cx="1463040" cy="731520"/>
          </a:xfrm>
          <a:prstGeom prst="rect">
            <a:avLst/>
          </a:prstGeom>
          <a:noFill/>
          <a:ln/>
        </p:spPr>
        <p:txBody>
          <a:bodyPr wrap="square" rtlCol="0" anchor="ctr"/>
          <a:lstStyle/>
          <a:p>
            <a:pPr algn="l" indent="0" marL="0">
              <a:buNone/>
            </a:pPr>
            <a:r>
              <a:rPr lang="en-US" sz="820" dirty="0">
                <a:solidFill>
                  <a:srgbClr val="0F172A"/>
                </a:solidFill>
                <a:latin typeface="Segoe UI" pitchFamily="34" charset="0"/>
                <a:ea typeface="Segoe UI" pitchFamily="34" charset="-122"/>
                <a:cs typeface="Segoe UI" pitchFamily="34" charset="-120"/>
              </a:rPr>
              <a:t>~1.99% + GST</a:t>
            </a:r>
            <a:endParaRPr lang="en-US" sz="820" dirty="0"/>
          </a:p>
        </p:txBody>
      </p:sp>
      <p:sp>
        <p:nvSpPr>
          <p:cNvPr id="78" name="Shape 76"/>
          <p:cNvSpPr/>
          <p:nvPr/>
        </p:nvSpPr>
        <p:spPr>
          <a:xfrm>
            <a:off x="9692640" y="5029200"/>
            <a:ext cx="1767535" cy="731520"/>
          </a:xfrm>
          <a:prstGeom prst="roundRect">
            <a:avLst>
              <a:gd name="adj" fmla="val 6250"/>
            </a:avLst>
          </a:prstGeom>
          <a:solidFill>
            <a:srgbClr val="F8FAFC"/>
          </a:solidFill>
          <a:ln w="10160">
            <a:solidFill>
              <a:srgbClr val="E2E8F0"/>
            </a:solidFill>
            <a:prstDash val="solid"/>
          </a:ln>
        </p:spPr>
      </p:sp>
      <p:sp>
        <p:nvSpPr>
          <p:cNvPr id="79" name="Text 77"/>
          <p:cNvSpPr/>
          <p:nvPr/>
        </p:nvSpPr>
        <p:spPr>
          <a:xfrm>
            <a:off x="9784080" y="5029200"/>
            <a:ext cx="1584655" cy="731520"/>
          </a:xfrm>
          <a:prstGeom prst="rect">
            <a:avLst/>
          </a:prstGeom>
          <a:noFill/>
          <a:ln/>
        </p:spPr>
        <p:txBody>
          <a:bodyPr wrap="square" rtlCol="0" anchor="ctr"/>
          <a:lstStyle/>
          <a:p>
            <a:pPr algn="ctr" indent="0" marL="0">
              <a:buNone/>
            </a:pPr>
            <a:r>
              <a:rPr lang="en-US" sz="820" b="1" dirty="0">
                <a:solidFill>
                  <a:srgbClr val="0F172A"/>
                </a:solidFill>
                <a:latin typeface="Segoe UI" pitchFamily="34" charset="0"/>
                <a:ea typeface="Segoe UI" pitchFamily="34" charset="-122"/>
                <a:cs typeface="Segoe UI" pitchFamily="34" charset="-120"/>
              </a:rPr>
              <a:t>Complex Dashboard</a:t>
            </a:r>
            <a:endParaRPr lang="en-US" sz="820" dirty="0"/>
          </a:p>
        </p:txBody>
      </p:sp>
      <p:sp>
        <p:nvSpPr>
          <p:cNvPr id="80" name="Text 78"/>
          <p:cNvSpPr/>
          <p:nvPr/>
        </p:nvSpPr>
        <p:spPr>
          <a:xfrm>
            <a:off x="731520" y="5943600"/>
            <a:ext cx="10728655" cy="36576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KEY TAKEAWAY: Only Razorpay and Cashfree provide automated marketplace split rails (10%/90%) in India. Razorpay wins on documentation, developer tools, and brand recognition.</a:t>
            </a:r>
            <a:endParaRPr lang="en-US" sz="850" dirty="0"/>
          </a:p>
        </p:txBody>
      </p:sp>
      <p:sp>
        <p:nvSpPr>
          <p:cNvPr id="81" name="Shape 79"/>
          <p:cNvSpPr/>
          <p:nvPr/>
        </p:nvSpPr>
        <p:spPr>
          <a:xfrm>
            <a:off x="731520" y="6400800"/>
            <a:ext cx="10728655" cy="0"/>
          </a:xfrm>
          <a:prstGeom prst="line">
            <a:avLst/>
          </a:prstGeom>
          <a:noFill/>
          <a:ln w="12700">
            <a:solidFill>
              <a:srgbClr val="E2E8F0"/>
            </a:solidFill>
            <a:prstDash val="solid"/>
          </a:ln>
        </p:spPr>
      </p:sp>
      <p:sp>
        <p:nvSpPr>
          <p:cNvPr id="82" name="Text 80"/>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83" name="Text 81"/>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926080" cy="274320"/>
          </a:xfrm>
          <a:prstGeom prst="roundRect">
            <a:avLst>
              <a:gd name="adj" fmla="val 20000"/>
            </a:avLst>
          </a:prstGeom>
          <a:solidFill>
            <a:srgbClr val="EFF6FF"/>
          </a:solidFill>
          <a:ln w="12700">
            <a:solidFill>
              <a:srgbClr val="BFDBFE"/>
            </a:solidFill>
            <a:prstDash val="solid"/>
          </a:ln>
        </p:spPr>
      </p:sp>
      <p:sp>
        <p:nvSpPr>
          <p:cNvPr id="4" name="Text 2"/>
          <p:cNvSpPr/>
          <p:nvPr/>
        </p:nvSpPr>
        <p:spPr>
          <a:xfrm>
            <a:off x="731520" y="320040"/>
            <a:ext cx="2926080" cy="274320"/>
          </a:xfrm>
          <a:prstGeom prst="rect">
            <a:avLst/>
          </a:prstGeom>
          <a:noFill/>
          <a:ln/>
        </p:spPr>
        <p:txBody>
          <a:bodyPr wrap="square" rtlCol="0" anchor="ctr"/>
          <a:lstStyle/>
          <a:p>
            <a:pPr algn="ctr" indent="0" marL="0">
              <a:buNone/>
            </a:pPr>
            <a:r>
              <a:rPr lang="en-US" sz="850" b="1" dirty="0">
                <a:solidFill>
                  <a:srgbClr val="2563EB"/>
                </a:solidFill>
                <a:latin typeface="Segoe UI" pitchFamily="34" charset="0"/>
                <a:ea typeface="Segoe UI" pitchFamily="34" charset="-122"/>
                <a:cs typeface="Segoe UI" pitchFamily="34" charset="-120"/>
              </a:rPr>
              <a:t>VENDOR EVALUATION</a:t>
            </a:r>
            <a:endParaRPr lang="en-US" sz="850" dirty="0"/>
          </a:p>
        </p:txBody>
      </p:sp>
      <p:sp>
        <p:nvSpPr>
          <p:cNvPr id="5" name="Text 3"/>
          <p:cNvSpPr/>
          <p:nvPr/>
        </p:nvSpPr>
        <p:spPr>
          <a:xfrm>
            <a:off x="731520" y="658368"/>
            <a:ext cx="9265615" cy="502920"/>
          </a:xfrm>
          <a:prstGeom prst="rect">
            <a:avLst/>
          </a:prstGeom>
          <a:noFill/>
          <a:ln/>
        </p:spPr>
        <p:txBody>
          <a:bodyPr wrap="square" rtlCol="0" anchor="ctr"/>
          <a:lstStyle/>
          <a:p>
            <a:pPr indent="0" marL="0">
              <a:buNone/>
            </a:pPr>
            <a:r>
              <a:rPr lang="en-US" sz="2000" b="1" dirty="0">
                <a:solidFill>
                  <a:srgbClr val="0B0F19"/>
                </a:solidFill>
                <a:latin typeface="Segoe UI" pitchFamily="34" charset="0"/>
                <a:ea typeface="Segoe UI" pitchFamily="34" charset="-122"/>
                <a:cs typeface="Segoe UI" pitchFamily="34" charset="-120"/>
              </a:rPr>
              <a:t>Competitor Breakdown: Why the Other 4 Fall Short</a:t>
            </a:r>
            <a:endParaRPr lang="en-US" sz="2000" dirty="0"/>
          </a:p>
        </p:txBody>
      </p:sp>
      <p:sp>
        <p:nvSpPr>
          <p:cNvPr id="6" name="Shape 4"/>
          <p:cNvSpPr/>
          <p:nvPr/>
        </p:nvSpPr>
        <p:spPr>
          <a:xfrm>
            <a:off x="10362895" y="411480"/>
            <a:ext cx="1097280" cy="292608"/>
          </a:xfrm>
          <a:prstGeom prst="roundRect">
            <a:avLst>
              <a:gd name="adj" fmla="val 18750"/>
            </a:avLst>
          </a:prstGeom>
          <a:solidFill>
            <a:srgbClr val="F1F5F9"/>
          </a:solidFill>
          <a:ln w="12700">
            <a:solidFill>
              <a:srgbClr val="E2E8F0"/>
            </a:solidFill>
            <a:prstDash val="solid"/>
          </a:ln>
        </p:spPr>
      </p:sp>
      <p:sp>
        <p:nvSpPr>
          <p:cNvPr id="7" name="Text 5"/>
          <p:cNvSpPr/>
          <p:nvPr/>
        </p:nvSpPr>
        <p:spPr>
          <a:xfrm>
            <a:off x="10362895" y="411480"/>
            <a:ext cx="1097280" cy="292608"/>
          </a:xfrm>
          <a:prstGeom prst="rect">
            <a:avLst/>
          </a:prstGeom>
          <a:noFill/>
          <a:ln/>
        </p:spPr>
        <p:txBody>
          <a:bodyPr wrap="square" rtlCol="0" anchor="ctr"/>
          <a:lstStyle/>
          <a:p>
            <a:pPr algn="ctr" indent="0" marL="0">
              <a:buNone/>
            </a:pPr>
            <a:r>
              <a:rPr lang="en-US" sz="850" b="1" dirty="0">
                <a:solidFill>
                  <a:srgbClr val="475569"/>
                </a:solidFill>
                <a:latin typeface="Segoe UI" pitchFamily="34" charset="0"/>
                <a:ea typeface="Segoe UI" pitchFamily="34" charset="-122"/>
                <a:cs typeface="Segoe UI" pitchFamily="34" charset="-120"/>
              </a:rPr>
              <a:t>SLIDE 7 / 8</a:t>
            </a:r>
            <a:endParaRPr lang="en-US" sz="850" dirty="0"/>
          </a:p>
        </p:txBody>
      </p:sp>
      <p:sp>
        <p:nvSpPr>
          <p:cNvPr id="8" name="Shape 6"/>
          <p:cNvSpPr/>
          <p:nvPr/>
        </p:nvSpPr>
        <p:spPr>
          <a:xfrm>
            <a:off x="731520" y="1325880"/>
            <a:ext cx="5272888" cy="2194560"/>
          </a:xfrm>
          <a:prstGeom prst="roundRect">
            <a:avLst>
              <a:gd name="adj" fmla="val 3333"/>
            </a:avLst>
          </a:prstGeom>
          <a:solidFill>
            <a:srgbClr val="FFFFFF"/>
          </a:solidFill>
          <a:ln w="12700">
            <a:solidFill>
              <a:srgbClr val="E2E8F0"/>
            </a:solidFill>
            <a:prstDash val="solid"/>
          </a:ln>
        </p:spPr>
      </p:sp>
      <p:sp>
        <p:nvSpPr>
          <p:cNvPr id="9" name="Shape 7"/>
          <p:cNvSpPr/>
          <p:nvPr/>
        </p:nvSpPr>
        <p:spPr>
          <a:xfrm>
            <a:off x="822960" y="1325880"/>
            <a:ext cx="5090008" cy="45720"/>
          </a:xfrm>
          <a:prstGeom prst="rect">
            <a:avLst/>
          </a:prstGeom>
          <a:solidFill>
            <a:srgbClr val="059669"/>
          </a:solidFill>
          <a:ln/>
        </p:spPr>
      </p:sp>
      <p:sp>
        <p:nvSpPr>
          <p:cNvPr id="10" name="Text 8"/>
          <p:cNvSpPr/>
          <p:nvPr/>
        </p:nvSpPr>
        <p:spPr>
          <a:xfrm>
            <a:off x="960120" y="1463040"/>
            <a:ext cx="2986888"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Cashfree Payments</a:t>
            </a:r>
            <a:endParaRPr lang="en-US" sz="1200" dirty="0"/>
          </a:p>
        </p:txBody>
      </p:sp>
      <p:sp>
        <p:nvSpPr>
          <p:cNvPr id="11" name="Shape 9"/>
          <p:cNvSpPr/>
          <p:nvPr/>
        </p:nvSpPr>
        <p:spPr>
          <a:xfrm>
            <a:off x="3992728" y="1463040"/>
            <a:ext cx="1783080" cy="274320"/>
          </a:xfrm>
          <a:prstGeom prst="roundRect">
            <a:avLst>
              <a:gd name="adj" fmla="val 13333"/>
            </a:avLst>
          </a:prstGeom>
          <a:solidFill>
            <a:srgbClr val="ECFDF5"/>
          </a:solidFill>
          <a:ln/>
        </p:spPr>
      </p:sp>
      <p:sp>
        <p:nvSpPr>
          <p:cNvPr id="12" name="Text 10"/>
          <p:cNvSpPr/>
          <p:nvPr/>
        </p:nvSpPr>
        <p:spPr>
          <a:xfrm>
            <a:off x="3992728" y="1463040"/>
            <a:ext cx="1783080" cy="274320"/>
          </a:xfrm>
          <a:prstGeom prst="rect">
            <a:avLst/>
          </a:prstGeom>
          <a:noFill/>
          <a:ln/>
        </p:spPr>
        <p:txBody>
          <a:bodyPr wrap="square" rtlCol="0" anchor="ctr"/>
          <a:lstStyle/>
          <a:p>
            <a:pPr algn="ctr" indent="0" marL="0">
              <a:buNone/>
            </a:pPr>
            <a:r>
              <a:rPr lang="en-US" sz="700" b="1" dirty="0">
                <a:solidFill>
                  <a:srgbClr val="059669"/>
                </a:solidFill>
                <a:latin typeface="Segoe UI" pitchFamily="34" charset="0"/>
                <a:ea typeface="Segoe UI" pitchFamily="34" charset="-122"/>
                <a:cs typeface="Segoe UI" pitchFamily="34" charset="-120"/>
              </a:rPr>
              <a:t>RUNNER-UP (EXCELLENT BACKUP)</a:t>
            </a:r>
            <a:endParaRPr lang="en-US" sz="700" dirty="0"/>
          </a:p>
        </p:txBody>
      </p:sp>
      <p:sp>
        <p:nvSpPr>
          <p:cNvPr id="13" name="Text 11"/>
          <p:cNvSpPr/>
          <p:nvPr/>
        </p:nvSpPr>
        <p:spPr>
          <a:xfrm>
            <a:off x="960120" y="1828800"/>
            <a:ext cx="4815688" cy="182880"/>
          </a:xfrm>
          <a:prstGeom prst="rect">
            <a:avLst/>
          </a:prstGeom>
          <a:noFill/>
          <a:ln/>
        </p:spPr>
        <p:txBody>
          <a:bodyPr wrap="square" rtlCol="0" anchor="ctr"/>
          <a:lstStyle/>
          <a:p>
            <a:pPr indent="0" marL="0">
              <a:buNone/>
            </a:pPr>
            <a:r>
              <a:rPr lang="en-US" sz="750" b="1" dirty="0">
                <a:solidFill>
                  <a:srgbClr val="059669"/>
                </a:solidFill>
                <a:latin typeface="Segoe UI" pitchFamily="34" charset="0"/>
                <a:ea typeface="Segoe UI" pitchFamily="34" charset="-122"/>
                <a:cs typeface="Segoe UI" pitchFamily="34" charset="-120"/>
              </a:rPr>
              <a:t>STRENGTH:</a:t>
            </a:r>
            <a:endParaRPr lang="en-US" sz="750" dirty="0"/>
          </a:p>
        </p:txBody>
      </p:sp>
      <p:sp>
        <p:nvSpPr>
          <p:cNvPr id="14" name="Text 12"/>
          <p:cNvSpPr/>
          <p:nvPr/>
        </p:nvSpPr>
        <p:spPr>
          <a:xfrm>
            <a:off x="960120" y="2011680"/>
            <a:ext cx="4815688" cy="457200"/>
          </a:xfrm>
          <a:prstGeom prst="rect">
            <a:avLst/>
          </a:prstGeom>
          <a:noFill/>
          <a:ln/>
        </p:spPr>
        <p:txBody>
          <a:bodyPr wrap="square" rtlCol="0" anchor="ctr"/>
          <a:lstStyle/>
          <a:p>
            <a:pPr indent="0" marL="0">
              <a:lnSpc>
                <a:spcPct val="110000"/>
              </a:lnSpc>
              <a:buNone/>
            </a:pPr>
            <a:r>
              <a:rPr lang="en-US" sz="800" dirty="0">
                <a:solidFill>
                  <a:srgbClr val="0F172A"/>
                </a:solidFill>
                <a:latin typeface="Segoe UI" pitchFamily="34" charset="0"/>
                <a:ea typeface="Segoe UI" pitchFamily="34" charset="-122"/>
                <a:cs typeface="Segoe UI" pitchFamily="34" charset="-120"/>
              </a:rPr>
              <a:t>Outstanding instant payout APIs (Cashfree Payouts) and lower UPI transfer fees.</a:t>
            </a:r>
            <a:endParaRPr lang="en-US" sz="800" dirty="0"/>
          </a:p>
        </p:txBody>
      </p:sp>
      <p:sp>
        <p:nvSpPr>
          <p:cNvPr id="15" name="Text 13"/>
          <p:cNvSpPr/>
          <p:nvPr/>
        </p:nvSpPr>
        <p:spPr>
          <a:xfrm>
            <a:off x="960120" y="2560320"/>
            <a:ext cx="4815688" cy="182880"/>
          </a:xfrm>
          <a:prstGeom prst="rect">
            <a:avLst/>
          </a:prstGeom>
          <a:noFill/>
          <a:ln/>
        </p:spPr>
        <p:txBody>
          <a:bodyPr wrap="square" rtlCol="0" anchor="ctr"/>
          <a:lstStyle/>
          <a:p>
            <a:pPr indent="0" marL="0">
              <a:buNone/>
            </a:pPr>
            <a:r>
              <a:rPr lang="en-US" sz="750" b="1" dirty="0">
                <a:solidFill>
                  <a:srgbClr val="DC2626"/>
                </a:solidFill>
                <a:latin typeface="Segoe UI" pitchFamily="34" charset="0"/>
                <a:ea typeface="Segoe UI" pitchFamily="34" charset="-122"/>
                <a:cs typeface="Segoe UI" pitchFamily="34" charset="-120"/>
              </a:rPr>
              <a:t>LIMITATION FOR TURFIFY:</a:t>
            </a:r>
            <a:endParaRPr lang="en-US" sz="750" dirty="0"/>
          </a:p>
        </p:txBody>
      </p:sp>
      <p:sp>
        <p:nvSpPr>
          <p:cNvPr id="16" name="Text 14"/>
          <p:cNvSpPr/>
          <p:nvPr/>
        </p:nvSpPr>
        <p:spPr>
          <a:xfrm>
            <a:off x="960120" y="2743200"/>
            <a:ext cx="4815688" cy="685800"/>
          </a:xfrm>
          <a:prstGeom prst="rect">
            <a:avLst/>
          </a:prstGeom>
          <a:noFill/>
          <a:ln/>
        </p:spPr>
        <p:txBody>
          <a:bodyPr wrap="square" rtlCol="0" anchor="ctr"/>
          <a:lstStyle/>
          <a:p>
            <a:pPr indent="0" marL="0">
              <a:lnSpc>
                <a:spcPct val="110000"/>
              </a:lnSpc>
              <a:buNone/>
            </a:pPr>
            <a:r>
              <a:rPr lang="en-US" sz="800" dirty="0">
                <a:solidFill>
                  <a:srgbClr val="475569"/>
                </a:solidFill>
                <a:latin typeface="Segoe UI" pitchFamily="34" charset="0"/>
                <a:ea typeface="Segoe UI" pitchFamily="34" charset="-122"/>
                <a:cs typeface="Segoe UI" pitchFamily="34" charset="-120"/>
              </a:rPr>
              <a:t>Developer ecosystem, documentation, and ready-to-use SDK widgets are slightly less polished than Razorpay. Best used as a secondary fallback rail.</a:t>
            </a:r>
            <a:endParaRPr lang="en-US" sz="800" dirty="0"/>
          </a:p>
        </p:txBody>
      </p:sp>
      <p:sp>
        <p:nvSpPr>
          <p:cNvPr id="17" name="Shape 15"/>
          <p:cNvSpPr/>
          <p:nvPr/>
        </p:nvSpPr>
        <p:spPr>
          <a:xfrm>
            <a:off x="6187288" y="1325880"/>
            <a:ext cx="5272888" cy="2194560"/>
          </a:xfrm>
          <a:prstGeom prst="roundRect">
            <a:avLst>
              <a:gd name="adj" fmla="val 3333"/>
            </a:avLst>
          </a:prstGeom>
          <a:solidFill>
            <a:srgbClr val="FFFFFF"/>
          </a:solidFill>
          <a:ln w="12700">
            <a:solidFill>
              <a:srgbClr val="E2E8F0"/>
            </a:solidFill>
            <a:prstDash val="solid"/>
          </a:ln>
        </p:spPr>
      </p:sp>
      <p:sp>
        <p:nvSpPr>
          <p:cNvPr id="18" name="Shape 16"/>
          <p:cNvSpPr/>
          <p:nvPr/>
        </p:nvSpPr>
        <p:spPr>
          <a:xfrm>
            <a:off x="6278728" y="1325880"/>
            <a:ext cx="5090008" cy="45720"/>
          </a:xfrm>
          <a:prstGeom prst="rect">
            <a:avLst/>
          </a:prstGeom>
          <a:solidFill>
            <a:srgbClr val="D97706"/>
          </a:solidFill>
          <a:ln/>
        </p:spPr>
      </p:sp>
      <p:sp>
        <p:nvSpPr>
          <p:cNvPr id="19" name="Text 17"/>
          <p:cNvSpPr/>
          <p:nvPr/>
        </p:nvSpPr>
        <p:spPr>
          <a:xfrm>
            <a:off x="6415888" y="1463040"/>
            <a:ext cx="2986888"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PhonePe Payment Gateway</a:t>
            </a:r>
            <a:endParaRPr lang="en-US" sz="1200" dirty="0"/>
          </a:p>
        </p:txBody>
      </p:sp>
      <p:sp>
        <p:nvSpPr>
          <p:cNvPr id="20" name="Shape 18"/>
          <p:cNvSpPr/>
          <p:nvPr/>
        </p:nvSpPr>
        <p:spPr>
          <a:xfrm>
            <a:off x="9448495" y="1463040"/>
            <a:ext cx="1783080" cy="274320"/>
          </a:xfrm>
          <a:prstGeom prst="roundRect">
            <a:avLst>
              <a:gd name="adj" fmla="val 13333"/>
            </a:avLst>
          </a:prstGeom>
          <a:solidFill>
            <a:srgbClr val="FFFBEB"/>
          </a:solidFill>
          <a:ln/>
        </p:spPr>
      </p:sp>
      <p:sp>
        <p:nvSpPr>
          <p:cNvPr id="21" name="Text 19"/>
          <p:cNvSpPr/>
          <p:nvPr/>
        </p:nvSpPr>
        <p:spPr>
          <a:xfrm>
            <a:off x="9448495" y="1463040"/>
            <a:ext cx="1783080" cy="274320"/>
          </a:xfrm>
          <a:prstGeom prst="rect">
            <a:avLst/>
          </a:prstGeom>
          <a:noFill/>
          <a:ln/>
        </p:spPr>
        <p:txBody>
          <a:bodyPr wrap="square" rtlCol="0" anchor="ctr"/>
          <a:lstStyle/>
          <a:p>
            <a:pPr algn="ctr" indent="0" marL="0">
              <a:buNone/>
            </a:pPr>
            <a:r>
              <a:rPr lang="en-US" sz="700" b="1" dirty="0">
                <a:solidFill>
                  <a:srgbClr val="D97706"/>
                </a:solidFill>
                <a:latin typeface="Segoe UI" pitchFamily="34" charset="0"/>
                <a:ea typeface="Segoe UI" pitchFamily="34" charset="-122"/>
                <a:cs typeface="Segoe UI" pitchFamily="34" charset="-120"/>
              </a:rPr>
              <a:t>UNSUITABLE FOR MARKETPLACE</a:t>
            </a:r>
            <a:endParaRPr lang="en-US" sz="700" dirty="0"/>
          </a:p>
        </p:txBody>
      </p:sp>
      <p:sp>
        <p:nvSpPr>
          <p:cNvPr id="22" name="Text 20"/>
          <p:cNvSpPr/>
          <p:nvPr/>
        </p:nvSpPr>
        <p:spPr>
          <a:xfrm>
            <a:off x="6415888" y="1828800"/>
            <a:ext cx="4815688" cy="182880"/>
          </a:xfrm>
          <a:prstGeom prst="rect">
            <a:avLst/>
          </a:prstGeom>
          <a:noFill/>
          <a:ln/>
        </p:spPr>
        <p:txBody>
          <a:bodyPr wrap="square" rtlCol="0" anchor="ctr"/>
          <a:lstStyle/>
          <a:p>
            <a:pPr indent="0" marL="0">
              <a:buNone/>
            </a:pPr>
            <a:r>
              <a:rPr lang="en-US" sz="750" b="1" dirty="0">
                <a:solidFill>
                  <a:srgbClr val="059669"/>
                </a:solidFill>
                <a:latin typeface="Segoe UI" pitchFamily="34" charset="0"/>
                <a:ea typeface="Segoe UI" pitchFamily="34" charset="-122"/>
                <a:cs typeface="Segoe UI" pitchFamily="34" charset="-120"/>
              </a:rPr>
              <a:t>STRENGTH:</a:t>
            </a:r>
            <a:endParaRPr lang="en-US" sz="750" dirty="0"/>
          </a:p>
        </p:txBody>
      </p:sp>
      <p:sp>
        <p:nvSpPr>
          <p:cNvPr id="23" name="Text 21"/>
          <p:cNvSpPr/>
          <p:nvPr/>
        </p:nvSpPr>
        <p:spPr>
          <a:xfrm>
            <a:off x="6415888" y="2011680"/>
            <a:ext cx="4815688" cy="457200"/>
          </a:xfrm>
          <a:prstGeom prst="rect">
            <a:avLst/>
          </a:prstGeom>
          <a:noFill/>
          <a:ln/>
        </p:spPr>
        <p:txBody>
          <a:bodyPr wrap="square" rtlCol="0" anchor="ctr"/>
          <a:lstStyle/>
          <a:p>
            <a:pPr indent="0" marL="0">
              <a:lnSpc>
                <a:spcPct val="110000"/>
              </a:lnSpc>
              <a:buNone/>
            </a:pPr>
            <a:r>
              <a:rPr lang="en-US" sz="800" dirty="0">
                <a:solidFill>
                  <a:srgbClr val="0F172A"/>
                </a:solidFill>
                <a:latin typeface="Segoe UI" pitchFamily="34" charset="0"/>
                <a:ea typeface="Segoe UI" pitchFamily="34" charset="-122"/>
                <a:cs typeface="Segoe UI" pitchFamily="34" charset="-120"/>
              </a:rPr>
              <a:t>Massive consumer brand recognition and rock-bottom promotional MDR rates.</a:t>
            </a:r>
            <a:endParaRPr lang="en-US" sz="800" dirty="0"/>
          </a:p>
        </p:txBody>
      </p:sp>
      <p:sp>
        <p:nvSpPr>
          <p:cNvPr id="24" name="Text 22"/>
          <p:cNvSpPr/>
          <p:nvPr/>
        </p:nvSpPr>
        <p:spPr>
          <a:xfrm>
            <a:off x="6415888" y="2560320"/>
            <a:ext cx="4815688" cy="182880"/>
          </a:xfrm>
          <a:prstGeom prst="rect">
            <a:avLst/>
          </a:prstGeom>
          <a:noFill/>
          <a:ln/>
        </p:spPr>
        <p:txBody>
          <a:bodyPr wrap="square" rtlCol="0" anchor="ctr"/>
          <a:lstStyle/>
          <a:p>
            <a:pPr indent="0" marL="0">
              <a:buNone/>
            </a:pPr>
            <a:r>
              <a:rPr lang="en-US" sz="750" b="1" dirty="0">
                <a:solidFill>
                  <a:srgbClr val="DC2626"/>
                </a:solidFill>
                <a:latin typeface="Segoe UI" pitchFamily="34" charset="0"/>
                <a:ea typeface="Segoe UI" pitchFamily="34" charset="-122"/>
                <a:cs typeface="Segoe UI" pitchFamily="34" charset="-120"/>
              </a:rPr>
              <a:t>LIMITATION FOR TURFIFY:</a:t>
            </a:r>
            <a:endParaRPr lang="en-US" sz="750" dirty="0"/>
          </a:p>
        </p:txBody>
      </p:sp>
      <p:sp>
        <p:nvSpPr>
          <p:cNvPr id="25" name="Text 23"/>
          <p:cNvSpPr/>
          <p:nvPr/>
        </p:nvSpPr>
        <p:spPr>
          <a:xfrm>
            <a:off x="6415888" y="2743200"/>
            <a:ext cx="4815688" cy="685800"/>
          </a:xfrm>
          <a:prstGeom prst="rect">
            <a:avLst/>
          </a:prstGeom>
          <a:noFill/>
          <a:ln/>
        </p:spPr>
        <p:txBody>
          <a:bodyPr wrap="square" rtlCol="0" anchor="ctr"/>
          <a:lstStyle/>
          <a:p>
            <a:pPr indent="0" marL="0">
              <a:lnSpc>
                <a:spcPct val="110000"/>
              </a:lnSpc>
              <a:buNone/>
            </a:pPr>
            <a:r>
              <a:rPr lang="en-US" sz="800" dirty="0">
                <a:solidFill>
                  <a:srgbClr val="475569"/>
                </a:solidFill>
                <a:latin typeface="Segoe UI" pitchFamily="34" charset="0"/>
                <a:ea typeface="Segoe UI" pitchFamily="34" charset="-122"/>
                <a:cs typeface="Segoe UI" pitchFamily="34" charset="-120"/>
              </a:rPr>
              <a:t>Built for single direct merchants (e.g. e-commerce stores). Lacks programmatic multi-vendor split accounts and automated TDS withholding mechanisms.</a:t>
            </a:r>
            <a:endParaRPr lang="en-US" sz="800" dirty="0"/>
          </a:p>
        </p:txBody>
      </p:sp>
      <p:sp>
        <p:nvSpPr>
          <p:cNvPr id="26" name="Shape 24"/>
          <p:cNvSpPr/>
          <p:nvPr/>
        </p:nvSpPr>
        <p:spPr>
          <a:xfrm>
            <a:off x="731520" y="3657600"/>
            <a:ext cx="5272888" cy="2194560"/>
          </a:xfrm>
          <a:prstGeom prst="roundRect">
            <a:avLst>
              <a:gd name="adj" fmla="val 3333"/>
            </a:avLst>
          </a:prstGeom>
          <a:solidFill>
            <a:srgbClr val="FFFFFF"/>
          </a:solidFill>
          <a:ln w="12700">
            <a:solidFill>
              <a:srgbClr val="E2E8F0"/>
            </a:solidFill>
            <a:prstDash val="solid"/>
          </a:ln>
        </p:spPr>
      </p:sp>
      <p:sp>
        <p:nvSpPr>
          <p:cNvPr id="27" name="Shape 25"/>
          <p:cNvSpPr/>
          <p:nvPr/>
        </p:nvSpPr>
        <p:spPr>
          <a:xfrm>
            <a:off x="822960" y="3657600"/>
            <a:ext cx="5090008" cy="45720"/>
          </a:xfrm>
          <a:prstGeom prst="rect">
            <a:avLst/>
          </a:prstGeom>
          <a:solidFill>
            <a:srgbClr val="DC2626"/>
          </a:solidFill>
          <a:ln/>
        </p:spPr>
      </p:sp>
      <p:sp>
        <p:nvSpPr>
          <p:cNvPr id="28" name="Text 26"/>
          <p:cNvSpPr/>
          <p:nvPr/>
        </p:nvSpPr>
        <p:spPr>
          <a:xfrm>
            <a:off x="960120" y="3794760"/>
            <a:ext cx="2986888"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Stripe India</a:t>
            </a:r>
            <a:endParaRPr lang="en-US" sz="1200" dirty="0"/>
          </a:p>
        </p:txBody>
      </p:sp>
      <p:sp>
        <p:nvSpPr>
          <p:cNvPr id="29" name="Shape 27"/>
          <p:cNvSpPr/>
          <p:nvPr/>
        </p:nvSpPr>
        <p:spPr>
          <a:xfrm>
            <a:off x="3992728" y="3794760"/>
            <a:ext cx="1783080" cy="274320"/>
          </a:xfrm>
          <a:prstGeom prst="roundRect">
            <a:avLst>
              <a:gd name="adj" fmla="val 13333"/>
            </a:avLst>
          </a:prstGeom>
          <a:solidFill>
            <a:srgbClr val="FEF2F2"/>
          </a:solidFill>
          <a:ln/>
        </p:spPr>
      </p:sp>
      <p:sp>
        <p:nvSpPr>
          <p:cNvPr id="30" name="Text 28"/>
          <p:cNvSpPr/>
          <p:nvPr/>
        </p:nvSpPr>
        <p:spPr>
          <a:xfrm>
            <a:off x="3992728" y="3794760"/>
            <a:ext cx="1783080" cy="274320"/>
          </a:xfrm>
          <a:prstGeom prst="rect">
            <a:avLst/>
          </a:prstGeom>
          <a:noFill/>
          <a:ln/>
        </p:spPr>
        <p:txBody>
          <a:bodyPr wrap="square" rtlCol="0" anchor="ctr"/>
          <a:lstStyle/>
          <a:p>
            <a:pPr algn="ctr" indent="0" marL="0">
              <a:buNone/>
            </a:pPr>
            <a:r>
              <a:rPr lang="en-US" sz="700" b="1" dirty="0">
                <a:solidFill>
                  <a:srgbClr val="DC2626"/>
                </a:solidFill>
                <a:latin typeface="Segoe UI" pitchFamily="34" charset="0"/>
                <a:ea typeface="Segoe UI" pitchFamily="34" charset="-122"/>
                <a:cs typeface="Segoe UI" pitchFamily="34" charset="-120"/>
              </a:rPr>
              <a:t>GLOBAL SAAS ONLY</a:t>
            </a:r>
            <a:endParaRPr lang="en-US" sz="700" dirty="0"/>
          </a:p>
        </p:txBody>
      </p:sp>
      <p:sp>
        <p:nvSpPr>
          <p:cNvPr id="31" name="Text 29"/>
          <p:cNvSpPr/>
          <p:nvPr/>
        </p:nvSpPr>
        <p:spPr>
          <a:xfrm>
            <a:off x="960120" y="4160520"/>
            <a:ext cx="4815688" cy="182880"/>
          </a:xfrm>
          <a:prstGeom prst="rect">
            <a:avLst/>
          </a:prstGeom>
          <a:noFill/>
          <a:ln/>
        </p:spPr>
        <p:txBody>
          <a:bodyPr wrap="square" rtlCol="0" anchor="ctr"/>
          <a:lstStyle/>
          <a:p>
            <a:pPr indent="0" marL="0">
              <a:buNone/>
            </a:pPr>
            <a:r>
              <a:rPr lang="en-US" sz="750" b="1" dirty="0">
                <a:solidFill>
                  <a:srgbClr val="059669"/>
                </a:solidFill>
                <a:latin typeface="Segoe UI" pitchFamily="34" charset="0"/>
                <a:ea typeface="Segoe UI" pitchFamily="34" charset="-122"/>
                <a:cs typeface="Segoe UI" pitchFamily="34" charset="-120"/>
              </a:rPr>
              <a:t>STRENGTH:</a:t>
            </a:r>
            <a:endParaRPr lang="en-US" sz="750" dirty="0"/>
          </a:p>
        </p:txBody>
      </p:sp>
      <p:sp>
        <p:nvSpPr>
          <p:cNvPr id="32" name="Text 30"/>
          <p:cNvSpPr/>
          <p:nvPr/>
        </p:nvSpPr>
        <p:spPr>
          <a:xfrm>
            <a:off x="960120" y="4343400"/>
            <a:ext cx="4815688" cy="457200"/>
          </a:xfrm>
          <a:prstGeom prst="rect">
            <a:avLst/>
          </a:prstGeom>
          <a:noFill/>
          <a:ln/>
        </p:spPr>
        <p:txBody>
          <a:bodyPr wrap="square" rtlCol="0" anchor="ctr"/>
          <a:lstStyle/>
          <a:p>
            <a:pPr indent="0" marL="0">
              <a:lnSpc>
                <a:spcPct val="110000"/>
              </a:lnSpc>
              <a:buNone/>
            </a:pPr>
            <a:r>
              <a:rPr lang="en-US" sz="800" dirty="0">
                <a:solidFill>
                  <a:srgbClr val="0F172A"/>
                </a:solidFill>
                <a:latin typeface="Segoe UI" pitchFamily="34" charset="0"/>
                <a:ea typeface="Segoe UI" pitchFamily="34" charset="-122"/>
                <a:cs typeface="Segoe UI" pitchFamily="34" charset="-120"/>
              </a:rPr>
              <a:t>Stripe Connect is the gold standard for global multi-currency marketplace splits.</a:t>
            </a:r>
            <a:endParaRPr lang="en-US" sz="800" dirty="0"/>
          </a:p>
        </p:txBody>
      </p:sp>
      <p:sp>
        <p:nvSpPr>
          <p:cNvPr id="33" name="Text 31"/>
          <p:cNvSpPr/>
          <p:nvPr/>
        </p:nvSpPr>
        <p:spPr>
          <a:xfrm>
            <a:off x="960120" y="4892040"/>
            <a:ext cx="4815688" cy="182880"/>
          </a:xfrm>
          <a:prstGeom prst="rect">
            <a:avLst/>
          </a:prstGeom>
          <a:noFill/>
          <a:ln/>
        </p:spPr>
        <p:txBody>
          <a:bodyPr wrap="square" rtlCol="0" anchor="ctr"/>
          <a:lstStyle/>
          <a:p>
            <a:pPr indent="0" marL="0">
              <a:buNone/>
            </a:pPr>
            <a:r>
              <a:rPr lang="en-US" sz="750" b="1" dirty="0">
                <a:solidFill>
                  <a:srgbClr val="DC2626"/>
                </a:solidFill>
                <a:latin typeface="Segoe UI" pitchFamily="34" charset="0"/>
                <a:ea typeface="Segoe UI" pitchFamily="34" charset="-122"/>
                <a:cs typeface="Segoe UI" pitchFamily="34" charset="-120"/>
              </a:rPr>
              <a:t>LIMITATION FOR TURFIFY:</a:t>
            </a:r>
            <a:endParaRPr lang="en-US" sz="750" dirty="0"/>
          </a:p>
        </p:txBody>
      </p:sp>
      <p:sp>
        <p:nvSpPr>
          <p:cNvPr id="34" name="Text 32"/>
          <p:cNvSpPr/>
          <p:nvPr/>
        </p:nvSpPr>
        <p:spPr>
          <a:xfrm>
            <a:off x="960120" y="5074920"/>
            <a:ext cx="4815688" cy="685800"/>
          </a:xfrm>
          <a:prstGeom prst="rect">
            <a:avLst/>
          </a:prstGeom>
          <a:noFill/>
          <a:ln/>
        </p:spPr>
        <p:txBody>
          <a:bodyPr wrap="square" rtlCol="0" anchor="ctr"/>
          <a:lstStyle/>
          <a:p>
            <a:pPr indent="0" marL="0">
              <a:lnSpc>
                <a:spcPct val="110000"/>
              </a:lnSpc>
              <a:buNone/>
            </a:pPr>
            <a:r>
              <a:rPr lang="en-US" sz="800" dirty="0">
                <a:solidFill>
                  <a:srgbClr val="475569"/>
                </a:solidFill>
                <a:latin typeface="Segoe UI" pitchFamily="34" charset="0"/>
                <a:ea typeface="Segoe UI" pitchFamily="34" charset="-122"/>
                <a:cs typeface="Segoe UI" pitchFamily="34" charset="-120"/>
              </a:rPr>
              <a:t>Strict invite-only onboarding in India. Weak domestic UPI intent integration. Focuses on export software/SaaS, not Indian domestic venue booking.</a:t>
            </a:r>
            <a:endParaRPr lang="en-US" sz="800" dirty="0"/>
          </a:p>
        </p:txBody>
      </p:sp>
      <p:sp>
        <p:nvSpPr>
          <p:cNvPr id="35" name="Shape 33"/>
          <p:cNvSpPr/>
          <p:nvPr/>
        </p:nvSpPr>
        <p:spPr>
          <a:xfrm>
            <a:off x="6187288" y="3657600"/>
            <a:ext cx="5272888" cy="2194560"/>
          </a:xfrm>
          <a:prstGeom prst="roundRect">
            <a:avLst>
              <a:gd name="adj" fmla="val 3333"/>
            </a:avLst>
          </a:prstGeom>
          <a:solidFill>
            <a:srgbClr val="FFFFFF"/>
          </a:solidFill>
          <a:ln w="12700">
            <a:solidFill>
              <a:srgbClr val="E2E8F0"/>
            </a:solidFill>
            <a:prstDash val="solid"/>
          </a:ln>
        </p:spPr>
      </p:sp>
      <p:sp>
        <p:nvSpPr>
          <p:cNvPr id="36" name="Shape 34"/>
          <p:cNvSpPr/>
          <p:nvPr/>
        </p:nvSpPr>
        <p:spPr>
          <a:xfrm>
            <a:off x="6278728" y="3657600"/>
            <a:ext cx="5090008" cy="45720"/>
          </a:xfrm>
          <a:prstGeom prst="rect">
            <a:avLst/>
          </a:prstGeom>
          <a:solidFill>
            <a:srgbClr val="DC2626"/>
          </a:solidFill>
          <a:ln/>
        </p:spPr>
      </p:sp>
      <p:sp>
        <p:nvSpPr>
          <p:cNvPr id="37" name="Text 35"/>
          <p:cNvSpPr/>
          <p:nvPr/>
        </p:nvSpPr>
        <p:spPr>
          <a:xfrm>
            <a:off x="6415888" y="3794760"/>
            <a:ext cx="2986888" cy="320040"/>
          </a:xfrm>
          <a:prstGeom prst="rect">
            <a:avLst/>
          </a:prstGeom>
          <a:noFill/>
          <a:ln/>
        </p:spPr>
        <p:txBody>
          <a:bodyPr wrap="square" rtlCol="0" anchor="ctr"/>
          <a:lstStyle/>
          <a:p>
            <a:pPr indent="0" marL="0">
              <a:buNone/>
            </a:pPr>
            <a:r>
              <a:rPr lang="en-US" sz="1200" b="1" dirty="0">
                <a:solidFill>
                  <a:srgbClr val="0B0F19"/>
                </a:solidFill>
                <a:latin typeface="Segoe UI" pitchFamily="34" charset="0"/>
                <a:ea typeface="Segoe UI" pitchFamily="34" charset="-122"/>
                <a:cs typeface="Segoe UI" pitchFamily="34" charset="-120"/>
              </a:rPr>
              <a:t>Paytm Payment Gateway</a:t>
            </a:r>
            <a:endParaRPr lang="en-US" sz="1200" dirty="0"/>
          </a:p>
        </p:txBody>
      </p:sp>
      <p:sp>
        <p:nvSpPr>
          <p:cNvPr id="38" name="Shape 36"/>
          <p:cNvSpPr/>
          <p:nvPr/>
        </p:nvSpPr>
        <p:spPr>
          <a:xfrm>
            <a:off x="9448495" y="3794760"/>
            <a:ext cx="1783080" cy="274320"/>
          </a:xfrm>
          <a:prstGeom prst="roundRect">
            <a:avLst>
              <a:gd name="adj" fmla="val 13333"/>
            </a:avLst>
          </a:prstGeom>
          <a:solidFill>
            <a:srgbClr val="FEF2F2"/>
          </a:solidFill>
          <a:ln/>
        </p:spPr>
      </p:sp>
      <p:sp>
        <p:nvSpPr>
          <p:cNvPr id="39" name="Text 37"/>
          <p:cNvSpPr/>
          <p:nvPr/>
        </p:nvSpPr>
        <p:spPr>
          <a:xfrm>
            <a:off x="9448495" y="3794760"/>
            <a:ext cx="1783080" cy="274320"/>
          </a:xfrm>
          <a:prstGeom prst="rect">
            <a:avLst/>
          </a:prstGeom>
          <a:noFill/>
          <a:ln/>
        </p:spPr>
        <p:txBody>
          <a:bodyPr wrap="square" rtlCol="0" anchor="ctr"/>
          <a:lstStyle/>
          <a:p>
            <a:pPr algn="ctr" indent="0" marL="0">
              <a:buNone/>
            </a:pPr>
            <a:r>
              <a:rPr lang="en-US" sz="700" b="1" dirty="0">
                <a:solidFill>
                  <a:srgbClr val="DC2626"/>
                </a:solidFill>
                <a:latin typeface="Segoe UI" pitchFamily="34" charset="0"/>
                <a:ea typeface="Segoe UI" pitchFamily="34" charset="-122"/>
                <a:cs typeface="Segoe UI" pitchFamily="34" charset="-120"/>
              </a:rPr>
              <a:t>COMPLEX &amp; CLUNKY</a:t>
            </a:r>
            <a:endParaRPr lang="en-US" sz="700" dirty="0"/>
          </a:p>
        </p:txBody>
      </p:sp>
      <p:sp>
        <p:nvSpPr>
          <p:cNvPr id="40" name="Text 38"/>
          <p:cNvSpPr/>
          <p:nvPr/>
        </p:nvSpPr>
        <p:spPr>
          <a:xfrm>
            <a:off x="6415888" y="4160520"/>
            <a:ext cx="4815688" cy="182880"/>
          </a:xfrm>
          <a:prstGeom prst="rect">
            <a:avLst/>
          </a:prstGeom>
          <a:noFill/>
          <a:ln/>
        </p:spPr>
        <p:txBody>
          <a:bodyPr wrap="square" rtlCol="0" anchor="ctr"/>
          <a:lstStyle/>
          <a:p>
            <a:pPr indent="0" marL="0">
              <a:buNone/>
            </a:pPr>
            <a:r>
              <a:rPr lang="en-US" sz="750" b="1" dirty="0">
                <a:solidFill>
                  <a:srgbClr val="059669"/>
                </a:solidFill>
                <a:latin typeface="Segoe UI" pitchFamily="34" charset="0"/>
                <a:ea typeface="Segoe UI" pitchFamily="34" charset="-122"/>
                <a:cs typeface="Segoe UI" pitchFamily="34" charset="-120"/>
              </a:rPr>
              <a:t>STRENGTH:</a:t>
            </a:r>
            <a:endParaRPr lang="en-US" sz="750" dirty="0"/>
          </a:p>
        </p:txBody>
      </p:sp>
      <p:sp>
        <p:nvSpPr>
          <p:cNvPr id="41" name="Text 39"/>
          <p:cNvSpPr/>
          <p:nvPr/>
        </p:nvSpPr>
        <p:spPr>
          <a:xfrm>
            <a:off x="6415888" y="4343400"/>
            <a:ext cx="4815688" cy="457200"/>
          </a:xfrm>
          <a:prstGeom prst="rect">
            <a:avLst/>
          </a:prstGeom>
          <a:noFill/>
          <a:ln/>
        </p:spPr>
        <p:txBody>
          <a:bodyPr wrap="square" rtlCol="0" anchor="ctr"/>
          <a:lstStyle/>
          <a:p>
            <a:pPr indent="0" marL="0">
              <a:lnSpc>
                <a:spcPct val="110000"/>
              </a:lnSpc>
              <a:buNone/>
            </a:pPr>
            <a:r>
              <a:rPr lang="en-US" sz="800" dirty="0">
                <a:solidFill>
                  <a:srgbClr val="0F172A"/>
                </a:solidFill>
                <a:latin typeface="Segoe UI" pitchFamily="34" charset="0"/>
                <a:ea typeface="Segoe UI" pitchFamily="34" charset="-122"/>
                <a:cs typeface="Segoe UI" pitchFamily="34" charset="-120"/>
              </a:rPr>
              <a:t>Extensive offline QR presence at retail mom-and-pop shops.</a:t>
            </a:r>
            <a:endParaRPr lang="en-US" sz="800" dirty="0"/>
          </a:p>
        </p:txBody>
      </p:sp>
      <p:sp>
        <p:nvSpPr>
          <p:cNvPr id="42" name="Text 40"/>
          <p:cNvSpPr/>
          <p:nvPr/>
        </p:nvSpPr>
        <p:spPr>
          <a:xfrm>
            <a:off x="6415888" y="4892040"/>
            <a:ext cx="4815688" cy="182880"/>
          </a:xfrm>
          <a:prstGeom prst="rect">
            <a:avLst/>
          </a:prstGeom>
          <a:noFill/>
          <a:ln/>
        </p:spPr>
        <p:txBody>
          <a:bodyPr wrap="square" rtlCol="0" anchor="ctr"/>
          <a:lstStyle/>
          <a:p>
            <a:pPr indent="0" marL="0">
              <a:buNone/>
            </a:pPr>
            <a:r>
              <a:rPr lang="en-US" sz="750" b="1" dirty="0">
                <a:solidFill>
                  <a:srgbClr val="DC2626"/>
                </a:solidFill>
                <a:latin typeface="Segoe UI" pitchFamily="34" charset="0"/>
                <a:ea typeface="Segoe UI" pitchFamily="34" charset="-122"/>
                <a:cs typeface="Segoe UI" pitchFamily="34" charset="-120"/>
              </a:rPr>
              <a:t>LIMITATION FOR TURFIFY:</a:t>
            </a:r>
            <a:endParaRPr lang="en-US" sz="750" dirty="0"/>
          </a:p>
        </p:txBody>
      </p:sp>
      <p:sp>
        <p:nvSpPr>
          <p:cNvPr id="43" name="Text 41"/>
          <p:cNvSpPr/>
          <p:nvPr/>
        </p:nvSpPr>
        <p:spPr>
          <a:xfrm>
            <a:off x="6415888" y="5074920"/>
            <a:ext cx="4815688" cy="685800"/>
          </a:xfrm>
          <a:prstGeom prst="rect">
            <a:avLst/>
          </a:prstGeom>
          <a:noFill/>
          <a:ln/>
        </p:spPr>
        <p:txBody>
          <a:bodyPr wrap="square" rtlCol="0" anchor="ctr"/>
          <a:lstStyle/>
          <a:p>
            <a:pPr indent="0" marL="0">
              <a:lnSpc>
                <a:spcPct val="110000"/>
              </a:lnSpc>
              <a:buNone/>
            </a:pPr>
            <a:r>
              <a:rPr lang="en-US" sz="800" dirty="0">
                <a:solidFill>
                  <a:srgbClr val="475569"/>
                </a:solidFill>
                <a:latin typeface="Segoe UI" pitchFamily="34" charset="0"/>
                <a:ea typeface="Segoe UI" pitchFamily="34" charset="-122"/>
                <a:cs typeface="Segoe UI" pitchFamily="34" charset="-120"/>
              </a:rPr>
              <a:t>Clunky developer dashboard, slower merchant support response times, and past regulatory banking restrictions make it a risky choice for a new startup.</a:t>
            </a:r>
            <a:endParaRPr lang="en-US" sz="800" dirty="0"/>
          </a:p>
        </p:txBody>
      </p:sp>
      <p:sp>
        <p:nvSpPr>
          <p:cNvPr id="44" name="Shape 42"/>
          <p:cNvSpPr/>
          <p:nvPr/>
        </p:nvSpPr>
        <p:spPr>
          <a:xfrm>
            <a:off x="731520" y="6400800"/>
            <a:ext cx="10728655" cy="0"/>
          </a:xfrm>
          <a:prstGeom prst="line">
            <a:avLst/>
          </a:prstGeom>
          <a:noFill/>
          <a:ln w="12700">
            <a:solidFill>
              <a:srgbClr val="E2E8F0"/>
            </a:solidFill>
            <a:prstDash val="solid"/>
          </a:ln>
        </p:spPr>
      </p:sp>
      <p:sp>
        <p:nvSpPr>
          <p:cNvPr id="45" name="Text 43"/>
          <p:cNvSpPr/>
          <p:nvPr/>
        </p:nvSpPr>
        <p:spPr>
          <a:xfrm>
            <a:off x="731520" y="6446520"/>
            <a:ext cx="7772400" cy="320040"/>
          </a:xfrm>
          <a:prstGeom prst="rect">
            <a:avLst/>
          </a:prstGeom>
          <a:noFill/>
          <a:ln/>
        </p:spPr>
        <p:txBody>
          <a:bodyPr wrap="square" rtlCol="0" anchor="ctr"/>
          <a:lstStyle/>
          <a:p>
            <a:pPr indent="0" marL="0">
              <a:buNone/>
            </a:pPr>
            <a:r>
              <a:rPr lang="en-US" sz="800" dirty="0">
                <a:solidFill>
                  <a:srgbClr val="475569"/>
                </a:solidFill>
                <a:latin typeface="Segoe UI" pitchFamily="34" charset="0"/>
                <a:ea typeface="Segoe UI" pitchFamily="34" charset="-122"/>
                <a:cs typeface="Segoe UI" pitchFamily="34" charset="-120"/>
              </a:rPr>
              <a:t>Turfify — Payment Gateway Comparative Benchmark: Why Razorpay Wins</a:t>
            </a:r>
            <a:endParaRPr lang="en-US" sz="800" dirty="0"/>
          </a:p>
        </p:txBody>
      </p:sp>
      <p:sp>
        <p:nvSpPr>
          <p:cNvPr id="46" name="Text 44"/>
          <p:cNvSpPr/>
          <p:nvPr/>
        </p:nvSpPr>
        <p:spPr>
          <a:xfrm>
            <a:off x="8534095" y="6446520"/>
            <a:ext cx="2926080" cy="320040"/>
          </a:xfrm>
          <a:prstGeom prst="rect">
            <a:avLst/>
          </a:prstGeom>
          <a:noFill/>
          <a:ln/>
        </p:spPr>
        <p:txBody>
          <a:bodyPr wrap="square" rtlCol="0" anchor="ctr"/>
          <a:lstStyle/>
          <a:p>
            <a:pPr algn="r" indent="0" marL="0">
              <a:buNone/>
            </a:pPr>
            <a:r>
              <a:rPr lang="en-US" sz="800" dirty="0">
                <a:solidFill>
                  <a:srgbClr val="475569"/>
                </a:solidFill>
                <a:latin typeface="Segoe UI" pitchFamily="34" charset="0"/>
                <a:ea typeface="Segoe UI" pitchFamily="34" charset="-122"/>
                <a:cs typeface="Segoe UI" pitchFamily="34" charset="-120"/>
              </a:rPr>
              <a:t>Confidential • FinTech Platform Architecture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Text 1"/>
          <p:cNvSpPr/>
          <p:nvPr/>
        </p:nvSpPr>
        <p:spPr>
          <a:xfrm>
            <a:off x="731520" y="365760"/>
            <a:ext cx="10728655" cy="274320"/>
          </a:xfrm>
          <a:prstGeom prst="rect">
            <a:avLst/>
          </a:prstGeom>
          <a:noFill/>
          <a:ln/>
        </p:spPr>
        <p:txBody>
          <a:bodyPr wrap="square" rtlCol="0" anchor="ctr"/>
          <a:lstStyle/>
          <a:p>
            <a:pPr indent="0" marL="0">
              <a:buNone/>
            </a:pPr>
            <a:r>
              <a:rPr lang="en-US" sz="900" b="1" dirty="0">
                <a:solidFill>
                  <a:srgbClr val="93C5FD"/>
                </a:solidFill>
                <a:latin typeface="Segoe UI" pitchFamily="34" charset="0"/>
                <a:ea typeface="Segoe UI" pitchFamily="34" charset="-122"/>
                <a:cs typeface="Segoe UI" pitchFamily="34" charset="-120"/>
              </a:rPr>
              <a:t>TURFIFY FINTECH PRODUCTION STRATEGY</a:t>
            </a:r>
            <a:endParaRPr lang="en-US" sz="900" dirty="0"/>
          </a:p>
        </p:txBody>
      </p:sp>
      <p:sp>
        <p:nvSpPr>
          <p:cNvPr id="4" name="Text 2"/>
          <p:cNvSpPr/>
          <p:nvPr/>
        </p:nvSpPr>
        <p:spPr>
          <a:xfrm>
            <a:off x="731520" y="685800"/>
            <a:ext cx="10728655" cy="50292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The Final Verdict &amp; Production Blueprint</a:t>
            </a:r>
            <a:endParaRPr lang="en-US" sz="2200" dirty="0"/>
          </a:p>
        </p:txBody>
      </p:sp>
      <p:sp>
        <p:nvSpPr>
          <p:cNvPr id="5" name="Shape 3"/>
          <p:cNvSpPr/>
          <p:nvPr/>
        </p:nvSpPr>
        <p:spPr>
          <a:xfrm>
            <a:off x="731520" y="1371600"/>
            <a:ext cx="5227168" cy="4389120"/>
          </a:xfrm>
          <a:prstGeom prst="roundRect">
            <a:avLst>
              <a:gd name="adj" fmla="val 2083"/>
            </a:avLst>
          </a:prstGeom>
          <a:solidFill>
            <a:srgbClr val="111827"/>
          </a:solidFill>
          <a:ln w="19050">
            <a:solidFill>
              <a:srgbClr val="2563EB"/>
            </a:solidFill>
            <a:prstDash val="solid"/>
          </a:ln>
        </p:spPr>
      </p:sp>
      <p:sp>
        <p:nvSpPr>
          <p:cNvPr id="6" name="Shape 4"/>
          <p:cNvSpPr/>
          <p:nvPr/>
        </p:nvSpPr>
        <p:spPr>
          <a:xfrm>
            <a:off x="868680" y="1371600"/>
            <a:ext cx="4952848" cy="54864"/>
          </a:xfrm>
          <a:prstGeom prst="rect">
            <a:avLst/>
          </a:prstGeom>
          <a:solidFill>
            <a:srgbClr val="2563EB"/>
          </a:solidFill>
          <a:ln/>
        </p:spPr>
      </p:sp>
      <p:sp>
        <p:nvSpPr>
          <p:cNvPr id="7" name="Text 5"/>
          <p:cNvSpPr/>
          <p:nvPr/>
        </p:nvSpPr>
        <p:spPr>
          <a:xfrm>
            <a:off x="1005840" y="1554480"/>
            <a:ext cx="4678528" cy="228600"/>
          </a:xfrm>
          <a:prstGeom prst="rect">
            <a:avLst/>
          </a:prstGeom>
          <a:noFill/>
          <a:ln/>
        </p:spPr>
        <p:txBody>
          <a:bodyPr wrap="square" rtlCol="0" anchor="ctr"/>
          <a:lstStyle/>
          <a:p>
            <a:pPr indent="0" marL="0">
              <a:buNone/>
            </a:pPr>
            <a:r>
              <a:rPr lang="en-US" sz="850" b="1" dirty="0">
                <a:solidFill>
                  <a:srgbClr val="93C5FD"/>
                </a:solidFill>
                <a:latin typeface="Segoe UI" pitchFamily="34" charset="0"/>
                <a:ea typeface="Segoe UI" pitchFamily="34" charset="-122"/>
                <a:cs typeface="Segoe UI" pitchFamily="34" charset="-120"/>
              </a:rPr>
              <a:t>PRIMARY SETUP (100% LAUNCH READY)</a:t>
            </a:r>
            <a:endParaRPr lang="en-US" sz="850" dirty="0"/>
          </a:p>
        </p:txBody>
      </p:sp>
      <p:sp>
        <p:nvSpPr>
          <p:cNvPr id="8" name="Text 6"/>
          <p:cNvSpPr/>
          <p:nvPr/>
        </p:nvSpPr>
        <p:spPr>
          <a:xfrm>
            <a:off x="1005840" y="1828800"/>
            <a:ext cx="4678528"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Go With Razorpay Standard + Route</a:t>
            </a:r>
            <a:endParaRPr lang="en-US" sz="1400" dirty="0"/>
          </a:p>
        </p:txBody>
      </p:sp>
      <p:sp>
        <p:nvSpPr>
          <p:cNvPr id="9" name="Shape 7"/>
          <p:cNvSpPr/>
          <p:nvPr/>
        </p:nvSpPr>
        <p:spPr>
          <a:xfrm>
            <a:off x="1005840" y="2496312"/>
            <a:ext cx="91440" cy="91440"/>
          </a:xfrm>
          <a:prstGeom prst="ellipse">
            <a:avLst/>
          </a:prstGeom>
          <a:solidFill>
            <a:srgbClr val="2563EB"/>
          </a:solidFill>
          <a:ln/>
        </p:spPr>
      </p:sp>
      <p:sp>
        <p:nvSpPr>
          <p:cNvPr id="10" name="Text 8"/>
          <p:cNvSpPr/>
          <p:nvPr/>
        </p:nvSpPr>
        <p:spPr>
          <a:xfrm>
            <a:off x="1188720" y="2423160"/>
            <a:ext cx="449564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Checkout UI: Deploy Razorpay Standard Checkout modal supporting GPay, PhonePe, Paytm, and cards.</a:t>
            </a:r>
            <a:endParaRPr lang="en-US" sz="880" dirty="0"/>
          </a:p>
        </p:txBody>
      </p:sp>
      <p:sp>
        <p:nvSpPr>
          <p:cNvPr id="11" name="Shape 9"/>
          <p:cNvSpPr/>
          <p:nvPr/>
        </p:nvSpPr>
        <p:spPr>
          <a:xfrm>
            <a:off x="1005840" y="3364992"/>
            <a:ext cx="91440" cy="91440"/>
          </a:xfrm>
          <a:prstGeom prst="ellipse">
            <a:avLst/>
          </a:prstGeom>
          <a:solidFill>
            <a:srgbClr val="2563EB"/>
          </a:solidFill>
          <a:ln/>
        </p:spPr>
      </p:sp>
      <p:sp>
        <p:nvSpPr>
          <p:cNvPr id="12" name="Text 10"/>
          <p:cNvSpPr/>
          <p:nvPr/>
        </p:nvSpPr>
        <p:spPr>
          <a:xfrm>
            <a:off x="1188720" y="3291840"/>
            <a:ext cx="449564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Vendor Onboarding: Use Razorpay Route Linked Accounts API to register turf owners and route their 90% payout.</a:t>
            </a:r>
            <a:endParaRPr lang="en-US" sz="880" dirty="0"/>
          </a:p>
        </p:txBody>
      </p:sp>
      <p:sp>
        <p:nvSpPr>
          <p:cNvPr id="13" name="Shape 11"/>
          <p:cNvSpPr/>
          <p:nvPr/>
        </p:nvSpPr>
        <p:spPr>
          <a:xfrm>
            <a:off x="1005840" y="4233672"/>
            <a:ext cx="91440" cy="91440"/>
          </a:xfrm>
          <a:prstGeom prst="ellipse">
            <a:avLst/>
          </a:prstGeom>
          <a:solidFill>
            <a:srgbClr val="2563EB"/>
          </a:solidFill>
          <a:ln/>
        </p:spPr>
      </p:sp>
      <p:sp>
        <p:nvSpPr>
          <p:cNvPr id="14" name="Text 12"/>
          <p:cNvSpPr/>
          <p:nvPr/>
        </p:nvSpPr>
        <p:spPr>
          <a:xfrm>
            <a:off x="1188720" y="4160520"/>
            <a:ext cx="449564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Server Webhooks: Validate every booking using Razorpay's HMAC SHA-256 webhook signature checker.</a:t>
            </a:r>
            <a:endParaRPr lang="en-US" sz="880" dirty="0"/>
          </a:p>
        </p:txBody>
      </p:sp>
      <p:sp>
        <p:nvSpPr>
          <p:cNvPr id="15" name="Shape 13"/>
          <p:cNvSpPr/>
          <p:nvPr/>
        </p:nvSpPr>
        <p:spPr>
          <a:xfrm>
            <a:off x="1005840" y="5102352"/>
            <a:ext cx="91440" cy="91440"/>
          </a:xfrm>
          <a:prstGeom prst="ellipse">
            <a:avLst/>
          </a:prstGeom>
          <a:solidFill>
            <a:srgbClr val="2563EB"/>
          </a:solidFill>
          <a:ln/>
        </p:spPr>
      </p:sp>
      <p:sp>
        <p:nvSpPr>
          <p:cNvPr id="16" name="Text 14"/>
          <p:cNvSpPr/>
          <p:nvPr/>
        </p:nvSpPr>
        <p:spPr>
          <a:xfrm>
            <a:off x="1188720" y="5029200"/>
            <a:ext cx="449564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Refunds: Connect RazorpayX Payouts for 60-second instant UPI refunds on rainout cancellations.</a:t>
            </a:r>
            <a:endParaRPr lang="en-US" sz="880" dirty="0"/>
          </a:p>
        </p:txBody>
      </p:sp>
      <p:sp>
        <p:nvSpPr>
          <p:cNvPr id="17" name="Shape 15"/>
          <p:cNvSpPr/>
          <p:nvPr/>
        </p:nvSpPr>
        <p:spPr>
          <a:xfrm>
            <a:off x="6233008" y="1371600"/>
            <a:ext cx="5227168" cy="4389120"/>
          </a:xfrm>
          <a:prstGeom prst="roundRect">
            <a:avLst>
              <a:gd name="adj" fmla="val 2083"/>
            </a:avLst>
          </a:prstGeom>
          <a:solidFill>
            <a:srgbClr val="111827"/>
          </a:solidFill>
          <a:ln w="19050">
            <a:solidFill>
              <a:srgbClr val="059669"/>
            </a:solidFill>
            <a:prstDash val="solid"/>
          </a:ln>
        </p:spPr>
      </p:sp>
      <p:sp>
        <p:nvSpPr>
          <p:cNvPr id="18" name="Shape 16"/>
          <p:cNvSpPr/>
          <p:nvPr/>
        </p:nvSpPr>
        <p:spPr>
          <a:xfrm>
            <a:off x="6370168" y="1371600"/>
            <a:ext cx="4952848" cy="54864"/>
          </a:xfrm>
          <a:prstGeom prst="rect">
            <a:avLst/>
          </a:prstGeom>
          <a:solidFill>
            <a:srgbClr val="059669"/>
          </a:solidFill>
          <a:ln/>
        </p:spPr>
      </p:sp>
      <p:sp>
        <p:nvSpPr>
          <p:cNvPr id="19" name="Text 17"/>
          <p:cNvSpPr/>
          <p:nvPr/>
        </p:nvSpPr>
        <p:spPr>
          <a:xfrm>
            <a:off x="6507328" y="1554480"/>
            <a:ext cx="4678528" cy="22860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SECONDARY / SCALE BACKUP</a:t>
            </a:r>
            <a:endParaRPr lang="en-US" sz="850" dirty="0"/>
          </a:p>
        </p:txBody>
      </p:sp>
      <p:sp>
        <p:nvSpPr>
          <p:cNvPr id="20" name="Text 18"/>
          <p:cNvSpPr/>
          <p:nvPr/>
        </p:nvSpPr>
        <p:spPr>
          <a:xfrm>
            <a:off x="6507328" y="1828800"/>
            <a:ext cx="4678528"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Keep Cashfree As A Backup Rail</a:t>
            </a:r>
            <a:endParaRPr lang="en-US" sz="1400" dirty="0"/>
          </a:p>
        </p:txBody>
      </p:sp>
      <p:sp>
        <p:nvSpPr>
          <p:cNvPr id="21" name="Shape 19"/>
          <p:cNvSpPr/>
          <p:nvPr/>
        </p:nvSpPr>
        <p:spPr>
          <a:xfrm>
            <a:off x="6507328" y="2496312"/>
            <a:ext cx="91440" cy="91440"/>
          </a:xfrm>
          <a:prstGeom prst="ellipse">
            <a:avLst/>
          </a:prstGeom>
          <a:solidFill>
            <a:srgbClr val="059669"/>
          </a:solidFill>
          <a:ln/>
        </p:spPr>
      </p:sp>
      <p:sp>
        <p:nvSpPr>
          <p:cNvPr id="22" name="Text 20"/>
          <p:cNvSpPr/>
          <p:nvPr/>
        </p:nvSpPr>
        <p:spPr>
          <a:xfrm>
            <a:off x="6690208" y="2423160"/>
            <a:ext cx="431276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Redundancy: If Razorpay's bank servers experience unexpected downtime, auto-failover to Cashfree.</a:t>
            </a:r>
            <a:endParaRPr lang="en-US" sz="880" dirty="0"/>
          </a:p>
        </p:txBody>
      </p:sp>
      <p:sp>
        <p:nvSpPr>
          <p:cNvPr id="23" name="Shape 21"/>
          <p:cNvSpPr/>
          <p:nvPr/>
        </p:nvSpPr>
        <p:spPr>
          <a:xfrm>
            <a:off x="6507328" y="3364992"/>
            <a:ext cx="91440" cy="91440"/>
          </a:xfrm>
          <a:prstGeom prst="ellipse">
            <a:avLst/>
          </a:prstGeom>
          <a:solidFill>
            <a:srgbClr val="059669"/>
          </a:solidFill>
          <a:ln/>
        </p:spPr>
      </p:sp>
      <p:sp>
        <p:nvSpPr>
          <p:cNvPr id="24" name="Text 22"/>
          <p:cNvSpPr/>
          <p:nvPr/>
        </p:nvSpPr>
        <p:spPr>
          <a:xfrm>
            <a:off x="6690208" y="3291840"/>
            <a:ext cx="431276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Cheaper Payout Volumes: Cashfree offers lower flat fees on high-volume IMPS bank transfers.</a:t>
            </a:r>
            <a:endParaRPr lang="en-US" sz="880" dirty="0"/>
          </a:p>
        </p:txBody>
      </p:sp>
      <p:sp>
        <p:nvSpPr>
          <p:cNvPr id="25" name="Shape 23"/>
          <p:cNvSpPr/>
          <p:nvPr/>
        </p:nvSpPr>
        <p:spPr>
          <a:xfrm>
            <a:off x="6507328" y="4233672"/>
            <a:ext cx="91440" cy="91440"/>
          </a:xfrm>
          <a:prstGeom prst="ellipse">
            <a:avLst/>
          </a:prstGeom>
          <a:solidFill>
            <a:srgbClr val="059669"/>
          </a:solidFill>
          <a:ln/>
        </p:spPr>
      </p:sp>
      <p:sp>
        <p:nvSpPr>
          <p:cNvPr id="26" name="Text 24"/>
          <p:cNvSpPr/>
          <p:nvPr/>
        </p:nvSpPr>
        <p:spPr>
          <a:xfrm>
            <a:off x="6690208" y="4160520"/>
            <a:ext cx="431276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Dual-Gateway Architecture: Integrate an API abstraction layer so swapping gateways takes zero frontend rewrites.</a:t>
            </a:r>
            <a:endParaRPr lang="en-US" sz="880" dirty="0"/>
          </a:p>
        </p:txBody>
      </p:sp>
      <p:sp>
        <p:nvSpPr>
          <p:cNvPr id="27" name="Shape 25"/>
          <p:cNvSpPr/>
          <p:nvPr/>
        </p:nvSpPr>
        <p:spPr>
          <a:xfrm>
            <a:off x="6507328" y="5102352"/>
            <a:ext cx="91440" cy="91440"/>
          </a:xfrm>
          <a:prstGeom prst="ellipse">
            <a:avLst/>
          </a:prstGeom>
          <a:solidFill>
            <a:srgbClr val="059669"/>
          </a:solidFill>
          <a:ln/>
        </p:spPr>
      </p:sp>
      <p:sp>
        <p:nvSpPr>
          <p:cNvPr id="28" name="Text 26"/>
          <p:cNvSpPr/>
          <p:nvPr/>
        </p:nvSpPr>
        <p:spPr>
          <a:xfrm>
            <a:off x="6690208" y="5029200"/>
            <a:ext cx="4312768" cy="77724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Phase 2 Scale: Introduce Cashfree when Turfify crosses 10,000 monthly bookings for fee negotiation.</a:t>
            </a:r>
            <a:endParaRPr lang="en-US" sz="880" dirty="0"/>
          </a:p>
        </p:txBody>
      </p:sp>
      <p:sp>
        <p:nvSpPr>
          <p:cNvPr id="29" name="Text 27"/>
          <p:cNvSpPr/>
          <p:nvPr/>
        </p:nvSpPr>
        <p:spPr>
          <a:xfrm>
            <a:off x="731520" y="6126480"/>
            <a:ext cx="10728655" cy="274320"/>
          </a:xfrm>
          <a:prstGeom prst="rect">
            <a:avLst/>
          </a:prstGeom>
          <a:noFill/>
          <a:ln/>
        </p:spPr>
        <p:txBody>
          <a:bodyPr wrap="square" rtlCol="0" anchor="ctr"/>
          <a:lstStyle/>
          <a:p>
            <a:pPr algn="ctr" indent="0" marL="0">
              <a:buNone/>
            </a:pPr>
            <a:r>
              <a:rPr lang="en-US" sz="900" dirty="0">
                <a:solidFill>
                  <a:srgbClr val="64748B"/>
                </a:solidFill>
                <a:latin typeface="Segoe UI" pitchFamily="34" charset="0"/>
                <a:ea typeface="Segoe UI" pitchFamily="34" charset="-122"/>
                <a:cs typeface="Segoe UI" pitchFamily="34" charset="-120"/>
              </a:rPr>
              <a:t>Turfify Platform Architecture Series • Payment Gateway Selection Blueprint Complete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Turfify Technologies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Payment Gateway Selection: Why Razorpay is the #1 Best Choice for Turfify</dc:title>
  <dc:subject>PptxGenJS Presentation</dc:subject>
  <dc:creator>Turfify FinTech &amp; Platform Engineering</dc:creator>
  <cp:lastModifiedBy>Turfify FinTech &amp; Platform Engineering</cp:lastModifiedBy>
  <cp:revision>1</cp:revision>
  <dcterms:created xsi:type="dcterms:W3CDTF">2026-09-11T14:37:14Z</dcterms:created>
  <dcterms:modified xsi:type="dcterms:W3CDTF">2026-09-11T14:37:14Z</dcterms:modified>
</cp:coreProperties>
</file>